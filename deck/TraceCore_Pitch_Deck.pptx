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one-line story here, once: the records behind every approved drug and device must stay secret and trustworthy for decades. Quantum computing threatens both. TraceCore is a lab system built for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concrete case. A cardiac device is tested in a lab, and a single changed number in the record can put an unsafe device on the market. Keep this to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LIMS stands for Laboratory Information Management System. Think of it as the lab's operating system for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Revised Schedule M has applied to every Indian drug maker since 1 January 2026. It requires a record of every data change: the old value, who changed it and when. That is hard to do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rule is known as Mosca's inequality. The argument does not depend on guessing the year quantum arrives. It depends only on how long the data must stay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pre-clinical study done today supports a product that may sell for 15 years. Its data has to outlive any encryption chosen today. Point to the last row: keys are the thread that holds the whole archive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quantum-security talk is about secrecy. For a lab, the bigger loss is proof. If signatures can be forged, an auditor cannot trust any record in the archive. The two seals look identical; that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lab system bought today will still be running in 2035. Buyers will soon be asked to show their software is ready. TraceCore is built for that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exact about status. This room knows the algorithms. Saying 'in development' honestly earns more trust than overstating.
FALLBACK if statuses are not confirmed by 14 Oct: change the headline to 'TraceCore is designed for post-quantum resilience' and set every status chip to 'In development'.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AI compliance assistant in one sentence only if it ships today. Otherwise leave it out. Replace the frame on the right with a real screenshot of the audit trail; never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this twice. If the network is unreliable, use a recorded 60-second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name competitors. The last question is the one most vendors have not answered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counts come from official registers (DST, CDSCO, NABL) read on 1 Oct 2026; the pharma figure is an industry estimate. Do not state a market value in rupees or dollars.
If MDR cannot be named, say: 'a leading Chennai medical device testing lab'.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IBM system's commissioning status on the morning of the pitch and say it accurately.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then stop. Don't summarise.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in Q&amp;A. Never say 'NIST-certified', 'GLP compliant' or 'Part 11 compliant'.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Aakash ticks one box per row before the deck is finalised.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TCEX TECHNOLOGIES  ·  CHENNAI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100" kern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records that stay trustworthy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quantum era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5800" y="4709160"/>
            <a:ext cx="9692640" cy="0"/>
          </a:xfrm>
          <a:prstGeom prst="line">
            <a:avLst/>
          </a:prstGeom>
          <a:noFill/>
          <a:ln w="19050">
            <a:solidFill>
              <a:srgbClr val="1FA5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43032" y="4507992"/>
            <a:ext cx="402336" cy="402336"/>
          </a:xfrm>
          <a:prstGeom prst="ellipse">
            <a:avLst/>
          </a:prstGeom>
          <a:solidFill>
            <a:srgbClr val="0F1B2D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61904" y="4626864"/>
            <a:ext cx="164592" cy="164592"/>
          </a:xfrm>
          <a:prstGeom prst="ellipse">
            <a:avLst/>
          </a:prstGeom>
          <a:solidFill>
            <a:srgbClr val="1FA59A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Amaravati Quantum Valley stakeholder meeting, 15 October 2026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name, role]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approved medicine and medical device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rests on a lab record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3291840"/>
            <a:ext cx="3017520" cy="0"/>
          </a:xfrm>
          <a:prstGeom prst="line">
            <a:avLst/>
          </a:prstGeom>
          <a:noFill/>
          <a:ln w="19050">
            <a:solidFill>
              <a:srgbClr val="1FA5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0" y="3291840"/>
            <a:ext cx="1325880" cy="0"/>
          </a:xfrm>
          <a:prstGeom prst="line">
            <a:avLst/>
          </a:prstGeom>
          <a:noFill/>
          <a:ln w="19050">
            <a:solidFill>
              <a:srgbClr val="1FA5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3291840"/>
            <a:ext cx="1508760" cy="0"/>
          </a:xfrm>
          <a:prstGeom prst="line">
            <a:avLst/>
          </a:prstGeom>
          <a:noFill/>
          <a:ln w="19050">
            <a:solidFill>
              <a:srgbClr val="1FA5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3291840"/>
            <a:ext cx="3017520" cy="0"/>
          </a:xfrm>
          <a:prstGeom prst="line">
            <a:avLst/>
          </a:prstGeom>
          <a:noFill/>
          <a:ln w="19050">
            <a:solidFill>
              <a:srgbClr val="1FA5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2971800"/>
            <a:ext cx="182880" cy="320040"/>
          </a:xfrm>
          <a:prstGeom prst="line">
            <a:avLst/>
          </a:prstGeom>
          <a:noFill/>
          <a:ln w="25400">
            <a:solidFill>
              <a:srgbClr val="D98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3291840"/>
            <a:ext cx="182880" cy="0"/>
          </a:xfrm>
          <a:prstGeom prst="line">
            <a:avLst/>
          </a:prstGeom>
          <a:noFill/>
          <a:ln w="12700">
            <a:solidFill>
              <a:srgbClr val="D98A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2971800"/>
            <a:ext cx="182880" cy="320040"/>
          </a:xfrm>
          <a:prstGeom prst="line">
            <a:avLst/>
          </a:prstGeom>
          <a:noFill/>
          <a:ln w="25400">
            <a:solidFill>
              <a:srgbClr val="D98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806440" y="3291840"/>
            <a:ext cx="182880" cy="320040"/>
          </a:xfrm>
          <a:prstGeom prst="line">
            <a:avLst/>
          </a:prstGeom>
          <a:noFill/>
          <a:ln w="25400">
            <a:solidFill>
              <a:srgbClr val="D98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971800"/>
            <a:ext cx="0" cy="64008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0432" y="2999232"/>
            <a:ext cx="585216" cy="585216"/>
          </a:xfrm>
          <a:prstGeom prst="ellipse">
            <a:avLst/>
          </a:prstGeom>
          <a:solidFill>
            <a:srgbClr val="0F1B2D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70432" y="31363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the product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87952" y="2999232"/>
            <a:ext cx="585216" cy="585216"/>
          </a:xfrm>
          <a:prstGeom prst="ellipse">
            <a:avLst/>
          </a:prstGeom>
          <a:solidFill>
            <a:srgbClr val="0F1B2D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87952" y="31363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result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88352" y="2999232"/>
            <a:ext cx="585216" cy="585216"/>
          </a:xfrm>
          <a:prstGeom prst="ellipse">
            <a:avLst/>
          </a:prstGeom>
          <a:solidFill>
            <a:srgbClr val="0F1B2D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8352" y="31363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record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405872" y="2999232"/>
            <a:ext cx="585216" cy="585216"/>
          </a:xfrm>
          <a:prstGeom prst="ellipse">
            <a:avLst/>
          </a:prstGeom>
          <a:solidFill>
            <a:srgbClr val="0F1B2D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05872" y="31363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 the result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record is altered, or leaked, the whole chain breaks.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LIMS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LIMS is the lab's system of record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2514600"/>
            <a:ext cx="9509760" cy="0"/>
          </a:xfrm>
          <a:prstGeom prst="line">
            <a:avLst/>
          </a:prstGeom>
          <a:noFill/>
          <a:ln w="19050">
            <a:solidFill>
              <a:srgbClr val="1A1F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2395728"/>
            <a:ext cx="237744" cy="237744"/>
          </a:xfrm>
          <a:prstGeom prst="ellipse">
            <a:avLst/>
          </a:prstGeom>
          <a:solidFill>
            <a:srgbClr val="F6F5F1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828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09:12  Analyst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registered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2395728"/>
            <a:ext cx="237744" cy="237744"/>
          </a:xfrm>
          <a:prstGeom prst="ellipse">
            <a:avLst/>
          </a:prstGeom>
          <a:solidFill>
            <a:srgbClr val="F6F5F1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  Analyst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entered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6168" y="2395728"/>
            <a:ext cx="237744" cy="237744"/>
          </a:xfrm>
          <a:prstGeom prst="ellipse">
            <a:avLst/>
          </a:prstGeom>
          <a:solidFill>
            <a:srgbClr val="F6F5F1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14:05  QA Lead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93608" y="2395728"/>
            <a:ext cx="237744" cy="237744"/>
          </a:xfrm>
          <a:prstGeom prst="ellipse">
            <a:avLst/>
          </a:prstGeom>
          <a:solidFill>
            <a:srgbClr val="F6F5F1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16:30  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released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71048" y="2395728"/>
            <a:ext cx="237744" cy="237744"/>
          </a:xfrm>
          <a:prstGeom prst="ellipse">
            <a:avLst/>
          </a:prstGeom>
          <a:solidFill>
            <a:srgbClr val="1FA59A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16:31  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archived, locked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206240"/>
            <a:ext cx="108200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434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logged: who did it, what changed, when, and why.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212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pharma, medical device, CRO and food testing labs.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every auditor asks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you prove this record was never altered?”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and spreadsheets cannot prove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is untouched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035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our 1 Oct 2026 review of published US FDA warning letters.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sit across paper registers, Excel files and email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re-typed by hand from instruments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leave no trace of who changed what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take days of reconstruction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49440" y="2377440"/>
            <a:ext cx="0" cy="329184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0" y="21945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sites received US FDA warning letters in 2026, at least.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4526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half cited data integrity or incomplete lab records.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NOW, DECRYPT LATER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stolen today can be read tomorrow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must stay secret for years is already at risk.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9418320" cy="0"/>
          </a:xfrm>
          <a:prstGeom prst="line">
            <a:avLst/>
          </a:prstGeom>
          <a:noFill/>
          <a:ln w="19050">
            <a:solidFill>
              <a:srgbClr val="1A1F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2743200"/>
            <a:ext cx="4846320" cy="0"/>
          </a:xfrm>
          <a:prstGeom prst="line">
            <a:avLst/>
          </a:prstGeom>
          <a:noFill/>
          <a:ln w="19050">
            <a:solidFill>
              <a:srgbClr val="1A1F2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43584" y="2615184"/>
            <a:ext cx="256032" cy="256032"/>
          </a:xfrm>
          <a:prstGeom prst="ellipse">
            <a:avLst/>
          </a:prstGeom>
          <a:solidFill>
            <a:srgbClr val="F6F5F1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copy encrypted data and store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52744" y="2615184"/>
            <a:ext cx="256032" cy="256032"/>
          </a:xfrm>
          <a:prstGeom prst="ellipse">
            <a:avLst/>
          </a:prstGeom>
          <a:solidFill>
            <a:srgbClr val="F6F5F1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pass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copy sits untouched, waiting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1904" y="2615184"/>
            <a:ext cx="256032" cy="256032"/>
          </a:xfrm>
          <a:prstGeom prst="ellipse">
            <a:avLst/>
          </a:prstGeom>
          <a:solidFill>
            <a:srgbClr val="D98A2B"/>
          </a:solidFill>
          <a:ln w="19050">
            <a:solidFill>
              <a:srgbClr val="D98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arrives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Public-key encryption (RSA, ECC) breaks, and the data opens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820095" cy="1143000"/>
          </a:xfrm>
          <a:prstGeom prst="rect">
            <a:avLst/>
          </a:prstGeom>
          <a:solidFill>
            <a:srgbClr val="F6F5F1"/>
          </a:solidFill>
          <a:ln w="12700">
            <a:solidFill>
              <a:srgbClr val="1A1F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secrecy period  +  migration time  &gt;  time until quantum</a:t>
            </a:r>
            <a:pPr indent="0" marL="0">
              <a:buNone/>
            </a:pPr>
            <a:r>
              <a:rPr lang="en-US" sz="20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→  you are already late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LAB DATA IS A PRIME TARGET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data must stay secret and trusted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decades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7899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STAYS VALUABLE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protocols and research data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Intellectual property for the life of the product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 and client information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contracts and unreleased products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Regulated reports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Kept for years under GLP and GMP retention rules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Signing and identity keys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They vouch for every record in the archive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RISK IS ALSO A FORGERY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signature means a record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no longer prove anything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digital signatures (RSA, ECDSA) prove who approved a record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capable quantum computer could forge those signatures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archived approval would then prove nothing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regulated labs, trust in the record matters as much as secrecy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233172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REPORT  #4471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3017520"/>
            <a:ext cx="201168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3246120"/>
            <a:ext cx="146304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3474720"/>
            <a:ext cx="201168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3703320"/>
            <a:ext cx="146304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3931920"/>
            <a:ext cx="201168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9832" y="437083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7848" y="4498848"/>
            <a:ext cx="512064" cy="512064"/>
          </a:xfrm>
          <a:prstGeom prst="ellipse">
            <a:avLst/>
          </a:prstGeom>
          <a:solidFill>
            <a:srgbClr val="E2F1EF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48" y="45720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seal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233172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726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REPORT  #4471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72600" y="3017520"/>
            <a:ext cx="201168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3246120"/>
            <a:ext cx="146304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3474720"/>
            <a:ext cx="201168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3703320"/>
            <a:ext cx="146304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3931920"/>
            <a:ext cx="2011680" cy="0"/>
          </a:xfrm>
          <a:prstGeom prst="line">
            <a:avLst/>
          </a:prstGeom>
          <a:noFill/>
          <a:ln w="25400">
            <a:solidFill>
              <a:srgbClr val="D6D3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43032" y="437083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8A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71048" y="449884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8A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71048" y="45720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seal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CLOCK HAS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and national deadlines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already set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035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NIST IR 8547 (draft); India National Quantum Mission task force report, Feb 2026.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9966960" cy="0"/>
          </a:xfrm>
          <a:prstGeom prst="line">
            <a:avLst/>
          </a:prstGeom>
          <a:noFill/>
          <a:ln w="19050">
            <a:solidFill>
              <a:srgbClr val="1A1F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788920"/>
            <a:ext cx="0" cy="1097280"/>
          </a:xfrm>
          <a:prstGeom prst="line">
            <a:avLst/>
          </a:prstGeom>
          <a:noFill/>
          <a:ln w="12700">
            <a:solidFill>
              <a:srgbClr val="1FA5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794760"/>
            <a:ext cx="182880" cy="182880"/>
          </a:xfrm>
          <a:prstGeom prst="ellipse">
            <a:avLst/>
          </a:prstGeom>
          <a:solidFill>
            <a:srgbClr val="1FA59A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163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standards published: ML-KEM, ML-DSA, SLH-DSA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3804" y="2788920"/>
            <a:ext cx="0" cy="1097280"/>
          </a:xfrm>
          <a:prstGeom prst="line">
            <a:avLst/>
          </a:prstGeom>
          <a:noFill/>
          <a:ln w="12700">
            <a:solidFill>
              <a:srgbClr val="1FA5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2364" y="3794760"/>
            <a:ext cx="182880" cy="182880"/>
          </a:xfrm>
          <a:prstGeom prst="ellipse">
            <a:avLst/>
          </a:prstGeom>
          <a:solidFill>
            <a:srgbClr val="1FA59A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5244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25244" y="28163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RSA-2048 and similar algorithms deprecated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064240" y="2788920"/>
            <a:ext cx="0" cy="1097280"/>
          </a:xfrm>
          <a:prstGeom prst="line">
            <a:avLst/>
          </a:prstGeom>
          <a:noFill/>
          <a:ln w="12700">
            <a:solidFill>
              <a:srgbClr val="1FA5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3794760"/>
            <a:ext cx="182880" cy="182880"/>
          </a:xfrm>
          <a:prstGeom prst="ellipse">
            <a:avLst/>
          </a:prstGeom>
          <a:solidFill>
            <a:srgbClr val="1FA59A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8163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Quantum-vulnerable algorithms disallowed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15542" y="3886200"/>
            <a:ext cx="0" cy="365760"/>
          </a:xfrm>
          <a:prstGeom prst="line">
            <a:avLst/>
          </a:prstGeom>
          <a:noFill/>
          <a:ln w="12700">
            <a:solidFill>
              <a:srgbClr val="D98A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102" y="3794760"/>
            <a:ext cx="182880" cy="182880"/>
          </a:xfrm>
          <a:prstGeom prst="ellipse">
            <a:avLst/>
          </a:prstGeom>
          <a:solidFill>
            <a:srgbClr val="D98A2B"/>
          </a:solidFill>
          <a:ln w="19050">
            <a:solidFill>
              <a:srgbClr val="D98A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12422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712422" y="45354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 rollout begins in critical infrastructure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21629" y="3886200"/>
            <a:ext cx="0" cy="365760"/>
          </a:xfrm>
          <a:prstGeom prst="line">
            <a:avLst/>
          </a:prstGeom>
          <a:noFill/>
          <a:ln w="12700">
            <a:solidFill>
              <a:srgbClr val="D98A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0189" y="3794760"/>
            <a:ext cx="182880" cy="182880"/>
          </a:xfrm>
          <a:prstGeom prst="ellipse">
            <a:avLst/>
          </a:prstGeom>
          <a:solidFill>
            <a:srgbClr val="D98A2B"/>
          </a:solidFill>
          <a:ln w="19050">
            <a:solidFill>
              <a:srgbClr val="D98A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3069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813069" y="45354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begin structured preparation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52065" y="3886200"/>
            <a:ext cx="0" cy="365760"/>
          </a:xfrm>
          <a:prstGeom prst="line">
            <a:avLst/>
          </a:prstGeom>
          <a:noFill/>
          <a:ln w="12700">
            <a:solidFill>
              <a:srgbClr val="D98A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0625" y="3794760"/>
            <a:ext cx="182880" cy="182880"/>
          </a:xfrm>
          <a:prstGeom prst="ellipse">
            <a:avLst/>
          </a:prstGeom>
          <a:solidFill>
            <a:srgbClr val="D98A2B"/>
          </a:solidFill>
          <a:ln w="19050">
            <a:solidFill>
              <a:srgbClr val="D98A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43505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3505" y="45354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national adoption targeted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257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task force calls for crypto inventories, vendor crypto bills of materials and quantum-safe procurement.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builds post-quantum protection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lab record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7680960" cy="603504"/>
          </a:xfrm>
          <a:prstGeom prst="rect">
            <a:avLst/>
          </a:prstGeom>
          <a:solidFill>
            <a:srgbClr val="E2F1EF"/>
          </a:solidFill>
          <a:ln w="12700">
            <a:solidFill>
              <a:srgbClr val="1FA5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Signatures and audit trail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every logged change (ML-DSA)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41080" y="24231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6F5F1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4108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99232"/>
            <a:ext cx="7680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and keys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records and encryption keys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41080" y="313639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6F5F1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41080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712464"/>
            <a:ext cx="7680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67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moving between lab, instruments and server (ML-KEM)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41080" y="384962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6F5F1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3895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425696"/>
            <a:ext cx="7680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581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581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Passwordless sign-in for each user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41080" y="45628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6F5F1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1080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[CONFIRM]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KEY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955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Crypto-agile: algorithms can be swapped without rebuilding the system </a:t>
            </a:r>
            <a:pPr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the lab's own servers: the lab keeps its data and its keys </a:t>
            </a:r>
            <a:pPr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record from sample to archive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691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registration, unique ID, storage location, status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377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protocol, study director, sponsor, lifecycle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063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data captured directly, limits checked </a:t>
            </a:r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 which instruments]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749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deviations, CAPA, approvals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434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control, controlled release, retrieval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5120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access, server-set timestamps, a reason for every change, original value always kept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0" y="1691640"/>
            <a:ext cx="4663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8A2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85800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audit-trail screenshot]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sample, end to end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91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 sample. The server sets the date; it cannot be changed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328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 result from an instrument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413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edit it. The system demands a reason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153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audit trail: old value, new value, who, when, why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566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with an electronic signature </a:t>
            </a:r>
            <a:pPr indent="0" marL="0">
              <a:buNone/>
            </a:pPr>
            <a:r>
              <a:rPr lang="en-US" sz="17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[show the PQC signature if built]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[Live screen / 60-second video]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LAB SHOULD JUDGE ANY LIMS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every lab should ask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software vendor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7899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TRACECORE'S ANSWER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every record be traced from sample to archive?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linked end to end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I see who changed what, why, and who approved it?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full audit trail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roles and duties separated?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role-based access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does my data live, and who holds the keys?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lab's servers, with the lab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98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[CONFIRM]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will the system move to post-quantum cryptography?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98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[CONFIRM status]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137160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where data must stay protected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035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DST GLP list, CDSCO testing-lab register, NABL portal (read 1 Oct 2026); pharma unit count is an industry estimate.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60920" y="1737360"/>
            <a:ext cx="4114800" cy="4114800"/>
          </a:xfrm>
          <a:prstGeom prst="ellipse">
            <a:avLst/>
          </a:prstGeom>
          <a:solidFill>
            <a:srgbClr val="F0F7F6"/>
          </a:solidFill>
          <a:ln w="9525">
            <a:solidFill>
              <a:srgbClr val="1FA5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240280"/>
            <a:ext cx="3108960" cy="3108960"/>
          </a:xfrm>
          <a:prstGeom prst="ellipse">
            <a:avLst/>
          </a:prstGeom>
          <a:solidFill>
            <a:srgbClr val="D3EBE8"/>
          </a:solidFill>
          <a:ln w="9525">
            <a:solidFill>
              <a:srgbClr val="1FA5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6760" y="2743200"/>
            <a:ext cx="2103120" cy="2103120"/>
          </a:xfrm>
          <a:prstGeom prst="ellipse">
            <a:avLst/>
          </a:prstGeom>
          <a:solidFill>
            <a:srgbClr val="A6D8D2"/>
          </a:solidFill>
          <a:ln w="9525">
            <a:solidFill>
              <a:srgbClr val="1FA5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3246120"/>
            <a:ext cx="1097280" cy="1097280"/>
          </a:xfrm>
          <a:prstGeom prst="ellipse">
            <a:avLst/>
          </a:prstGeom>
          <a:solidFill>
            <a:srgbClr val="1FA59A"/>
          </a:solidFill>
          <a:ln w="9525">
            <a:solidFill>
              <a:srgbClr val="1FA5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304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GLP pre-clinical facilities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~89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30815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device testing labs registered with CDSCO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~10,500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858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manufacturing units, each with a QC lab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6,815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46360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NABL-accredited testing labs (next)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deployment: </a:t>
            </a:r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[MDR, a leading Chennai device-testing lab, if naming is cleared]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BELONGS IN QUANTUM VALLEY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Valley builds the compute.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protect the data it could expose.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Amaravati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Quantum System Two, 156-qubit Heron processor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among its target applications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QUANTUM-SAFE 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5661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pharma and device sector holds data quantum could expose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 reference application for quantum-safe procurement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54880" y="2971800"/>
            <a:ext cx="1737360" cy="0"/>
          </a:xfrm>
          <a:prstGeom prst="line">
            <a:avLst/>
          </a:prstGeom>
          <a:noFill/>
          <a:ln w="19050">
            <a:solidFill>
              <a:srgbClr val="1A1F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2907792"/>
            <a:ext cx="128016" cy="128016"/>
          </a:xfrm>
          <a:prstGeom prst="ellipse">
            <a:avLst/>
          </a:prstGeom>
          <a:solidFill>
            <a:srgbClr val="1A1F27"/>
          </a:solidFill>
          <a:ln w="19050">
            <a:solidFill>
              <a:srgbClr val="1A1F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2907792"/>
            <a:ext cx="128016" cy="128016"/>
          </a:xfrm>
          <a:prstGeom prst="ellipse">
            <a:avLst/>
          </a:prstGeom>
          <a:solidFill>
            <a:srgbClr val="1FA59A"/>
          </a:solidFill>
          <a:ln w="19050">
            <a:solidFill>
              <a:srgbClr val="1FA5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South India, for Indian regulated labs.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asking for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2499284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0320"/>
            <a:ext cx="20420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Quantum Valley testbeds to benchmark our post-quantum layer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59404" y="1920240"/>
            <a:ext cx="2499284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8004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88004" y="2560320"/>
            <a:ext cx="20420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 of our cryptographic design by ecosystem partners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33008" y="1920240"/>
            <a:ext cx="2499284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560320"/>
            <a:ext cx="20420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2 or 3 pilot labs in Andhra Pradesh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06611" y="1920240"/>
            <a:ext cx="2499284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211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211" y="2560320"/>
            <a:ext cx="20420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[CONFIRM: incubation, grant or funding ask, with amount]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12191695" cy="1280160"/>
          </a:xfrm>
          <a:prstGeom prst="rect">
            <a:avLst/>
          </a:prstGeom>
          <a:solidFill>
            <a:srgbClr val="1FA59A"/>
          </a:solidFill>
          <a:ln w="12700">
            <a:solidFill>
              <a:srgbClr val="1FA5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29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science runs on trust. We are making that trust last.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  ·  REGULATORY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lab records live under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GLP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194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Pre-clinical study conduct and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108200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CFR Part 11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71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records and signatures for US FDA submissions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657600"/>
            <a:ext cx="108200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ALCOA+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749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Attributable, legible, contemporaneous, original, accurate, plus complete, consistent, enduring, available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434840"/>
            <a:ext cx="108200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526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Schedule 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526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GMP: a record of every data change, in force for all units since 1 Jan 2026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212080"/>
            <a:ext cx="108200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body certifies LIMS software. Labs validate the configured system, and vendors supply validation documents.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  ·  STATUS OF EVERY CLAIM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capability stands today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TraceCore  ·  Amaravati Quantum Valley  ·  Oct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82009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280160"/>
                <a:gridCol w="1280160"/>
                <a:gridCol w="1280160"/>
                <a:gridCol w="1280160"/>
                <a:gridCol w="1307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EXT. REVIEWED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 and controlled correction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 signatures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ML-KEM key establishment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ML-DSA signatures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Passwordless sign-in (KratosId)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 integration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compliance assistant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91440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TraceCore</dc:title>
  <dc:subject>PptxGenJS Presentation</dc:subject>
  <dc:creator>TCEX Technologies</dc:creator>
  <cp:lastModifiedBy>TCEX Technologies</cp:lastModifiedBy>
  <cp:revision>1</cp:revision>
  <dcterms:created xsi:type="dcterms:W3CDTF">2026-10-12T21:01:33Z</dcterms:created>
  <dcterms:modified xsi:type="dcterms:W3CDTF">2026-10-12T21:01:33Z</dcterms:modified>
</cp:coreProperties>
</file>