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one-line story here, once: the records behind every approved drug and device must stay secret and trustworthy for decades. Quantum computing threatens both. TraceCore is a lab system built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concrete case. A cardiac device is tested in a lab, and a single changed number in the record can put an unsafe device on the market. Keep this to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LIMS stands for Laboratory Information Management System. Think of it as the lab's operating system for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Revised Schedule M has applied to every Indian drug maker since 1 January 2026. It requires a record of every data change: the old value, who changed it and when. That is hard to do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that must stay secret for years is already at risk. The rule on screen is Mosca's inequality. The argument does not depend on guessing the year quantum arrives, only on how long the data must stay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pre-clinical study done today supports a product that may sell for 15 years. Its data has to outlive any encryption chosen today. The last row matters most: the keys vouch for the whole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quantum-security talk is about secrecy. For a lab, the bigger loss is proof. If signatures can be forged, an auditor cannot trust any record in the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lab system bought today will still be running in 2035. Buyers will soon be asked to show their software is ready. TraceCore is built for that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exact about status. This room knows the algorithms. Saying 'in development' honestly earns more trust than overstating.
FALLBACK if statuses are not confirmed by 14 Oct: headline becomes 'TraceCore is designed for post-quantum resilience' and every status reads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AI compliance assistant in one sentence only if it ships today. Otherwise leave it out. Show a real screenshot of the audit trail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this twice. If the network is unreliable, use a recorded 60-second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name competitors. The last question is the one most vendors have not answered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counts come from official registers (DST, CDSCO, NABL) read on 1 Oct 2026; the pharma figure is an industry estimate. Do not state a market value in rupees or dollars. If MDR cannot be named, say 'a leading Chennai medical device testing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IBM system's commissioning status on the morning of the pitch and say it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then stop. Don't summarise.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in Q&amp;A. Never say 'NIST-certified', 'GLP compliant' or 'Part 11 compliant'.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Aakash ticks one box per row before the deck is finalised.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FA7"/>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FAFAF8"/>
                </a:solidFill>
                <a:latin typeface="Consolas" pitchFamily="34" charset="0"/>
                <a:ea typeface="Consolas" pitchFamily="34" charset="-122"/>
                <a:cs typeface="Consolas" pitchFamily="34" charset="-120"/>
              </a:rPr>
              <a:t>TRACECORE — AMARAVATI QUANTUM VALLEY</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FAFAF8"/>
                </a:solidFill>
                <a:latin typeface="Consolas" pitchFamily="34" charset="0"/>
                <a:ea typeface="Consolas" pitchFamily="34" charset="-122"/>
                <a:cs typeface="Consolas" pitchFamily="34" charset="-120"/>
              </a:rPr>
              <a:t>S01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FAFAF8"/>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FAFAF8"/>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FAFAF8"/>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FAFAF8"/>
                </a:solidFill>
                <a:latin typeface="Consolas" pitchFamily="34" charset="0"/>
                <a:ea typeface="Consolas" pitchFamily="34" charset="-122"/>
                <a:cs typeface="Consolas" pitchFamily="34" charset="-120"/>
              </a:rPr>
              <a:t>№01 / 17</a:t>
            </a:r>
            <a:endParaRPr lang="en-US" sz="900" dirty="0"/>
          </a:p>
        </p:txBody>
      </p:sp>
      <p:sp>
        <p:nvSpPr>
          <p:cNvPr id="8" name="Shape 6"/>
          <p:cNvSpPr/>
          <p:nvPr/>
        </p:nvSpPr>
        <p:spPr>
          <a:xfrm>
            <a:off x="9646920" y="914400"/>
            <a:ext cx="64008" cy="64008"/>
          </a:xfrm>
          <a:prstGeom prst="rect">
            <a:avLst/>
          </a:prstGeom>
          <a:solidFill>
            <a:srgbClr val="FAFAF8">
              <a:alpha val="5000"/>
            </a:srgbClr>
          </a:solidFill>
          <a:ln/>
        </p:spPr>
      </p:sp>
      <p:sp>
        <p:nvSpPr>
          <p:cNvPr id="9" name="Shape 7"/>
          <p:cNvSpPr/>
          <p:nvPr/>
        </p:nvSpPr>
        <p:spPr>
          <a:xfrm>
            <a:off x="9784080" y="914400"/>
            <a:ext cx="64008" cy="64008"/>
          </a:xfrm>
          <a:prstGeom prst="rect">
            <a:avLst/>
          </a:prstGeom>
          <a:solidFill>
            <a:srgbClr val="FAFAF8">
              <a:alpha val="54000"/>
            </a:srgbClr>
          </a:solidFill>
          <a:ln/>
        </p:spPr>
      </p:sp>
      <p:sp>
        <p:nvSpPr>
          <p:cNvPr id="10" name="Shape 8"/>
          <p:cNvSpPr/>
          <p:nvPr/>
        </p:nvSpPr>
        <p:spPr>
          <a:xfrm>
            <a:off x="9921240" y="914400"/>
            <a:ext cx="64008" cy="64008"/>
          </a:xfrm>
          <a:prstGeom prst="rect">
            <a:avLst/>
          </a:prstGeom>
          <a:solidFill>
            <a:srgbClr val="FAFAF8">
              <a:alpha val="61000"/>
            </a:srgbClr>
          </a:solidFill>
          <a:ln/>
        </p:spPr>
      </p:sp>
      <p:sp>
        <p:nvSpPr>
          <p:cNvPr id="11" name="Shape 9"/>
          <p:cNvSpPr/>
          <p:nvPr/>
        </p:nvSpPr>
        <p:spPr>
          <a:xfrm>
            <a:off x="10058400" y="914400"/>
            <a:ext cx="64008" cy="64008"/>
          </a:xfrm>
          <a:prstGeom prst="rect">
            <a:avLst/>
          </a:prstGeom>
          <a:solidFill>
            <a:srgbClr val="FAFAF8">
              <a:alpha val="25000"/>
            </a:srgbClr>
          </a:solidFill>
          <a:ln/>
        </p:spPr>
      </p:sp>
      <p:sp>
        <p:nvSpPr>
          <p:cNvPr id="12" name="Shape 10"/>
          <p:cNvSpPr/>
          <p:nvPr/>
        </p:nvSpPr>
        <p:spPr>
          <a:xfrm>
            <a:off x="10195560" y="914400"/>
            <a:ext cx="64008" cy="64008"/>
          </a:xfrm>
          <a:prstGeom prst="rect">
            <a:avLst/>
          </a:prstGeom>
          <a:solidFill>
            <a:srgbClr val="FAFAF8">
              <a:alpha val="21000"/>
            </a:srgbClr>
          </a:solidFill>
          <a:ln/>
        </p:spPr>
      </p:sp>
      <p:sp>
        <p:nvSpPr>
          <p:cNvPr id="13" name="Shape 11"/>
          <p:cNvSpPr/>
          <p:nvPr/>
        </p:nvSpPr>
        <p:spPr>
          <a:xfrm>
            <a:off x="10332720" y="914400"/>
            <a:ext cx="64008" cy="64008"/>
          </a:xfrm>
          <a:prstGeom prst="rect">
            <a:avLst/>
          </a:prstGeom>
          <a:solidFill>
            <a:srgbClr val="FAFAF8">
              <a:alpha val="25000"/>
            </a:srgbClr>
          </a:solidFill>
          <a:ln/>
        </p:spPr>
      </p:sp>
      <p:sp>
        <p:nvSpPr>
          <p:cNvPr id="14" name="Shape 12"/>
          <p:cNvSpPr/>
          <p:nvPr/>
        </p:nvSpPr>
        <p:spPr>
          <a:xfrm>
            <a:off x="10469880" y="914400"/>
            <a:ext cx="64008" cy="64008"/>
          </a:xfrm>
          <a:prstGeom prst="rect">
            <a:avLst/>
          </a:prstGeom>
          <a:solidFill>
            <a:srgbClr val="FAFAF8">
              <a:alpha val="9000"/>
            </a:srgbClr>
          </a:solidFill>
          <a:ln/>
        </p:spPr>
      </p:sp>
      <p:sp>
        <p:nvSpPr>
          <p:cNvPr id="15" name="Shape 13"/>
          <p:cNvSpPr/>
          <p:nvPr/>
        </p:nvSpPr>
        <p:spPr>
          <a:xfrm>
            <a:off x="10607040" y="914400"/>
            <a:ext cx="64008" cy="64008"/>
          </a:xfrm>
          <a:prstGeom prst="rect">
            <a:avLst/>
          </a:prstGeom>
          <a:solidFill>
            <a:srgbClr val="FAFAF8">
              <a:alpha val="5000"/>
            </a:srgbClr>
          </a:solidFill>
          <a:ln/>
        </p:spPr>
      </p:sp>
      <p:sp>
        <p:nvSpPr>
          <p:cNvPr id="16" name="Shape 14"/>
          <p:cNvSpPr/>
          <p:nvPr/>
        </p:nvSpPr>
        <p:spPr>
          <a:xfrm>
            <a:off x="10744200" y="914400"/>
            <a:ext cx="64008" cy="64008"/>
          </a:xfrm>
          <a:prstGeom prst="rect">
            <a:avLst/>
          </a:prstGeom>
          <a:solidFill>
            <a:srgbClr val="FAFAF8">
              <a:alpha val="26000"/>
            </a:srgbClr>
          </a:solidFill>
          <a:ln/>
        </p:spPr>
      </p:sp>
      <p:sp>
        <p:nvSpPr>
          <p:cNvPr id="17" name="Shape 15"/>
          <p:cNvSpPr/>
          <p:nvPr/>
        </p:nvSpPr>
        <p:spPr>
          <a:xfrm>
            <a:off x="10881360" y="914400"/>
            <a:ext cx="64008" cy="64008"/>
          </a:xfrm>
          <a:prstGeom prst="rect">
            <a:avLst/>
          </a:prstGeom>
          <a:solidFill>
            <a:srgbClr val="FAFAF8">
              <a:alpha val="45000"/>
            </a:srgbClr>
          </a:solidFill>
          <a:ln/>
        </p:spPr>
      </p:sp>
      <p:sp>
        <p:nvSpPr>
          <p:cNvPr id="18" name="Shape 16"/>
          <p:cNvSpPr/>
          <p:nvPr/>
        </p:nvSpPr>
        <p:spPr>
          <a:xfrm>
            <a:off x="11018520" y="914400"/>
            <a:ext cx="64008" cy="64008"/>
          </a:xfrm>
          <a:prstGeom prst="rect">
            <a:avLst/>
          </a:prstGeom>
          <a:solidFill>
            <a:srgbClr val="FAFAF8">
              <a:alpha val="26000"/>
            </a:srgbClr>
          </a:solidFill>
          <a:ln/>
        </p:spPr>
      </p:sp>
      <p:sp>
        <p:nvSpPr>
          <p:cNvPr id="19" name="Shape 17"/>
          <p:cNvSpPr/>
          <p:nvPr/>
        </p:nvSpPr>
        <p:spPr>
          <a:xfrm>
            <a:off x="11155680" y="914400"/>
            <a:ext cx="64008" cy="64008"/>
          </a:xfrm>
          <a:prstGeom prst="rect">
            <a:avLst/>
          </a:prstGeom>
          <a:solidFill>
            <a:srgbClr val="FAFAF8">
              <a:alpha val="32000"/>
            </a:srgbClr>
          </a:solidFill>
          <a:ln/>
        </p:spPr>
      </p:sp>
      <p:sp>
        <p:nvSpPr>
          <p:cNvPr id="20" name="Shape 18"/>
          <p:cNvSpPr/>
          <p:nvPr/>
        </p:nvSpPr>
        <p:spPr>
          <a:xfrm>
            <a:off x="11292840" y="914400"/>
            <a:ext cx="64008" cy="64008"/>
          </a:xfrm>
          <a:prstGeom prst="rect">
            <a:avLst/>
          </a:prstGeom>
          <a:solidFill>
            <a:srgbClr val="FAFAF8">
              <a:alpha val="68000"/>
            </a:srgbClr>
          </a:solidFill>
          <a:ln/>
        </p:spPr>
      </p:sp>
      <p:sp>
        <p:nvSpPr>
          <p:cNvPr id="21" name="Shape 19"/>
          <p:cNvSpPr/>
          <p:nvPr/>
        </p:nvSpPr>
        <p:spPr>
          <a:xfrm>
            <a:off x="11430000" y="914400"/>
            <a:ext cx="64008" cy="64008"/>
          </a:xfrm>
          <a:prstGeom prst="rect">
            <a:avLst/>
          </a:prstGeom>
          <a:solidFill>
            <a:srgbClr val="FAFAF8">
              <a:alpha val="54000"/>
            </a:srgbClr>
          </a:solidFill>
          <a:ln/>
        </p:spPr>
      </p:sp>
      <p:sp>
        <p:nvSpPr>
          <p:cNvPr id="22" name="Shape 20"/>
          <p:cNvSpPr/>
          <p:nvPr/>
        </p:nvSpPr>
        <p:spPr>
          <a:xfrm>
            <a:off x="9646920" y="1051560"/>
            <a:ext cx="64008" cy="64008"/>
          </a:xfrm>
          <a:prstGeom prst="rect">
            <a:avLst/>
          </a:prstGeom>
          <a:solidFill>
            <a:srgbClr val="FAFAF8">
              <a:alpha val="37000"/>
            </a:srgbClr>
          </a:solidFill>
          <a:ln/>
        </p:spPr>
      </p:sp>
      <p:sp>
        <p:nvSpPr>
          <p:cNvPr id="23" name="Shape 21"/>
          <p:cNvSpPr/>
          <p:nvPr/>
        </p:nvSpPr>
        <p:spPr>
          <a:xfrm>
            <a:off x="9784080" y="1051560"/>
            <a:ext cx="64008" cy="64008"/>
          </a:xfrm>
          <a:prstGeom prst="rect">
            <a:avLst/>
          </a:prstGeom>
          <a:solidFill>
            <a:srgbClr val="FAFAF8">
              <a:alpha val="48000"/>
            </a:srgbClr>
          </a:solidFill>
          <a:ln/>
        </p:spPr>
      </p:sp>
      <p:sp>
        <p:nvSpPr>
          <p:cNvPr id="24" name="Shape 22"/>
          <p:cNvSpPr/>
          <p:nvPr/>
        </p:nvSpPr>
        <p:spPr>
          <a:xfrm>
            <a:off x="9921240" y="1051560"/>
            <a:ext cx="64008" cy="64008"/>
          </a:xfrm>
          <a:prstGeom prst="rect">
            <a:avLst/>
          </a:prstGeom>
          <a:solidFill>
            <a:srgbClr val="FAFAF8">
              <a:alpha val="24000"/>
            </a:srgbClr>
          </a:solidFill>
          <a:ln/>
        </p:spPr>
      </p:sp>
      <p:sp>
        <p:nvSpPr>
          <p:cNvPr id="25" name="Shape 23"/>
          <p:cNvSpPr/>
          <p:nvPr/>
        </p:nvSpPr>
        <p:spPr>
          <a:xfrm>
            <a:off x="10058400" y="1051560"/>
            <a:ext cx="64008" cy="64008"/>
          </a:xfrm>
          <a:prstGeom prst="rect">
            <a:avLst/>
          </a:prstGeom>
          <a:solidFill>
            <a:srgbClr val="FAFAF8">
              <a:alpha val="8000"/>
            </a:srgbClr>
          </a:solidFill>
          <a:ln/>
        </p:spPr>
      </p:sp>
      <p:sp>
        <p:nvSpPr>
          <p:cNvPr id="26" name="Shape 24"/>
          <p:cNvSpPr/>
          <p:nvPr/>
        </p:nvSpPr>
        <p:spPr>
          <a:xfrm>
            <a:off x="10195560" y="1051560"/>
            <a:ext cx="64008" cy="64008"/>
          </a:xfrm>
          <a:prstGeom prst="rect">
            <a:avLst/>
          </a:prstGeom>
          <a:solidFill>
            <a:srgbClr val="FAFAF8">
              <a:alpha val="7000"/>
            </a:srgbClr>
          </a:solidFill>
          <a:ln/>
        </p:spPr>
      </p:sp>
      <p:sp>
        <p:nvSpPr>
          <p:cNvPr id="27" name="Shape 25"/>
          <p:cNvSpPr/>
          <p:nvPr/>
        </p:nvSpPr>
        <p:spPr>
          <a:xfrm>
            <a:off x="10332720" y="1051560"/>
            <a:ext cx="64008" cy="64008"/>
          </a:xfrm>
          <a:prstGeom prst="rect">
            <a:avLst/>
          </a:prstGeom>
          <a:solidFill>
            <a:srgbClr val="FAFAF8">
              <a:alpha val="21000"/>
            </a:srgbClr>
          </a:solidFill>
          <a:ln/>
        </p:spPr>
      </p:sp>
      <p:sp>
        <p:nvSpPr>
          <p:cNvPr id="28" name="Shape 26"/>
          <p:cNvSpPr/>
          <p:nvPr/>
        </p:nvSpPr>
        <p:spPr>
          <a:xfrm>
            <a:off x="10469880" y="1051560"/>
            <a:ext cx="64008" cy="64008"/>
          </a:xfrm>
          <a:prstGeom prst="rect">
            <a:avLst/>
          </a:prstGeom>
          <a:solidFill>
            <a:srgbClr val="FAFAF8">
              <a:alpha val="13000"/>
            </a:srgbClr>
          </a:solidFill>
          <a:ln/>
        </p:spPr>
      </p:sp>
      <p:sp>
        <p:nvSpPr>
          <p:cNvPr id="29" name="Shape 27"/>
          <p:cNvSpPr/>
          <p:nvPr/>
        </p:nvSpPr>
        <p:spPr>
          <a:xfrm>
            <a:off x="10607040" y="1051560"/>
            <a:ext cx="64008" cy="64008"/>
          </a:xfrm>
          <a:prstGeom prst="rect">
            <a:avLst/>
          </a:prstGeom>
          <a:solidFill>
            <a:srgbClr val="FAFAF8">
              <a:alpha val="33000"/>
            </a:srgbClr>
          </a:solidFill>
          <a:ln/>
        </p:spPr>
      </p:sp>
      <p:sp>
        <p:nvSpPr>
          <p:cNvPr id="30" name="Shape 28"/>
          <p:cNvSpPr/>
          <p:nvPr/>
        </p:nvSpPr>
        <p:spPr>
          <a:xfrm>
            <a:off x="10744200" y="1051560"/>
            <a:ext cx="64008" cy="64008"/>
          </a:xfrm>
          <a:prstGeom prst="rect">
            <a:avLst/>
          </a:prstGeom>
          <a:solidFill>
            <a:srgbClr val="FAFAF8">
              <a:alpha val="61000"/>
            </a:srgbClr>
          </a:solidFill>
          <a:ln/>
        </p:spPr>
      </p:sp>
      <p:sp>
        <p:nvSpPr>
          <p:cNvPr id="31" name="Shape 29"/>
          <p:cNvSpPr/>
          <p:nvPr/>
        </p:nvSpPr>
        <p:spPr>
          <a:xfrm>
            <a:off x="10881360" y="1051560"/>
            <a:ext cx="64008" cy="64008"/>
          </a:xfrm>
          <a:prstGeom prst="rect">
            <a:avLst/>
          </a:prstGeom>
          <a:solidFill>
            <a:srgbClr val="FAFAF8">
              <a:alpha val="45000"/>
            </a:srgbClr>
          </a:solidFill>
          <a:ln/>
        </p:spPr>
      </p:sp>
      <p:sp>
        <p:nvSpPr>
          <p:cNvPr id="32" name="Shape 30"/>
          <p:cNvSpPr/>
          <p:nvPr/>
        </p:nvSpPr>
        <p:spPr>
          <a:xfrm>
            <a:off x="11018520" y="1051560"/>
            <a:ext cx="64008" cy="64008"/>
          </a:xfrm>
          <a:prstGeom prst="rect">
            <a:avLst/>
          </a:prstGeom>
          <a:solidFill>
            <a:srgbClr val="FAFAF8">
              <a:alpha val="18000"/>
            </a:srgbClr>
          </a:solidFill>
          <a:ln/>
        </p:spPr>
      </p:sp>
      <p:sp>
        <p:nvSpPr>
          <p:cNvPr id="33" name="Shape 31"/>
          <p:cNvSpPr/>
          <p:nvPr/>
        </p:nvSpPr>
        <p:spPr>
          <a:xfrm>
            <a:off x="11155680" y="1051560"/>
            <a:ext cx="64008" cy="64008"/>
          </a:xfrm>
          <a:prstGeom prst="rect">
            <a:avLst/>
          </a:prstGeom>
          <a:solidFill>
            <a:srgbClr val="FAFAF8">
              <a:alpha val="62000"/>
            </a:srgbClr>
          </a:solidFill>
          <a:ln/>
        </p:spPr>
      </p:sp>
      <p:sp>
        <p:nvSpPr>
          <p:cNvPr id="34" name="Shape 32"/>
          <p:cNvSpPr/>
          <p:nvPr/>
        </p:nvSpPr>
        <p:spPr>
          <a:xfrm>
            <a:off x="11292840" y="1051560"/>
            <a:ext cx="64008" cy="64008"/>
          </a:xfrm>
          <a:prstGeom prst="rect">
            <a:avLst/>
          </a:prstGeom>
          <a:solidFill>
            <a:srgbClr val="FAFAF8">
              <a:alpha val="58000"/>
            </a:srgbClr>
          </a:solidFill>
          <a:ln/>
        </p:spPr>
      </p:sp>
      <p:sp>
        <p:nvSpPr>
          <p:cNvPr id="35" name="Shape 33"/>
          <p:cNvSpPr/>
          <p:nvPr/>
        </p:nvSpPr>
        <p:spPr>
          <a:xfrm>
            <a:off x="11430000" y="1051560"/>
            <a:ext cx="64008" cy="64008"/>
          </a:xfrm>
          <a:prstGeom prst="rect">
            <a:avLst/>
          </a:prstGeom>
          <a:solidFill>
            <a:srgbClr val="FAFAF8">
              <a:alpha val="17000"/>
            </a:srgbClr>
          </a:solidFill>
          <a:ln/>
        </p:spPr>
      </p:sp>
      <p:sp>
        <p:nvSpPr>
          <p:cNvPr id="36" name="Shape 34"/>
          <p:cNvSpPr/>
          <p:nvPr/>
        </p:nvSpPr>
        <p:spPr>
          <a:xfrm>
            <a:off x="9646920" y="1188720"/>
            <a:ext cx="64008" cy="64008"/>
          </a:xfrm>
          <a:prstGeom prst="rect">
            <a:avLst/>
          </a:prstGeom>
          <a:solidFill>
            <a:srgbClr val="FAFAF8">
              <a:alpha val="27000"/>
            </a:srgbClr>
          </a:solidFill>
          <a:ln/>
        </p:spPr>
      </p:sp>
      <p:sp>
        <p:nvSpPr>
          <p:cNvPr id="37" name="Shape 35"/>
          <p:cNvSpPr/>
          <p:nvPr/>
        </p:nvSpPr>
        <p:spPr>
          <a:xfrm>
            <a:off x="9784080" y="1188720"/>
            <a:ext cx="64008" cy="64008"/>
          </a:xfrm>
          <a:prstGeom prst="rect">
            <a:avLst/>
          </a:prstGeom>
          <a:solidFill>
            <a:srgbClr val="FAFAF8">
              <a:alpha val="12000"/>
            </a:srgbClr>
          </a:solidFill>
          <a:ln/>
        </p:spPr>
      </p:sp>
      <p:sp>
        <p:nvSpPr>
          <p:cNvPr id="38" name="Shape 36"/>
          <p:cNvSpPr/>
          <p:nvPr/>
        </p:nvSpPr>
        <p:spPr>
          <a:xfrm>
            <a:off x="9921240" y="1188720"/>
            <a:ext cx="64008" cy="64008"/>
          </a:xfrm>
          <a:prstGeom prst="rect">
            <a:avLst/>
          </a:prstGeom>
          <a:solidFill>
            <a:srgbClr val="FAFAF8">
              <a:alpha val="6000"/>
            </a:srgbClr>
          </a:solidFill>
          <a:ln/>
        </p:spPr>
      </p:sp>
      <p:sp>
        <p:nvSpPr>
          <p:cNvPr id="39" name="Shape 37"/>
          <p:cNvSpPr/>
          <p:nvPr/>
        </p:nvSpPr>
        <p:spPr>
          <a:xfrm>
            <a:off x="10058400" y="1188720"/>
            <a:ext cx="64008" cy="64008"/>
          </a:xfrm>
          <a:prstGeom prst="rect">
            <a:avLst/>
          </a:prstGeom>
          <a:solidFill>
            <a:srgbClr val="FAFAF8">
              <a:alpha val="23000"/>
            </a:srgbClr>
          </a:solidFill>
          <a:ln/>
        </p:spPr>
      </p:sp>
      <p:sp>
        <p:nvSpPr>
          <p:cNvPr id="40" name="Shape 38"/>
          <p:cNvSpPr/>
          <p:nvPr/>
        </p:nvSpPr>
        <p:spPr>
          <a:xfrm>
            <a:off x="10195560" y="1188720"/>
            <a:ext cx="64008" cy="64008"/>
          </a:xfrm>
          <a:prstGeom prst="rect">
            <a:avLst/>
          </a:prstGeom>
          <a:solidFill>
            <a:srgbClr val="FAFAF8">
              <a:alpha val="43000"/>
            </a:srgbClr>
          </a:solidFill>
          <a:ln/>
        </p:spPr>
      </p:sp>
      <p:sp>
        <p:nvSpPr>
          <p:cNvPr id="41" name="Shape 39"/>
          <p:cNvSpPr/>
          <p:nvPr/>
        </p:nvSpPr>
        <p:spPr>
          <a:xfrm>
            <a:off x="10332720" y="1188720"/>
            <a:ext cx="64008" cy="64008"/>
          </a:xfrm>
          <a:prstGeom prst="rect">
            <a:avLst/>
          </a:prstGeom>
          <a:solidFill>
            <a:srgbClr val="FAFAF8">
              <a:alpha val="30000"/>
            </a:srgbClr>
          </a:solidFill>
          <a:ln/>
        </p:spPr>
      </p:sp>
      <p:sp>
        <p:nvSpPr>
          <p:cNvPr id="42" name="Shape 40"/>
          <p:cNvSpPr/>
          <p:nvPr/>
        </p:nvSpPr>
        <p:spPr>
          <a:xfrm>
            <a:off x="10469880" y="1188720"/>
            <a:ext cx="64008" cy="64008"/>
          </a:xfrm>
          <a:prstGeom prst="rect">
            <a:avLst/>
          </a:prstGeom>
          <a:solidFill>
            <a:srgbClr val="FAFAF8">
              <a:alpha val="27000"/>
            </a:srgbClr>
          </a:solidFill>
          <a:ln/>
        </p:spPr>
      </p:sp>
      <p:sp>
        <p:nvSpPr>
          <p:cNvPr id="43" name="Shape 41"/>
          <p:cNvSpPr/>
          <p:nvPr/>
        </p:nvSpPr>
        <p:spPr>
          <a:xfrm>
            <a:off x="10607040" y="1188720"/>
            <a:ext cx="64008" cy="64008"/>
          </a:xfrm>
          <a:prstGeom prst="rect">
            <a:avLst/>
          </a:prstGeom>
          <a:solidFill>
            <a:srgbClr val="FAFAF8">
              <a:alpha val="66000"/>
            </a:srgbClr>
          </a:solidFill>
          <a:ln/>
        </p:spPr>
      </p:sp>
      <p:sp>
        <p:nvSpPr>
          <p:cNvPr id="44" name="Shape 42"/>
          <p:cNvSpPr/>
          <p:nvPr/>
        </p:nvSpPr>
        <p:spPr>
          <a:xfrm>
            <a:off x="10744200" y="1188720"/>
            <a:ext cx="64008" cy="64008"/>
          </a:xfrm>
          <a:prstGeom prst="rect">
            <a:avLst/>
          </a:prstGeom>
          <a:solidFill>
            <a:srgbClr val="FAFAF8">
              <a:alpha val="58000"/>
            </a:srgbClr>
          </a:solidFill>
          <a:ln/>
        </p:spPr>
      </p:sp>
      <p:sp>
        <p:nvSpPr>
          <p:cNvPr id="45" name="Shape 43"/>
          <p:cNvSpPr/>
          <p:nvPr/>
        </p:nvSpPr>
        <p:spPr>
          <a:xfrm>
            <a:off x="10881360" y="1188720"/>
            <a:ext cx="64008" cy="64008"/>
          </a:xfrm>
          <a:prstGeom prst="rect">
            <a:avLst/>
          </a:prstGeom>
          <a:solidFill>
            <a:srgbClr val="FAFAF8">
              <a:alpha val="9000"/>
            </a:srgbClr>
          </a:solidFill>
          <a:ln/>
        </p:spPr>
      </p:sp>
      <p:sp>
        <p:nvSpPr>
          <p:cNvPr id="46" name="Shape 44"/>
          <p:cNvSpPr/>
          <p:nvPr/>
        </p:nvSpPr>
        <p:spPr>
          <a:xfrm>
            <a:off x="11018520" y="1188720"/>
            <a:ext cx="64008" cy="64008"/>
          </a:xfrm>
          <a:prstGeom prst="rect">
            <a:avLst/>
          </a:prstGeom>
          <a:solidFill>
            <a:srgbClr val="FAFAF8">
              <a:alpha val="46000"/>
            </a:srgbClr>
          </a:solidFill>
          <a:ln/>
        </p:spPr>
      </p:sp>
      <p:sp>
        <p:nvSpPr>
          <p:cNvPr id="47" name="Shape 45"/>
          <p:cNvSpPr/>
          <p:nvPr/>
        </p:nvSpPr>
        <p:spPr>
          <a:xfrm>
            <a:off x="11155680" y="1188720"/>
            <a:ext cx="64008" cy="64008"/>
          </a:xfrm>
          <a:prstGeom prst="rect">
            <a:avLst/>
          </a:prstGeom>
          <a:solidFill>
            <a:srgbClr val="FAFAF8">
              <a:alpha val="49000"/>
            </a:srgbClr>
          </a:solidFill>
          <a:ln/>
        </p:spPr>
      </p:sp>
      <p:sp>
        <p:nvSpPr>
          <p:cNvPr id="48" name="Shape 46"/>
          <p:cNvSpPr/>
          <p:nvPr/>
        </p:nvSpPr>
        <p:spPr>
          <a:xfrm>
            <a:off x="11292840" y="1188720"/>
            <a:ext cx="64008" cy="64008"/>
          </a:xfrm>
          <a:prstGeom prst="rect">
            <a:avLst/>
          </a:prstGeom>
          <a:solidFill>
            <a:srgbClr val="FAFAF8">
              <a:alpha val="20000"/>
            </a:srgbClr>
          </a:solidFill>
          <a:ln/>
        </p:spPr>
      </p:sp>
      <p:sp>
        <p:nvSpPr>
          <p:cNvPr id="49" name="Shape 47"/>
          <p:cNvSpPr/>
          <p:nvPr/>
        </p:nvSpPr>
        <p:spPr>
          <a:xfrm>
            <a:off x="11430000" y="1188720"/>
            <a:ext cx="64008" cy="64008"/>
          </a:xfrm>
          <a:prstGeom prst="rect">
            <a:avLst/>
          </a:prstGeom>
          <a:solidFill>
            <a:srgbClr val="FAFAF8">
              <a:alpha val="11000"/>
            </a:srgbClr>
          </a:solidFill>
          <a:ln/>
        </p:spPr>
      </p:sp>
      <p:sp>
        <p:nvSpPr>
          <p:cNvPr id="50" name="Shape 48"/>
          <p:cNvSpPr/>
          <p:nvPr/>
        </p:nvSpPr>
        <p:spPr>
          <a:xfrm>
            <a:off x="9646920" y="1325880"/>
            <a:ext cx="64008" cy="64008"/>
          </a:xfrm>
          <a:prstGeom prst="rect">
            <a:avLst/>
          </a:prstGeom>
          <a:solidFill>
            <a:srgbClr val="FAFAF8">
              <a:alpha val="19000"/>
            </a:srgbClr>
          </a:solidFill>
          <a:ln/>
        </p:spPr>
      </p:sp>
      <p:sp>
        <p:nvSpPr>
          <p:cNvPr id="51" name="Shape 49"/>
          <p:cNvSpPr/>
          <p:nvPr/>
        </p:nvSpPr>
        <p:spPr>
          <a:xfrm>
            <a:off x="9784080" y="1325880"/>
            <a:ext cx="64008" cy="64008"/>
          </a:xfrm>
          <a:prstGeom prst="rect">
            <a:avLst/>
          </a:prstGeom>
          <a:solidFill>
            <a:srgbClr val="FAFAF8">
              <a:alpha val="15000"/>
            </a:srgbClr>
          </a:solidFill>
          <a:ln/>
        </p:spPr>
      </p:sp>
      <p:sp>
        <p:nvSpPr>
          <p:cNvPr id="52" name="Shape 50"/>
          <p:cNvSpPr/>
          <p:nvPr/>
        </p:nvSpPr>
        <p:spPr>
          <a:xfrm>
            <a:off x="9921240" y="1325880"/>
            <a:ext cx="64008" cy="64008"/>
          </a:xfrm>
          <a:prstGeom prst="rect">
            <a:avLst/>
          </a:prstGeom>
          <a:solidFill>
            <a:srgbClr val="FAFAF8">
              <a:alpha val="28000"/>
            </a:srgbClr>
          </a:solidFill>
          <a:ln/>
        </p:spPr>
      </p:sp>
      <p:sp>
        <p:nvSpPr>
          <p:cNvPr id="53" name="Shape 51"/>
          <p:cNvSpPr/>
          <p:nvPr/>
        </p:nvSpPr>
        <p:spPr>
          <a:xfrm>
            <a:off x="10058400" y="1325880"/>
            <a:ext cx="64008" cy="64008"/>
          </a:xfrm>
          <a:prstGeom prst="rect">
            <a:avLst/>
          </a:prstGeom>
          <a:solidFill>
            <a:srgbClr val="FAFAF8">
              <a:alpha val="59000"/>
            </a:srgbClr>
          </a:solidFill>
          <a:ln/>
        </p:spPr>
      </p:sp>
      <p:sp>
        <p:nvSpPr>
          <p:cNvPr id="54" name="Shape 52"/>
          <p:cNvSpPr/>
          <p:nvPr/>
        </p:nvSpPr>
        <p:spPr>
          <a:xfrm>
            <a:off x="10195560" y="1325880"/>
            <a:ext cx="64008" cy="64008"/>
          </a:xfrm>
          <a:prstGeom prst="rect">
            <a:avLst/>
          </a:prstGeom>
          <a:solidFill>
            <a:srgbClr val="FAFAF8">
              <a:alpha val="49000"/>
            </a:srgbClr>
          </a:solidFill>
          <a:ln/>
        </p:spPr>
      </p:sp>
      <p:sp>
        <p:nvSpPr>
          <p:cNvPr id="55" name="Shape 53"/>
          <p:cNvSpPr/>
          <p:nvPr/>
        </p:nvSpPr>
        <p:spPr>
          <a:xfrm>
            <a:off x="10332720" y="1325880"/>
            <a:ext cx="64008" cy="64008"/>
          </a:xfrm>
          <a:prstGeom prst="rect">
            <a:avLst/>
          </a:prstGeom>
          <a:solidFill>
            <a:srgbClr val="FAFAF8">
              <a:alpha val="12000"/>
            </a:srgbClr>
          </a:solidFill>
          <a:ln/>
        </p:spPr>
      </p:sp>
      <p:sp>
        <p:nvSpPr>
          <p:cNvPr id="56" name="Shape 54"/>
          <p:cNvSpPr/>
          <p:nvPr/>
        </p:nvSpPr>
        <p:spPr>
          <a:xfrm>
            <a:off x="10469880" y="1325880"/>
            <a:ext cx="64008" cy="64008"/>
          </a:xfrm>
          <a:prstGeom prst="rect">
            <a:avLst/>
          </a:prstGeom>
          <a:solidFill>
            <a:srgbClr val="FAFAF8">
              <a:alpha val="59000"/>
            </a:srgbClr>
          </a:solidFill>
          <a:ln/>
        </p:spPr>
      </p:sp>
      <p:sp>
        <p:nvSpPr>
          <p:cNvPr id="57" name="Shape 55"/>
          <p:cNvSpPr/>
          <p:nvPr/>
        </p:nvSpPr>
        <p:spPr>
          <a:xfrm>
            <a:off x="10607040" y="1325880"/>
            <a:ext cx="64008" cy="64008"/>
          </a:xfrm>
          <a:prstGeom prst="rect">
            <a:avLst/>
          </a:prstGeom>
          <a:solidFill>
            <a:srgbClr val="FAFAF8">
              <a:alpha val="61000"/>
            </a:srgbClr>
          </a:solidFill>
          <a:ln/>
        </p:spPr>
      </p:sp>
      <p:sp>
        <p:nvSpPr>
          <p:cNvPr id="58" name="Shape 56"/>
          <p:cNvSpPr/>
          <p:nvPr/>
        </p:nvSpPr>
        <p:spPr>
          <a:xfrm>
            <a:off x="10744200" y="1325880"/>
            <a:ext cx="64008" cy="64008"/>
          </a:xfrm>
          <a:prstGeom prst="rect">
            <a:avLst/>
          </a:prstGeom>
          <a:solidFill>
            <a:srgbClr val="FAFAF8">
              <a:alpha val="22000"/>
            </a:srgbClr>
          </a:solidFill>
          <a:ln/>
        </p:spPr>
      </p:sp>
      <p:sp>
        <p:nvSpPr>
          <p:cNvPr id="59" name="Shape 57"/>
          <p:cNvSpPr/>
          <p:nvPr/>
        </p:nvSpPr>
        <p:spPr>
          <a:xfrm>
            <a:off x="10881360" y="1325880"/>
            <a:ext cx="64008" cy="64008"/>
          </a:xfrm>
          <a:prstGeom prst="rect">
            <a:avLst/>
          </a:prstGeom>
          <a:solidFill>
            <a:srgbClr val="FAFAF8">
              <a:alpha val="26000"/>
            </a:srgbClr>
          </a:solidFill>
          <a:ln/>
        </p:spPr>
      </p:sp>
      <p:sp>
        <p:nvSpPr>
          <p:cNvPr id="60" name="Shape 58"/>
          <p:cNvSpPr/>
          <p:nvPr/>
        </p:nvSpPr>
        <p:spPr>
          <a:xfrm>
            <a:off x="11018520" y="1325880"/>
            <a:ext cx="64008" cy="64008"/>
          </a:xfrm>
          <a:prstGeom prst="rect">
            <a:avLst/>
          </a:prstGeom>
          <a:solidFill>
            <a:srgbClr val="FAFAF8">
              <a:alpha val="31000"/>
            </a:srgbClr>
          </a:solidFill>
          <a:ln/>
        </p:spPr>
      </p:sp>
      <p:sp>
        <p:nvSpPr>
          <p:cNvPr id="61" name="Shape 59"/>
          <p:cNvSpPr/>
          <p:nvPr/>
        </p:nvSpPr>
        <p:spPr>
          <a:xfrm>
            <a:off x="11155680" y="1325880"/>
            <a:ext cx="64008" cy="64008"/>
          </a:xfrm>
          <a:prstGeom prst="rect">
            <a:avLst/>
          </a:prstGeom>
          <a:solidFill>
            <a:srgbClr val="FAFAF8">
              <a:alpha val="12000"/>
            </a:srgbClr>
          </a:solidFill>
          <a:ln/>
        </p:spPr>
      </p:sp>
      <p:sp>
        <p:nvSpPr>
          <p:cNvPr id="62" name="Shape 60"/>
          <p:cNvSpPr/>
          <p:nvPr/>
        </p:nvSpPr>
        <p:spPr>
          <a:xfrm>
            <a:off x="11292840" y="1325880"/>
            <a:ext cx="64008" cy="64008"/>
          </a:xfrm>
          <a:prstGeom prst="rect">
            <a:avLst/>
          </a:prstGeom>
          <a:solidFill>
            <a:srgbClr val="FAFAF8">
              <a:alpha val="6000"/>
            </a:srgbClr>
          </a:solidFill>
          <a:ln/>
        </p:spPr>
      </p:sp>
      <p:sp>
        <p:nvSpPr>
          <p:cNvPr id="63" name="Shape 61"/>
          <p:cNvSpPr/>
          <p:nvPr/>
        </p:nvSpPr>
        <p:spPr>
          <a:xfrm>
            <a:off x="11430000" y="1325880"/>
            <a:ext cx="64008" cy="64008"/>
          </a:xfrm>
          <a:prstGeom prst="rect">
            <a:avLst/>
          </a:prstGeom>
          <a:solidFill>
            <a:srgbClr val="FAFAF8">
              <a:alpha val="23000"/>
            </a:srgbClr>
          </a:solidFill>
          <a:ln/>
        </p:spPr>
      </p:sp>
      <p:sp>
        <p:nvSpPr>
          <p:cNvPr id="64" name="Shape 62"/>
          <p:cNvSpPr/>
          <p:nvPr/>
        </p:nvSpPr>
        <p:spPr>
          <a:xfrm>
            <a:off x="9646920" y="1463040"/>
            <a:ext cx="64008" cy="64008"/>
          </a:xfrm>
          <a:prstGeom prst="rect">
            <a:avLst/>
          </a:prstGeom>
          <a:solidFill>
            <a:srgbClr val="FAFAF8">
              <a:alpha val="33000"/>
            </a:srgbClr>
          </a:solidFill>
          <a:ln/>
        </p:spPr>
      </p:sp>
      <p:sp>
        <p:nvSpPr>
          <p:cNvPr id="65" name="Shape 63"/>
          <p:cNvSpPr/>
          <p:nvPr/>
        </p:nvSpPr>
        <p:spPr>
          <a:xfrm>
            <a:off x="9784080" y="1463040"/>
            <a:ext cx="64008" cy="64008"/>
          </a:xfrm>
          <a:prstGeom prst="rect">
            <a:avLst/>
          </a:prstGeom>
          <a:solidFill>
            <a:srgbClr val="FAFAF8">
              <a:alpha val="21000"/>
            </a:srgbClr>
          </a:solidFill>
          <a:ln/>
        </p:spPr>
      </p:sp>
      <p:sp>
        <p:nvSpPr>
          <p:cNvPr id="66" name="Shape 64"/>
          <p:cNvSpPr/>
          <p:nvPr/>
        </p:nvSpPr>
        <p:spPr>
          <a:xfrm>
            <a:off x="9921240" y="1463040"/>
            <a:ext cx="64008" cy="64008"/>
          </a:xfrm>
          <a:prstGeom prst="rect">
            <a:avLst/>
          </a:prstGeom>
          <a:solidFill>
            <a:srgbClr val="FAFAF8">
              <a:alpha val="63000"/>
            </a:srgbClr>
          </a:solidFill>
          <a:ln/>
        </p:spPr>
      </p:sp>
      <p:sp>
        <p:nvSpPr>
          <p:cNvPr id="67" name="Shape 65"/>
          <p:cNvSpPr/>
          <p:nvPr/>
        </p:nvSpPr>
        <p:spPr>
          <a:xfrm>
            <a:off x="10058400" y="1463040"/>
            <a:ext cx="64008" cy="64008"/>
          </a:xfrm>
          <a:prstGeom prst="rect">
            <a:avLst/>
          </a:prstGeom>
          <a:solidFill>
            <a:srgbClr val="FAFAF8">
              <a:alpha val="62000"/>
            </a:srgbClr>
          </a:solidFill>
          <a:ln/>
        </p:spPr>
      </p:sp>
      <p:sp>
        <p:nvSpPr>
          <p:cNvPr id="68" name="Shape 66"/>
          <p:cNvSpPr/>
          <p:nvPr/>
        </p:nvSpPr>
        <p:spPr>
          <a:xfrm>
            <a:off x="10195560" y="1463040"/>
            <a:ext cx="64008" cy="64008"/>
          </a:xfrm>
          <a:prstGeom prst="rect">
            <a:avLst/>
          </a:prstGeom>
          <a:solidFill>
            <a:srgbClr val="FAFAF8">
              <a:alpha val="15000"/>
            </a:srgbClr>
          </a:solidFill>
          <a:ln/>
        </p:spPr>
      </p:sp>
      <p:sp>
        <p:nvSpPr>
          <p:cNvPr id="69" name="Shape 67"/>
          <p:cNvSpPr/>
          <p:nvPr/>
        </p:nvSpPr>
        <p:spPr>
          <a:xfrm>
            <a:off x="10332720" y="1463040"/>
            <a:ext cx="64008" cy="64008"/>
          </a:xfrm>
          <a:prstGeom prst="rect">
            <a:avLst/>
          </a:prstGeom>
          <a:solidFill>
            <a:srgbClr val="FAFAF8">
              <a:alpha val="43000"/>
            </a:srgbClr>
          </a:solidFill>
          <a:ln/>
        </p:spPr>
      </p:sp>
      <p:sp>
        <p:nvSpPr>
          <p:cNvPr id="70" name="Shape 68"/>
          <p:cNvSpPr/>
          <p:nvPr/>
        </p:nvSpPr>
        <p:spPr>
          <a:xfrm>
            <a:off x="10469880" y="1463040"/>
            <a:ext cx="64008" cy="64008"/>
          </a:xfrm>
          <a:prstGeom prst="rect">
            <a:avLst/>
          </a:prstGeom>
          <a:solidFill>
            <a:srgbClr val="FAFAF8">
              <a:alpha val="52000"/>
            </a:srgbClr>
          </a:solidFill>
          <a:ln/>
        </p:spPr>
      </p:sp>
      <p:sp>
        <p:nvSpPr>
          <p:cNvPr id="71" name="Shape 69"/>
          <p:cNvSpPr/>
          <p:nvPr/>
        </p:nvSpPr>
        <p:spPr>
          <a:xfrm>
            <a:off x="10607040" y="1463040"/>
            <a:ext cx="64008" cy="64008"/>
          </a:xfrm>
          <a:prstGeom prst="rect">
            <a:avLst/>
          </a:prstGeom>
          <a:solidFill>
            <a:srgbClr val="FAFAF8">
              <a:alpha val="25000"/>
            </a:srgbClr>
          </a:solidFill>
          <a:ln/>
        </p:spPr>
      </p:sp>
      <p:sp>
        <p:nvSpPr>
          <p:cNvPr id="72" name="Shape 70"/>
          <p:cNvSpPr/>
          <p:nvPr/>
        </p:nvSpPr>
        <p:spPr>
          <a:xfrm>
            <a:off x="10744200" y="1463040"/>
            <a:ext cx="64008" cy="64008"/>
          </a:xfrm>
          <a:prstGeom prst="rect">
            <a:avLst/>
          </a:prstGeom>
          <a:solidFill>
            <a:srgbClr val="FAFAF8">
              <a:alpha val="11000"/>
            </a:srgbClr>
          </a:solidFill>
          <a:ln/>
        </p:spPr>
      </p:sp>
      <p:sp>
        <p:nvSpPr>
          <p:cNvPr id="73" name="Shape 71"/>
          <p:cNvSpPr/>
          <p:nvPr/>
        </p:nvSpPr>
        <p:spPr>
          <a:xfrm>
            <a:off x="10881360" y="1463040"/>
            <a:ext cx="64008" cy="64008"/>
          </a:xfrm>
          <a:prstGeom prst="rect">
            <a:avLst/>
          </a:prstGeom>
          <a:solidFill>
            <a:srgbClr val="FAFAF8">
              <a:alpha val="9000"/>
            </a:srgbClr>
          </a:solidFill>
          <a:ln/>
        </p:spPr>
      </p:sp>
      <p:sp>
        <p:nvSpPr>
          <p:cNvPr id="74" name="Shape 72"/>
          <p:cNvSpPr/>
          <p:nvPr/>
        </p:nvSpPr>
        <p:spPr>
          <a:xfrm>
            <a:off x="11018520" y="1463040"/>
            <a:ext cx="64008" cy="64008"/>
          </a:xfrm>
          <a:prstGeom prst="rect">
            <a:avLst/>
          </a:prstGeom>
          <a:solidFill>
            <a:srgbClr val="FAFAF8">
              <a:alpha val="15000"/>
            </a:srgbClr>
          </a:solidFill>
          <a:ln/>
        </p:spPr>
      </p:sp>
      <p:sp>
        <p:nvSpPr>
          <p:cNvPr id="75" name="Shape 73"/>
          <p:cNvSpPr/>
          <p:nvPr/>
        </p:nvSpPr>
        <p:spPr>
          <a:xfrm>
            <a:off x="11155680" y="1463040"/>
            <a:ext cx="64008" cy="64008"/>
          </a:xfrm>
          <a:prstGeom prst="rect">
            <a:avLst/>
          </a:prstGeom>
          <a:solidFill>
            <a:srgbClr val="FAFAF8">
              <a:alpha val="9000"/>
            </a:srgbClr>
          </a:solidFill>
          <a:ln/>
        </p:spPr>
      </p:sp>
      <p:sp>
        <p:nvSpPr>
          <p:cNvPr id="76" name="Shape 74"/>
          <p:cNvSpPr/>
          <p:nvPr/>
        </p:nvSpPr>
        <p:spPr>
          <a:xfrm>
            <a:off x="11292840" y="1463040"/>
            <a:ext cx="64008" cy="64008"/>
          </a:xfrm>
          <a:prstGeom prst="rect">
            <a:avLst/>
          </a:prstGeom>
          <a:solidFill>
            <a:srgbClr val="FAFAF8">
              <a:alpha val="33000"/>
            </a:srgbClr>
          </a:solidFill>
          <a:ln/>
        </p:spPr>
      </p:sp>
      <p:sp>
        <p:nvSpPr>
          <p:cNvPr id="77" name="Shape 75"/>
          <p:cNvSpPr/>
          <p:nvPr/>
        </p:nvSpPr>
        <p:spPr>
          <a:xfrm>
            <a:off x="11430000" y="1463040"/>
            <a:ext cx="64008" cy="64008"/>
          </a:xfrm>
          <a:prstGeom prst="rect">
            <a:avLst/>
          </a:prstGeom>
          <a:solidFill>
            <a:srgbClr val="FAFAF8">
              <a:alpha val="57000"/>
            </a:srgbClr>
          </a:solidFill>
          <a:ln/>
        </p:spPr>
      </p:sp>
      <p:sp>
        <p:nvSpPr>
          <p:cNvPr id="78" name="Shape 76"/>
          <p:cNvSpPr/>
          <p:nvPr/>
        </p:nvSpPr>
        <p:spPr>
          <a:xfrm>
            <a:off x="9646920" y="1600200"/>
            <a:ext cx="64008" cy="64008"/>
          </a:xfrm>
          <a:prstGeom prst="rect">
            <a:avLst/>
          </a:prstGeom>
          <a:solidFill>
            <a:srgbClr val="FAFAF8">
              <a:alpha val="6000"/>
            </a:srgbClr>
          </a:solidFill>
          <a:ln/>
        </p:spPr>
      </p:sp>
      <p:sp>
        <p:nvSpPr>
          <p:cNvPr id="79" name="Shape 77"/>
          <p:cNvSpPr/>
          <p:nvPr/>
        </p:nvSpPr>
        <p:spPr>
          <a:xfrm>
            <a:off x="9784080" y="1600200"/>
            <a:ext cx="64008" cy="64008"/>
          </a:xfrm>
          <a:prstGeom prst="rect">
            <a:avLst/>
          </a:prstGeom>
          <a:solidFill>
            <a:srgbClr val="FAFAF8">
              <a:alpha val="56000"/>
            </a:srgbClr>
          </a:solidFill>
          <a:ln/>
        </p:spPr>
      </p:sp>
      <p:sp>
        <p:nvSpPr>
          <p:cNvPr id="80" name="Shape 78"/>
          <p:cNvSpPr/>
          <p:nvPr/>
        </p:nvSpPr>
        <p:spPr>
          <a:xfrm>
            <a:off x="9921240" y="1600200"/>
            <a:ext cx="64008" cy="64008"/>
          </a:xfrm>
          <a:prstGeom prst="rect">
            <a:avLst/>
          </a:prstGeom>
          <a:solidFill>
            <a:srgbClr val="FAFAF8">
              <a:alpha val="64000"/>
            </a:srgbClr>
          </a:solidFill>
          <a:ln/>
        </p:spPr>
      </p:sp>
      <p:sp>
        <p:nvSpPr>
          <p:cNvPr id="81" name="Shape 79"/>
          <p:cNvSpPr/>
          <p:nvPr/>
        </p:nvSpPr>
        <p:spPr>
          <a:xfrm>
            <a:off x="10058400" y="1600200"/>
            <a:ext cx="64008" cy="64008"/>
          </a:xfrm>
          <a:prstGeom prst="rect">
            <a:avLst/>
          </a:prstGeom>
          <a:solidFill>
            <a:srgbClr val="FAFAF8">
              <a:alpha val="27000"/>
            </a:srgbClr>
          </a:solidFill>
          <a:ln/>
        </p:spPr>
      </p:sp>
      <p:sp>
        <p:nvSpPr>
          <p:cNvPr id="82" name="Shape 80"/>
          <p:cNvSpPr/>
          <p:nvPr/>
        </p:nvSpPr>
        <p:spPr>
          <a:xfrm>
            <a:off x="10195560" y="1600200"/>
            <a:ext cx="64008" cy="64008"/>
          </a:xfrm>
          <a:prstGeom prst="rect">
            <a:avLst/>
          </a:prstGeom>
          <a:solidFill>
            <a:srgbClr val="FAFAF8">
              <a:alpha val="24000"/>
            </a:srgbClr>
          </a:solidFill>
          <a:ln/>
        </p:spPr>
      </p:sp>
      <p:sp>
        <p:nvSpPr>
          <p:cNvPr id="83" name="Shape 81"/>
          <p:cNvSpPr/>
          <p:nvPr/>
        </p:nvSpPr>
        <p:spPr>
          <a:xfrm>
            <a:off x="10332720" y="1600200"/>
            <a:ext cx="64008" cy="64008"/>
          </a:xfrm>
          <a:prstGeom prst="rect">
            <a:avLst/>
          </a:prstGeom>
          <a:solidFill>
            <a:srgbClr val="FAFAF8">
              <a:alpha val="33000"/>
            </a:srgbClr>
          </a:solidFill>
          <a:ln/>
        </p:spPr>
      </p:sp>
      <p:sp>
        <p:nvSpPr>
          <p:cNvPr id="84" name="Shape 82"/>
          <p:cNvSpPr/>
          <p:nvPr/>
        </p:nvSpPr>
        <p:spPr>
          <a:xfrm>
            <a:off x="10469880" y="1600200"/>
            <a:ext cx="64008" cy="64008"/>
          </a:xfrm>
          <a:prstGeom prst="rect">
            <a:avLst/>
          </a:prstGeom>
          <a:solidFill>
            <a:srgbClr val="FAFAF8">
              <a:alpha val="16000"/>
            </a:srgbClr>
          </a:solidFill>
          <a:ln/>
        </p:spPr>
      </p:sp>
      <p:sp>
        <p:nvSpPr>
          <p:cNvPr id="85" name="Shape 83"/>
          <p:cNvSpPr/>
          <p:nvPr/>
        </p:nvSpPr>
        <p:spPr>
          <a:xfrm>
            <a:off x="10607040" y="1600200"/>
            <a:ext cx="64008" cy="64008"/>
          </a:xfrm>
          <a:prstGeom prst="rect">
            <a:avLst/>
          </a:prstGeom>
          <a:solidFill>
            <a:srgbClr val="FAFAF8">
              <a:alpha val="5000"/>
            </a:srgbClr>
          </a:solidFill>
          <a:ln/>
        </p:spPr>
      </p:sp>
      <p:sp>
        <p:nvSpPr>
          <p:cNvPr id="86" name="Shape 84"/>
          <p:cNvSpPr/>
          <p:nvPr/>
        </p:nvSpPr>
        <p:spPr>
          <a:xfrm>
            <a:off x="10744200" y="1600200"/>
            <a:ext cx="64008" cy="64008"/>
          </a:xfrm>
          <a:prstGeom prst="rect">
            <a:avLst/>
          </a:prstGeom>
          <a:solidFill>
            <a:srgbClr val="FAFAF8">
              <a:alpha val="20000"/>
            </a:srgbClr>
          </a:solidFill>
          <a:ln/>
        </p:spPr>
      </p:sp>
      <p:sp>
        <p:nvSpPr>
          <p:cNvPr id="87" name="Shape 85"/>
          <p:cNvSpPr/>
          <p:nvPr/>
        </p:nvSpPr>
        <p:spPr>
          <a:xfrm>
            <a:off x="10881360" y="1600200"/>
            <a:ext cx="64008" cy="64008"/>
          </a:xfrm>
          <a:prstGeom prst="rect">
            <a:avLst/>
          </a:prstGeom>
          <a:solidFill>
            <a:srgbClr val="FAFAF8">
              <a:alpha val="37000"/>
            </a:srgbClr>
          </a:solidFill>
          <a:ln/>
        </p:spPr>
      </p:sp>
      <p:sp>
        <p:nvSpPr>
          <p:cNvPr id="88" name="Shape 86"/>
          <p:cNvSpPr/>
          <p:nvPr/>
        </p:nvSpPr>
        <p:spPr>
          <a:xfrm>
            <a:off x="11018520" y="1600200"/>
            <a:ext cx="64008" cy="64008"/>
          </a:xfrm>
          <a:prstGeom prst="rect">
            <a:avLst/>
          </a:prstGeom>
          <a:solidFill>
            <a:srgbClr val="FAFAF8">
              <a:alpha val="24000"/>
            </a:srgbClr>
          </a:solidFill>
          <a:ln/>
        </p:spPr>
      </p:sp>
      <p:sp>
        <p:nvSpPr>
          <p:cNvPr id="89" name="Shape 87"/>
          <p:cNvSpPr/>
          <p:nvPr/>
        </p:nvSpPr>
        <p:spPr>
          <a:xfrm>
            <a:off x="11155680" y="1600200"/>
            <a:ext cx="64008" cy="64008"/>
          </a:xfrm>
          <a:prstGeom prst="rect">
            <a:avLst/>
          </a:prstGeom>
          <a:solidFill>
            <a:srgbClr val="FAFAF8">
              <a:alpha val="31000"/>
            </a:srgbClr>
          </a:solidFill>
          <a:ln/>
        </p:spPr>
      </p:sp>
      <p:sp>
        <p:nvSpPr>
          <p:cNvPr id="90" name="Shape 88"/>
          <p:cNvSpPr/>
          <p:nvPr/>
        </p:nvSpPr>
        <p:spPr>
          <a:xfrm>
            <a:off x="11292840" y="1600200"/>
            <a:ext cx="64008" cy="64008"/>
          </a:xfrm>
          <a:prstGeom prst="rect">
            <a:avLst/>
          </a:prstGeom>
          <a:solidFill>
            <a:srgbClr val="FAFAF8">
              <a:alpha val="66000"/>
            </a:srgbClr>
          </a:solidFill>
          <a:ln/>
        </p:spPr>
      </p:sp>
      <p:sp>
        <p:nvSpPr>
          <p:cNvPr id="91" name="Shape 89"/>
          <p:cNvSpPr/>
          <p:nvPr/>
        </p:nvSpPr>
        <p:spPr>
          <a:xfrm>
            <a:off x="11430000" y="1600200"/>
            <a:ext cx="64008" cy="64008"/>
          </a:xfrm>
          <a:prstGeom prst="rect">
            <a:avLst/>
          </a:prstGeom>
          <a:solidFill>
            <a:srgbClr val="FAFAF8">
              <a:alpha val="54000"/>
            </a:srgbClr>
          </a:solidFill>
          <a:ln/>
        </p:spPr>
      </p:sp>
      <p:sp>
        <p:nvSpPr>
          <p:cNvPr id="92" name="Shape 90"/>
          <p:cNvSpPr/>
          <p:nvPr/>
        </p:nvSpPr>
        <p:spPr>
          <a:xfrm>
            <a:off x="9646920" y="1737360"/>
            <a:ext cx="64008" cy="64008"/>
          </a:xfrm>
          <a:prstGeom prst="rect">
            <a:avLst/>
          </a:prstGeom>
          <a:solidFill>
            <a:srgbClr val="FAFAF8">
              <a:alpha val="40000"/>
            </a:srgbClr>
          </a:solidFill>
          <a:ln/>
        </p:spPr>
      </p:sp>
      <p:sp>
        <p:nvSpPr>
          <p:cNvPr id="93" name="Shape 91"/>
          <p:cNvSpPr/>
          <p:nvPr/>
        </p:nvSpPr>
        <p:spPr>
          <a:xfrm>
            <a:off x="9784080" y="1737360"/>
            <a:ext cx="64008" cy="64008"/>
          </a:xfrm>
          <a:prstGeom prst="rect">
            <a:avLst/>
          </a:prstGeom>
          <a:solidFill>
            <a:srgbClr val="FAFAF8">
              <a:alpha val="54000"/>
            </a:srgbClr>
          </a:solidFill>
          <a:ln/>
        </p:spPr>
      </p:sp>
      <p:sp>
        <p:nvSpPr>
          <p:cNvPr id="94" name="Shape 92"/>
          <p:cNvSpPr/>
          <p:nvPr/>
        </p:nvSpPr>
        <p:spPr>
          <a:xfrm>
            <a:off x="9921240" y="1737360"/>
            <a:ext cx="64008" cy="64008"/>
          </a:xfrm>
          <a:prstGeom prst="rect">
            <a:avLst/>
          </a:prstGeom>
          <a:solidFill>
            <a:srgbClr val="FAFAF8">
              <a:alpha val="29000"/>
            </a:srgbClr>
          </a:solidFill>
          <a:ln/>
        </p:spPr>
      </p:sp>
      <p:sp>
        <p:nvSpPr>
          <p:cNvPr id="95" name="Shape 93"/>
          <p:cNvSpPr/>
          <p:nvPr/>
        </p:nvSpPr>
        <p:spPr>
          <a:xfrm>
            <a:off x="10058400" y="1737360"/>
            <a:ext cx="64008" cy="64008"/>
          </a:xfrm>
          <a:prstGeom prst="rect">
            <a:avLst/>
          </a:prstGeom>
          <a:solidFill>
            <a:srgbClr val="FAFAF8">
              <a:alpha val="10000"/>
            </a:srgbClr>
          </a:solidFill>
          <a:ln/>
        </p:spPr>
      </p:sp>
      <p:sp>
        <p:nvSpPr>
          <p:cNvPr id="96" name="Shape 94"/>
          <p:cNvSpPr/>
          <p:nvPr/>
        </p:nvSpPr>
        <p:spPr>
          <a:xfrm>
            <a:off x="10195560" y="1737360"/>
            <a:ext cx="64008" cy="64008"/>
          </a:xfrm>
          <a:prstGeom prst="rect">
            <a:avLst/>
          </a:prstGeom>
          <a:solidFill>
            <a:srgbClr val="FAFAF8">
              <a:alpha val="11000"/>
            </a:srgbClr>
          </a:solidFill>
          <a:ln/>
        </p:spPr>
      </p:sp>
      <p:sp>
        <p:nvSpPr>
          <p:cNvPr id="97" name="Shape 95"/>
          <p:cNvSpPr/>
          <p:nvPr/>
        </p:nvSpPr>
        <p:spPr>
          <a:xfrm>
            <a:off x="10332720" y="1737360"/>
            <a:ext cx="64008" cy="64008"/>
          </a:xfrm>
          <a:prstGeom prst="rect">
            <a:avLst/>
          </a:prstGeom>
          <a:solidFill>
            <a:srgbClr val="FAFAF8">
              <a:alpha val="13000"/>
            </a:srgbClr>
          </a:solidFill>
          <a:ln/>
        </p:spPr>
      </p:sp>
      <p:sp>
        <p:nvSpPr>
          <p:cNvPr id="98" name="Shape 96"/>
          <p:cNvSpPr/>
          <p:nvPr/>
        </p:nvSpPr>
        <p:spPr>
          <a:xfrm>
            <a:off x="10469880" y="1737360"/>
            <a:ext cx="64008" cy="64008"/>
          </a:xfrm>
          <a:prstGeom prst="rect">
            <a:avLst/>
          </a:prstGeom>
          <a:solidFill>
            <a:srgbClr val="FAFAF8">
              <a:alpha val="11000"/>
            </a:srgbClr>
          </a:solidFill>
          <a:ln/>
        </p:spPr>
      </p:sp>
      <p:sp>
        <p:nvSpPr>
          <p:cNvPr id="99" name="Shape 97"/>
          <p:cNvSpPr/>
          <p:nvPr/>
        </p:nvSpPr>
        <p:spPr>
          <a:xfrm>
            <a:off x="10607040" y="1737360"/>
            <a:ext cx="64008" cy="64008"/>
          </a:xfrm>
          <a:prstGeom prst="rect">
            <a:avLst/>
          </a:prstGeom>
          <a:solidFill>
            <a:srgbClr val="FAFAF8">
              <a:alpha val="29000"/>
            </a:srgbClr>
          </a:solidFill>
          <a:ln/>
        </p:spPr>
      </p:sp>
      <p:sp>
        <p:nvSpPr>
          <p:cNvPr id="100" name="Shape 98"/>
          <p:cNvSpPr/>
          <p:nvPr/>
        </p:nvSpPr>
        <p:spPr>
          <a:xfrm>
            <a:off x="10744200" y="1737360"/>
            <a:ext cx="64008" cy="64008"/>
          </a:xfrm>
          <a:prstGeom prst="rect">
            <a:avLst/>
          </a:prstGeom>
          <a:solidFill>
            <a:srgbClr val="FAFAF8">
              <a:alpha val="55000"/>
            </a:srgbClr>
          </a:solidFill>
          <a:ln/>
        </p:spPr>
      </p:sp>
      <p:sp>
        <p:nvSpPr>
          <p:cNvPr id="101" name="Shape 99"/>
          <p:cNvSpPr/>
          <p:nvPr/>
        </p:nvSpPr>
        <p:spPr>
          <a:xfrm>
            <a:off x="10881360" y="1737360"/>
            <a:ext cx="64008" cy="64008"/>
          </a:xfrm>
          <a:prstGeom prst="rect">
            <a:avLst/>
          </a:prstGeom>
          <a:solidFill>
            <a:srgbClr val="FAFAF8">
              <a:alpha val="42000"/>
            </a:srgbClr>
          </a:solidFill>
          <a:ln/>
        </p:spPr>
      </p:sp>
      <p:sp>
        <p:nvSpPr>
          <p:cNvPr id="102" name="Shape 100"/>
          <p:cNvSpPr/>
          <p:nvPr/>
        </p:nvSpPr>
        <p:spPr>
          <a:xfrm>
            <a:off x="11018520" y="1737360"/>
            <a:ext cx="64008" cy="64008"/>
          </a:xfrm>
          <a:prstGeom prst="rect">
            <a:avLst/>
          </a:prstGeom>
          <a:solidFill>
            <a:srgbClr val="FAFAF8">
              <a:alpha val="19000"/>
            </a:srgbClr>
          </a:solidFill>
          <a:ln/>
        </p:spPr>
      </p:sp>
      <p:sp>
        <p:nvSpPr>
          <p:cNvPr id="103" name="Shape 101"/>
          <p:cNvSpPr/>
          <p:nvPr/>
        </p:nvSpPr>
        <p:spPr>
          <a:xfrm>
            <a:off x="11155680" y="1737360"/>
            <a:ext cx="64008" cy="64008"/>
          </a:xfrm>
          <a:prstGeom prst="rect">
            <a:avLst/>
          </a:prstGeom>
          <a:solidFill>
            <a:srgbClr val="FAFAF8">
              <a:alpha val="63000"/>
            </a:srgbClr>
          </a:solidFill>
          <a:ln/>
        </p:spPr>
      </p:sp>
      <p:sp>
        <p:nvSpPr>
          <p:cNvPr id="104" name="Shape 102"/>
          <p:cNvSpPr/>
          <p:nvPr/>
        </p:nvSpPr>
        <p:spPr>
          <a:xfrm>
            <a:off x="11292840" y="1737360"/>
            <a:ext cx="64008" cy="64008"/>
          </a:xfrm>
          <a:prstGeom prst="rect">
            <a:avLst/>
          </a:prstGeom>
          <a:solidFill>
            <a:srgbClr val="FAFAF8">
              <a:alpha val="61000"/>
            </a:srgbClr>
          </a:solidFill>
          <a:ln/>
        </p:spPr>
      </p:sp>
      <p:sp>
        <p:nvSpPr>
          <p:cNvPr id="105" name="Shape 103"/>
          <p:cNvSpPr/>
          <p:nvPr/>
        </p:nvSpPr>
        <p:spPr>
          <a:xfrm>
            <a:off x="11430000" y="1737360"/>
            <a:ext cx="64008" cy="64008"/>
          </a:xfrm>
          <a:prstGeom prst="rect">
            <a:avLst/>
          </a:prstGeom>
          <a:solidFill>
            <a:srgbClr val="FAFAF8">
              <a:alpha val="17000"/>
            </a:srgbClr>
          </a:solidFill>
          <a:ln/>
        </p:spPr>
      </p:sp>
      <p:sp>
        <p:nvSpPr>
          <p:cNvPr id="106" name="Text 104"/>
          <p:cNvSpPr txBox="1"/>
          <p:nvPr/>
        </p:nvSpPr>
        <p:spPr>
          <a:xfrm>
            <a:off x="548640" y="2240280"/>
            <a:ext cx="7315200" cy="228600"/>
          </a:xfrm>
          <a:prstGeom prst="rect">
            <a:avLst/>
          </a:prstGeom>
          <a:noFill/>
          <a:ln/>
        </p:spPr>
        <p:txBody>
          <a:bodyPr wrap="square" lIns="0" tIns="0" rIns="0" bIns="0" rtlCol="0" anchor="t"/>
          <a:lstStyle/>
          <a:p>
            <a:pPr indent="0" marL="0">
              <a:buNone/>
            </a:pPr>
            <a:r>
              <a:rPr lang="en-US" sz="1100" spc="200" kern="0" dirty="0">
                <a:solidFill>
                  <a:srgbClr val="FAFAF8"/>
                </a:solidFill>
                <a:latin typeface="Consolas" pitchFamily="34" charset="0"/>
                <a:ea typeface="Consolas" pitchFamily="34" charset="-122"/>
                <a:cs typeface="Consolas" pitchFamily="34" charset="-120"/>
              </a:rPr>
              <a:t>№01 · TCEX TECHNOLOGIES, CHENNAI</a:t>
            </a:r>
            <a:endParaRPr lang="en-US" sz="1100" dirty="0"/>
          </a:p>
        </p:txBody>
      </p:sp>
      <p:sp>
        <p:nvSpPr>
          <p:cNvPr id="107" name="Text 105"/>
          <p:cNvSpPr txBox="1"/>
          <p:nvPr/>
        </p:nvSpPr>
        <p:spPr>
          <a:xfrm>
            <a:off x="548640" y="2514600"/>
            <a:ext cx="10972800" cy="1645920"/>
          </a:xfrm>
          <a:prstGeom prst="rect">
            <a:avLst/>
          </a:prstGeom>
          <a:noFill/>
          <a:ln/>
        </p:spPr>
        <p:txBody>
          <a:bodyPr wrap="square" lIns="0" tIns="0" rIns="0" bIns="0" rtlCol="0" anchor="t"/>
          <a:lstStyle/>
          <a:p>
            <a:pPr indent="0" marL="0">
              <a:buNone/>
            </a:pPr>
            <a:r>
              <a:rPr lang="en-US" sz="12000" spc="-300" kern="0" dirty="0">
                <a:solidFill>
                  <a:srgbClr val="FAFAF8"/>
                </a:solidFill>
                <a:latin typeface="Inter Black" pitchFamily="34" charset="0"/>
                <a:ea typeface="Inter Black" pitchFamily="34" charset="-122"/>
                <a:cs typeface="Inter Black" pitchFamily="34" charset="-120"/>
              </a:rPr>
              <a:t>TraceCore.</a:t>
            </a:r>
            <a:endParaRPr lang="en-US" sz="12000" dirty="0"/>
          </a:p>
        </p:txBody>
      </p:sp>
      <p:sp>
        <p:nvSpPr>
          <p:cNvPr id="108" name="Text 106"/>
          <p:cNvSpPr txBox="1"/>
          <p:nvPr/>
        </p:nvSpPr>
        <p:spPr>
          <a:xfrm>
            <a:off x="548640" y="4251960"/>
            <a:ext cx="10058400" cy="548640"/>
          </a:xfrm>
          <a:prstGeom prst="rect">
            <a:avLst/>
          </a:prstGeom>
          <a:noFill/>
          <a:ln/>
        </p:spPr>
        <p:txBody>
          <a:bodyPr wrap="square" lIns="0" tIns="0" rIns="0" bIns="0" rtlCol="0" anchor="t"/>
          <a:lstStyle/>
          <a:p>
            <a:pPr indent="0" marL="0">
              <a:buNone/>
            </a:pPr>
            <a:r>
              <a:rPr lang="en-US" sz="2400" dirty="0">
                <a:solidFill>
                  <a:srgbClr val="FAFAF8"/>
                </a:solidFill>
                <a:latin typeface="Inter" pitchFamily="34" charset="0"/>
                <a:ea typeface="Inter" pitchFamily="34" charset="-122"/>
                <a:cs typeface="Inter" pitchFamily="34" charset="-120"/>
              </a:rPr>
              <a:t>Lab records that stay trustworthy in the quantum era.</a:t>
            </a:r>
            <a:endParaRPr lang="en-US" sz="2400" dirty="0"/>
          </a:p>
        </p:txBody>
      </p:sp>
      <p:sp>
        <p:nvSpPr>
          <p:cNvPr id="109" name="Text 107"/>
          <p:cNvSpPr txBox="1"/>
          <p:nvPr/>
        </p:nvSpPr>
        <p:spPr>
          <a:xfrm>
            <a:off x="548640" y="4983480"/>
            <a:ext cx="10058400" cy="365760"/>
          </a:xfrm>
          <a:prstGeom prst="rect">
            <a:avLst/>
          </a:prstGeom>
          <a:noFill/>
          <a:ln/>
        </p:spPr>
        <p:txBody>
          <a:bodyPr wrap="square" lIns="0" tIns="0" rIns="0" bIns="0" rtlCol="0" anchor="t"/>
          <a:lstStyle/>
          <a:p>
            <a:pPr indent="0" marL="0">
              <a:buNone/>
            </a:pPr>
            <a:r>
              <a:rPr lang="en-US" sz="1400" dirty="0">
                <a:solidFill>
                  <a:srgbClr val="FAFAF8"/>
                </a:solidFill>
                <a:latin typeface="Inter" pitchFamily="34" charset="0"/>
                <a:ea typeface="Inter" pitchFamily="34" charset="-122"/>
                <a:cs typeface="Inter" pitchFamily="34" charset="-120"/>
              </a:rPr>
              <a:t>Stakeholder meeting, 15 October 2026  ·  </a:t>
            </a:r>
            <a:pPr indent="0" marL="0">
              <a:buNone/>
            </a:pPr>
            <a:r>
              <a:rPr lang="en-US" sz="1400" dirty="0">
                <a:solidFill>
                  <a:srgbClr val="0A0A0A"/>
                </a:solidFill>
                <a:highlight>
                  <a:srgbClr val="FFE36E"/>
                </a:highlight>
                <a:latin typeface="Consolas" pitchFamily="34" charset="0"/>
                <a:ea typeface="Consolas" pitchFamily="34" charset="-122"/>
                <a:cs typeface="Consolas" pitchFamily="34" charset="-120"/>
              </a:rPr>
              <a:t>[Presenter name, role]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THE STAKE</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S02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№02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№02 · THE STAKE</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Every approved medicine and medical device</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rests on a lab record.</a:t>
            </a:r>
            <a:endParaRPr lang="en-US" sz="4000" dirty="0"/>
          </a:p>
        </p:txBody>
      </p:sp>
      <p:sp>
        <p:nvSpPr>
          <p:cNvPr id="10" name="Shape 8"/>
          <p:cNvSpPr/>
          <p:nvPr/>
        </p:nvSpPr>
        <p:spPr>
          <a:xfrm>
            <a:off x="548640" y="3246120"/>
            <a:ext cx="4526280" cy="0"/>
          </a:xfrm>
          <a:prstGeom prst="line">
            <a:avLst/>
          </a:prstGeom>
          <a:noFill/>
          <a:ln w="12700">
            <a:solidFill>
              <a:srgbClr val="0A0A0A"/>
            </a:solidFill>
            <a:prstDash val="solid"/>
          </a:ln>
        </p:spPr>
      </p:sp>
      <p:sp>
        <p:nvSpPr>
          <p:cNvPr id="11" name="Shape 9"/>
          <p:cNvSpPr/>
          <p:nvPr/>
        </p:nvSpPr>
        <p:spPr>
          <a:xfrm>
            <a:off x="5349240" y="3246120"/>
            <a:ext cx="6293815" cy="0"/>
          </a:xfrm>
          <a:prstGeom prst="line">
            <a:avLst/>
          </a:prstGeom>
          <a:noFill/>
          <a:ln w="12700">
            <a:solidFill>
              <a:srgbClr val="0A0A0A"/>
            </a:solidFill>
            <a:prstDash val="solid"/>
          </a:ln>
        </p:spPr>
      </p:sp>
      <p:sp>
        <p:nvSpPr>
          <p:cNvPr id="12" name="Shape 10"/>
          <p:cNvSpPr/>
          <p:nvPr/>
        </p:nvSpPr>
        <p:spPr>
          <a:xfrm>
            <a:off x="5074920" y="3044952"/>
            <a:ext cx="109728" cy="402336"/>
          </a:xfrm>
          <a:prstGeom prst="line">
            <a:avLst/>
          </a:prstGeom>
          <a:noFill/>
          <a:ln w="19050">
            <a:solidFill>
              <a:srgbClr val="002FA7"/>
            </a:solidFill>
            <a:prstDash val="solid"/>
          </a:ln>
        </p:spPr>
      </p:sp>
      <p:sp>
        <p:nvSpPr>
          <p:cNvPr id="13" name="Shape 11"/>
          <p:cNvSpPr/>
          <p:nvPr/>
        </p:nvSpPr>
        <p:spPr>
          <a:xfrm>
            <a:off x="5239512" y="3044952"/>
            <a:ext cx="109728" cy="402336"/>
          </a:xfrm>
          <a:prstGeom prst="line">
            <a:avLst/>
          </a:prstGeom>
          <a:noFill/>
          <a:ln w="19050">
            <a:solidFill>
              <a:srgbClr val="002FA7"/>
            </a:solidFill>
            <a:prstDash val="solid"/>
          </a:ln>
        </p:spPr>
      </p:sp>
      <p:sp>
        <p:nvSpPr>
          <p:cNvPr id="14" name="Shape 12"/>
          <p:cNvSpPr/>
          <p:nvPr/>
        </p:nvSpPr>
        <p:spPr>
          <a:xfrm>
            <a:off x="548640" y="3172968"/>
            <a:ext cx="146304" cy="146304"/>
          </a:xfrm>
          <a:prstGeom prst="rect">
            <a:avLst/>
          </a:prstGeom>
          <a:solidFill>
            <a:srgbClr val="0A0A0A"/>
          </a:solidFill>
          <a:ln/>
        </p:spPr>
      </p:sp>
      <p:sp>
        <p:nvSpPr>
          <p:cNvPr id="15" name="Text 13"/>
          <p:cNvSpPr txBox="1"/>
          <p:nvPr/>
        </p:nvSpPr>
        <p:spPr>
          <a:xfrm>
            <a:off x="548640" y="3520440"/>
            <a:ext cx="914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01</a:t>
            </a:r>
            <a:endParaRPr lang="en-US" sz="1000" dirty="0"/>
          </a:p>
        </p:txBody>
      </p:sp>
      <p:sp>
        <p:nvSpPr>
          <p:cNvPr id="16" name="Text 14"/>
          <p:cNvSpPr txBox="1"/>
          <p:nvPr/>
        </p:nvSpPr>
        <p:spPr>
          <a:xfrm>
            <a:off x="548640" y="3794760"/>
            <a:ext cx="2651760" cy="411480"/>
          </a:xfrm>
          <a:prstGeom prst="rect">
            <a:avLst/>
          </a:prstGeom>
          <a:noFill/>
          <a:ln/>
        </p:spPr>
        <p:txBody>
          <a:bodyPr wrap="square" lIns="0" tIns="0" rIns="0" bIns="0" rtlCol="0" anchor="t"/>
          <a:lstStyle/>
          <a:p>
            <a:pPr indent="0" marL="0">
              <a:buNone/>
            </a:pPr>
            <a:r>
              <a:rPr lang="en-US" sz="2400" b="1" dirty="0">
                <a:solidFill>
                  <a:srgbClr val="0A0A0A"/>
                </a:solidFill>
                <a:latin typeface="Inter" pitchFamily="34" charset="0"/>
                <a:ea typeface="Inter" pitchFamily="34" charset="-122"/>
                <a:cs typeface="Inter" pitchFamily="34" charset="-120"/>
              </a:rPr>
              <a:t>Lab</a:t>
            </a:r>
            <a:endParaRPr lang="en-US" sz="2400" dirty="0"/>
          </a:p>
        </p:txBody>
      </p:sp>
      <p:sp>
        <p:nvSpPr>
          <p:cNvPr id="17" name="Text 15"/>
          <p:cNvSpPr txBox="1"/>
          <p:nvPr/>
        </p:nvSpPr>
        <p:spPr>
          <a:xfrm>
            <a:off x="548640" y="4206240"/>
            <a:ext cx="2651760" cy="36576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tests the product</a:t>
            </a:r>
            <a:endParaRPr lang="en-US" sz="1500" dirty="0"/>
          </a:p>
        </p:txBody>
      </p:sp>
      <p:sp>
        <p:nvSpPr>
          <p:cNvPr id="18" name="Shape 16"/>
          <p:cNvSpPr/>
          <p:nvPr/>
        </p:nvSpPr>
        <p:spPr>
          <a:xfrm>
            <a:off x="3474720" y="3172968"/>
            <a:ext cx="146304" cy="146304"/>
          </a:xfrm>
          <a:prstGeom prst="rect">
            <a:avLst/>
          </a:prstGeom>
          <a:solidFill>
            <a:srgbClr val="0A0A0A"/>
          </a:solidFill>
          <a:ln/>
        </p:spPr>
      </p:sp>
      <p:sp>
        <p:nvSpPr>
          <p:cNvPr id="19" name="Text 17"/>
          <p:cNvSpPr txBox="1"/>
          <p:nvPr/>
        </p:nvSpPr>
        <p:spPr>
          <a:xfrm>
            <a:off x="3474720" y="3520440"/>
            <a:ext cx="914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02</a:t>
            </a:r>
            <a:endParaRPr lang="en-US" sz="1000" dirty="0"/>
          </a:p>
        </p:txBody>
      </p:sp>
      <p:sp>
        <p:nvSpPr>
          <p:cNvPr id="20" name="Text 18"/>
          <p:cNvSpPr txBox="1"/>
          <p:nvPr/>
        </p:nvSpPr>
        <p:spPr>
          <a:xfrm>
            <a:off x="3474720" y="3794760"/>
            <a:ext cx="2651760" cy="411480"/>
          </a:xfrm>
          <a:prstGeom prst="rect">
            <a:avLst/>
          </a:prstGeom>
          <a:noFill/>
          <a:ln/>
        </p:spPr>
        <p:txBody>
          <a:bodyPr wrap="square" lIns="0" tIns="0" rIns="0" bIns="0" rtlCol="0" anchor="t"/>
          <a:lstStyle/>
          <a:p>
            <a:pPr indent="0" marL="0">
              <a:buNone/>
            </a:pPr>
            <a:r>
              <a:rPr lang="en-US" sz="2400" b="1" dirty="0">
                <a:solidFill>
                  <a:srgbClr val="0A0A0A"/>
                </a:solidFill>
                <a:latin typeface="Inter" pitchFamily="34" charset="0"/>
                <a:ea typeface="Inter" pitchFamily="34" charset="-122"/>
                <a:cs typeface="Inter" pitchFamily="34" charset="-120"/>
              </a:rPr>
              <a:t>Record</a:t>
            </a:r>
            <a:endParaRPr lang="en-US" sz="2400" dirty="0"/>
          </a:p>
        </p:txBody>
      </p:sp>
      <p:sp>
        <p:nvSpPr>
          <p:cNvPr id="21" name="Text 19"/>
          <p:cNvSpPr txBox="1"/>
          <p:nvPr/>
        </p:nvSpPr>
        <p:spPr>
          <a:xfrm>
            <a:off x="3474720" y="4206240"/>
            <a:ext cx="2651760" cy="36576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holds the result</a:t>
            </a:r>
            <a:endParaRPr lang="en-US" sz="1500" dirty="0"/>
          </a:p>
        </p:txBody>
      </p:sp>
      <p:sp>
        <p:nvSpPr>
          <p:cNvPr id="22" name="Shape 20"/>
          <p:cNvSpPr/>
          <p:nvPr/>
        </p:nvSpPr>
        <p:spPr>
          <a:xfrm>
            <a:off x="6400800" y="3172968"/>
            <a:ext cx="146304" cy="146304"/>
          </a:xfrm>
          <a:prstGeom prst="rect">
            <a:avLst/>
          </a:prstGeom>
          <a:solidFill>
            <a:srgbClr val="0A0A0A"/>
          </a:solidFill>
          <a:ln/>
        </p:spPr>
      </p:sp>
      <p:sp>
        <p:nvSpPr>
          <p:cNvPr id="23" name="Text 21"/>
          <p:cNvSpPr txBox="1"/>
          <p:nvPr/>
        </p:nvSpPr>
        <p:spPr>
          <a:xfrm>
            <a:off x="6400800" y="3520440"/>
            <a:ext cx="914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03</a:t>
            </a:r>
            <a:endParaRPr lang="en-US" sz="1000" dirty="0"/>
          </a:p>
        </p:txBody>
      </p:sp>
      <p:sp>
        <p:nvSpPr>
          <p:cNvPr id="24" name="Text 22"/>
          <p:cNvSpPr txBox="1"/>
          <p:nvPr/>
        </p:nvSpPr>
        <p:spPr>
          <a:xfrm>
            <a:off x="6400800" y="3794760"/>
            <a:ext cx="2651760" cy="411480"/>
          </a:xfrm>
          <a:prstGeom prst="rect">
            <a:avLst/>
          </a:prstGeom>
          <a:noFill/>
          <a:ln/>
        </p:spPr>
        <p:txBody>
          <a:bodyPr wrap="square" lIns="0" tIns="0" rIns="0" bIns="0" rtlCol="0" anchor="t"/>
          <a:lstStyle/>
          <a:p>
            <a:pPr indent="0" marL="0">
              <a:buNone/>
            </a:pPr>
            <a:r>
              <a:rPr lang="en-US" sz="2400" b="1" dirty="0">
                <a:solidFill>
                  <a:srgbClr val="0A0A0A"/>
                </a:solidFill>
                <a:latin typeface="Inter" pitchFamily="34" charset="0"/>
                <a:ea typeface="Inter" pitchFamily="34" charset="-122"/>
                <a:cs typeface="Inter" pitchFamily="34" charset="-120"/>
              </a:rPr>
              <a:t>Regulator</a:t>
            </a:r>
            <a:endParaRPr lang="en-US" sz="2400" dirty="0"/>
          </a:p>
        </p:txBody>
      </p:sp>
      <p:sp>
        <p:nvSpPr>
          <p:cNvPr id="25" name="Text 23"/>
          <p:cNvSpPr txBox="1"/>
          <p:nvPr/>
        </p:nvSpPr>
        <p:spPr>
          <a:xfrm>
            <a:off x="6400800" y="4206240"/>
            <a:ext cx="2651760" cy="36576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reads the record</a:t>
            </a:r>
            <a:endParaRPr lang="en-US" sz="1500" dirty="0"/>
          </a:p>
        </p:txBody>
      </p:sp>
      <p:sp>
        <p:nvSpPr>
          <p:cNvPr id="26" name="Shape 24"/>
          <p:cNvSpPr/>
          <p:nvPr/>
        </p:nvSpPr>
        <p:spPr>
          <a:xfrm>
            <a:off x="9326880" y="3172968"/>
            <a:ext cx="146304" cy="146304"/>
          </a:xfrm>
          <a:prstGeom prst="rect">
            <a:avLst/>
          </a:prstGeom>
          <a:solidFill>
            <a:srgbClr val="0A0A0A"/>
          </a:solidFill>
          <a:ln/>
        </p:spPr>
      </p:sp>
      <p:sp>
        <p:nvSpPr>
          <p:cNvPr id="27" name="Text 25"/>
          <p:cNvSpPr txBox="1"/>
          <p:nvPr/>
        </p:nvSpPr>
        <p:spPr>
          <a:xfrm>
            <a:off x="9326880" y="3520440"/>
            <a:ext cx="914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04</a:t>
            </a:r>
            <a:endParaRPr lang="en-US" sz="1000" dirty="0"/>
          </a:p>
        </p:txBody>
      </p:sp>
      <p:sp>
        <p:nvSpPr>
          <p:cNvPr id="28" name="Text 26"/>
          <p:cNvSpPr txBox="1"/>
          <p:nvPr/>
        </p:nvSpPr>
        <p:spPr>
          <a:xfrm>
            <a:off x="9326880" y="3794760"/>
            <a:ext cx="2651760" cy="411480"/>
          </a:xfrm>
          <a:prstGeom prst="rect">
            <a:avLst/>
          </a:prstGeom>
          <a:noFill/>
          <a:ln/>
        </p:spPr>
        <p:txBody>
          <a:bodyPr wrap="square" lIns="0" tIns="0" rIns="0" bIns="0" rtlCol="0" anchor="t"/>
          <a:lstStyle/>
          <a:p>
            <a:pPr indent="0" marL="0">
              <a:buNone/>
            </a:pPr>
            <a:r>
              <a:rPr lang="en-US" sz="2400" b="1" dirty="0">
                <a:solidFill>
                  <a:srgbClr val="0A0A0A"/>
                </a:solidFill>
                <a:latin typeface="Inter" pitchFamily="34" charset="0"/>
                <a:ea typeface="Inter" pitchFamily="34" charset="-122"/>
                <a:cs typeface="Inter" pitchFamily="34" charset="-120"/>
              </a:rPr>
              <a:t>Patient</a:t>
            </a:r>
            <a:endParaRPr lang="en-US" sz="2400" dirty="0"/>
          </a:p>
        </p:txBody>
      </p:sp>
      <p:sp>
        <p:nvSpPr>
          <p:cNvPr id="29" name="Text 27"/>
          <p:cNvSpPr txBox="1"/>
          <p:nvPr/>
        </p:nvSpPr>
        <p:spPr>
          <a:xfrm>
            <a:off x="9326880" y="4206240"/>
            <a:ext cx="2651760" cy="36576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trusts the result</a:t>
            </a:r>
            <a:endParaRPr lang="en-US" sz="1500" dirty="0"/>
          </a:p>
        </p:txBody>
      </p:sp>
      <p:sp>
        <p:nvSpPr>
          <p:cNvPr id="30" name="Text 28"/>
          <p:cNvSpPr txBox="1"/>
          <p:nvPr/>
        </p:nvSpPr>
        <p:spPr>
          <a:xfrm>
            <a:off x="4892040" y="2743200"/>
            <a:ext cx="731520" cy="228600"/>
          </a:xfrm>
          <a:prstGeom prst="rect">
            <a:avLst/>
          </a:prstGeom>
          <a:noFill/>
          <a:ln/>
        </p:spPr>
        <p:txBody>
          <a:bodyPr wrap="square" lIns="0" tIns="0" rIns="0" bIns="0" rtlCol="0" anchor="t"/>
          <a:lstStyle/>
          <a:p>
            <a:pPr algn="ctr" indent="0" marL="0">
              <a:buNone/>
            </a:pPr>
            <a:r>
              <a:rPr lang="en-US" sz="900" spc="200" kern="0" dirty="0">
                <a:solidFill>
                  <a:srgbClr val="002FA7"/>
                </a:solidFill>
                <a:latin typeface="Consolas" pitchFamily="34" charset="0"/>
                <a:ea typeface="Consolas" pitchFamily="34" charset="-122"/>
                <a:cs typeface="Consolas" pitchFamily="34" charset="-120"/>
              </a:rPr>
              <a:t>BREAK</a:t>
            </a:r>
            <a:endParaRPr lang="en-US" sz="900" dirty="0"/>
          </a:p>
        </p:txBody>
      </p:sp>
      <p:sp>
        <p:nvSpPr>
          <p:cNvPr id="31" name="Shape 29"/>
          <p:cNvSpPr/>
          <p:nvPr/>
        </p:nvSpPr>
        <p:spPr>
          <a:xfrm>
            <a:off x="0" y="5074920"/>
            <a:ext cx="12191695" cy="914400"/>
          </a:xfrm>
          <a:prstGeom prst="rect">
            <a:avLst/>
          </a:prstGeom>
          <a:solidFill>
            <a:srgbClr val="0A0A0A"/>
          </a:solidFill>
          <a:ln/>
        </p:spPr>
      </p:sp>
      <p:sp>
        <p:nvSpPr>
          <p:cNvPr id="32" name="Text 30"/>
          <p:cNvSpPr txBox="1"/>
          <p:nvPr/>
        </p:nvSpPr>
        <p:spPr>
          <a:xfrm>
            <a:off x="548640" y="5321808"/>
            <a:ext cx="10972800" cy="457200"/>
          </a:xfrm>
          <a:prstGeom prst="rect">
            <a:avLst/>
          </a:prstGeom>
          <a:noFill/>
          <a:ln/>
        </p:spPr>
        <p:txBody>
          <a:bodyPr wrap="square" lIns="0" tIns="0" rIns="0" bIns="0" rtlCol="0" anchor="t"/>
          <a:lstStyle/>
          <a:p>
            <a:pPr indent="0" marL="0">
              <a:buNone/>
            </a:pPr>
            <a:r>
              <a:rPr lang="en-US" sz="2400" b="1" dirty="0">
                <a:solidFill>
                  <a:srgbClr val="FAFAF8"/>
                </a:solidFill>
                <a:latin typeface="Inter" pitchFamily="34" charset="0"/>
                <a:ea typeface="Inter" pitchFamily="34" charset="-122"/>
                <a:cs typeface="Inter" pitchFamily="34" charset="-120"/>
              </a:rPr>
              <a:t>If that record is altered, or leaked, the whole chain breaks.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WHAT A LIMS IS</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S03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№03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№03 · WHAT A LIMS IS</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A LIMS is the lab's system of record.</a:t>
            </a:r>
            <a:endParaRPr lang="en-US" sz="4000" dirty="0"/>
          </a:p>
        </p:txBody>
      </p:sp>
      <p:sp>
        <p:nvSpPr>
          <p:cNvPr id="10" name="Shape 8"/>
          <p:cNvSpPr/>
          <p:nvPr/>
        </p:nvSpPr>
        <p:spPr>
          <a:xfrm>
            <a:off x="548640" y="2514600"/>
            <a:ext cx="11094415" cy="0"/>
          </a:xfrm>
          <a:prstGeom prst="line">
            <a:avLst/>
          </a:prstGeom>
          <a:noFill/>
          <a:ln w="12700">
            <a:solidFill>
              <a:srgbClr val="0A0A0A"/>
            </a:solidFill>
            <a:prstDash val="solid"/>
          </a:ln>
        </p:spPr>
      </p:sp>
      <p:sp>
        <p:nvSpPr>
          <p:cNvPr id="11" name="Shape 9"/>
          <p:cNvSpPr/>
          <p:nvPr/>
        </p:nvSpPr>
        <p:spPr>
          <a:xfrm>
            <a:off x="548640" y="2441448"/>
            <a:ext cx="146304" cy="146304"/>
          </a:xfrm>
          <a:prstGeom prst="rect">
            <a:avLst/>
          </a:prstGeom>
          <a:solidFill>
            <a:srgbClr val="0A0A0A"/>
          </a:solidFill>
          <a:ln/>
        </p:spPr>
      </p:sp>
      <p:sp>
        <p:nvSpPr>
          <p:cNvPr id="12" name="Text 10"/>
          <p:cNvSpPr txBox="1"/>
          <p:nvPr/>
        </p:nvSpPr>
        <p:spPr>
          <a:xfrm>
            <a:off x="548640" y="2788920"/>
            <a:ext cx="2036003"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Sample</a:t>
            </a:r>
            <a:endParaRPr lang="en-US" sz="2200" dirty="0"/>
          </a:p>
        </p:txBody>
      </p:sp>
      <p:sp>
        <p:nvSpPr>
          <p:cNvPr id="13" name="Text 11"/>
          <p:cNvSpPr txBox="1"/>
          <p:nvPr/>
        </p:nvSpPr>
        <p:spPr>
          <a:xfrm>
            <a:off x="548640" y="3246120"/>
            <a:ext cx="2036003" cy="457200"/>
          </a:xfrm>
          <a:prstGeom prst="rect">
            <a:avLst/>
          </a:prstGeom>
          <a:noFill/>
          <a:ln/>
        </p:spPr>
        <p:txBody>
          <a:bodyPr wrap="square" lIns="0" tIns="0" rIns="0" bIns="0" rtlCol="0" anchor="t"/>
          <a:lstStyle/>
          <a:p>
            <a:pPr indent="0" marL="0">
              <a:buNone/>
            </a:pPr>
            <a:r>
              <a:rPr lang="en-US" sz="1100" dirty="0">
                <a:solidFill>
                  <a:srgbClr val="6B6B6B"/>
                </a:solidFill>
                <a:latin typeface="Consolas" pitchFamily="34" charset="0"/>
                <a:ea typeface="Consolas" pitchFamily="34" charset="-122"/>
                <a:cs typeface="Consolas" pitchFamily="34" charset="-120"/>
              </a:rPr>
              <a:t>09:12 analyst A</a:t>
            </a:r>
            <a:endParaRPr lang="en-US" sz="1100" dirty="0"/>
          </a:p>
          <a:p>
            <a:pPr indent="0" marL="0">
              <a:buNone/>
            </a:pPr>
            <a:r>
              <a:rPr lang="en-US" sz="1100" dirty="0">
                <a:solidFill>
                  <a:srgbClr val="6B6B6B"/>
                </a:solidFill>
                <a:latin typeface="Consolas" pitchFamily="34" charset="0"/>
                <a:ea typeface="Consolas" pitchFamily="34" charset="-122"/>
                <a:cs typeface="Consolas" pitchFamily="34" charset="-120"/>
              </a:rPr>
              <a:t>registered</a:t>
            </a:r>
            <a:endParaRPr lang="en-US" sz="1100" dirty="0"/>
          </a:p>
        </p:txBody>
      </p:sp>
      <p:sp>
        <p:nvSpPr>
          <p:cNvPr id="14" name="Shape 12"/>
          <p:cNvSpPr/>
          <p:nvPr/>
        </p:nvSpPr>
        <p:spPr>
          <a:xfrm>
            <a:off x="2767523" y="2441448"/>
            <a:ext cx="146304" cy="146304"/>
          </a:xfrm>
          <a:prstGeom prst="rect">
            <a:avLst/>
          </a:prstGeom>
          <a:solidFill>
            <a:srgbClr val="0A0A0A"/>
          </a:solidFill>
          <a:ln/>
        </p:spPr>
      </p:sp>
      <p:sp>
        <p:nvSpPr>
          <p:cNvPr id="15" name="Text 13"/>
          <p:cNvSpPr txBox="1"/>
          <p:nvPr/>
        </p:nvSpPr>
        <p:spPr>
          <a:xfrm>
            <a:off x="2767523" y="2788920"/>
            <a:ext cx="2036003"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Test</a:t>
            </a:r>
            <a:endParaRPr lang="en-US" sz="2200" dirty="0"/>
          </a:p>
        </p:txBody>
      </p:sp>
      <p:sp>
        <p:nvSpPr>
          <p:cNvPr id="16" name="Text 14"/>
          <p:cNvSpPr txBox="1"/>
          <p:nvPr/>
        </p:nvSpPr>
        <p:spPr>
          <a:xfrm>
            <a:off x="2767523" y="3246120"/>
            <a:ext cx="2036003" cy="457200"/>
          </a:xfrm>
          <a:prstGeom prst="rect">
            <a:avLst/>
          </a:prstGeom>
          <a:noFill/>
          <a:ln/>
        </p:spPr>
        <p:txBody>
          <a:bodyPr wrap="square" lIns="0" tIns="0" rIns="0" bIns="0" rtlCol="0" anchor="t"/>
          <a:lstStyle/>
          <a:p>
            <a:pPr indent="0" marL="0">
              <a:buNone/>
            </a:pPr>
            <a:r>
              <a:rPr lang="en-US" sz="1100" dirty="0">
                <a:solidFill>
                  <a:srgbClr val="6B6B6B"/>
                </a:solidFill>
                <a:latin typeface="Consolas" pitchFamily="34" charset="0"/>
                <a:ea typeface="Consolas" pitchFamily="34" charset="-122"/>
                <a:cs typeface="Consolas" pitchFamily="34" charset="-120"/>
              </a:rPr>
              <a:t>10:42 analyst A</a:t>
            </a:r>
            <a:endParaRPr lang="en-US" sz="1100" dirty="0"/>
          </a:p>
          <a:p>
            <a:pPr indent="0" marL="0">
              <a:buNone/>
            </a:pPr>
            <a:r>
              <a:rPr lang="en-US" sz="1100" dirty="0">
                <a:solidFill>
                  <a:srgbClr val="6B6B6B"/>
                </a:solidFill>
                <a:latin typeface="Consolas" pitchFamily="34" charset="0"/>
                <a:ea typeface="Consolas" pitchFamily="34" charset="-122"/>
                <a:cs typeface="Consolas" pitchFamily="34" charset="-120"/>
              </a:rPr>
              <a:t>result entered</a:t>
            </a:r>
            <a:endParaRPr lang="en-US" sz="1100" dirty="0"/>
          </a:p>
        </p:txBody>
      </p:sp>
      <p:sp>
        <p:nvSpPr>
          <p:cNvPr id="17" name="Shape 15"/>
          <p:cNvSpPr/>
          <p:nvPr/>
        </p:nvSpPr>
        <p:spPr>
          <a:xfrm>
            <a:off x="4986406" y="2441448"/>
            <a:ext cx="146304" cy="146304"/>
          </a:xfrm>
          <a:prstGeom prst="rect">
            <a:avLst/>
          </a:prstGeom>
          <a:solidFill>
            <a:srgbClr val="0A0A0A"/>
          </a:solidFill>
          <a:ln/>
        </p:spPr>
      </p:sp>
      <p:sp>
        <p:nvSpPr>
          <p:cNvPr id="18" name="Text 16"/>
          <p:cNvSpPr txBox="1"/>
          <p:nvPr/>
        </p:nvSpPr>
        <p:spPr>
          <a:xfrm>
            <a:off x="4986406" y="2788920"/>
            <a:ext cx="2036003"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Review</a:t>
            </a:r>
            <a:endParaRPr lang="en-US" sz="2200" dirty="0"/>
          </a:p>
        </p:txBody>
      </p:sp>
      <p:sp>
        <p:nvSpPr>
          <p:cNvPr id="19" name="Text 17"/>
          <p:cNvSpPr txBox="1"/>
          <p:nvPr/>
        </p:nvSpPr>
        <p:spPr>
          <a:xfrm>
            <a:off x="4986406" y="3246120"/>
            <a:ext cx="2036003" cy="457200"/>
          </a:xfrm>
          <a:prstGeom prst="rect">
            <a:avLst/>
          </a:prstGeom>
          <a:noFill/>
          <a:ln/>
        </p:spPr>
        <p:txBody>
          <a:bodyPr wrap="square" lIns="0" tIns="0" rIns="0" bIns="0" rtlCol="0" anchor="t"/>
          <a:lstStyle/>
          <a:p>
            <a:pPr indent="0" marL="0">
              <a:buNone/>
            </a:pPr>
            <a:r>
              <a:rPr lang="en-US" sz="1100" dirty="0">
                <a:solidFill>
                  <a:srgbClr val="6B6B6B"/>
                </a:solidFill>
                <a:latin typeface="Consolas" pitchFamily="34" charset="0"/>
                <a:ea typeface="Consolas" pitchFamily="34" charset="-122"/>
                <a:cs typeface="Consolas" pitchFamily="34" charset="-120"/>
              </a:rPr>
              <a:t>14:05 QA lead</a:t>
            </a:r>
            <a:endParaRPr lang="en-US" sz="1100" dirty="0"/>
          </a:p>
          <a:p>
            <a:pPr indent="0" marL="0">
              <a:buNone/>
            </a:pPr>
            <a:r>
              <a:rPr lang="en-US" sz="1100" dirty="0">
                <a:solidFill>
                  <a:srgbClr val="6B6B6B"/>
                </a:solidFill>
                <a:latin typeface="Consolas" pitchFamily="34" charset="0"/>
                <a:ea typeface="Consolas" pitchFamily="34" charset="-122"/>
                <a:cs typeface="Consolas" pitchFamily="34" charset="-120"/>
              </a:rPr>
              <a:t>reviewed</a:t>
            </a:r>
            <a:endParaRPr lang="en-US" sz="1100" dirty="0"/>
          </a:p>
        </p:txBody>
      </p:sp>
      <p:sp>
        <p:nvSpPr>
          <p:cNvPr id="20" name="Shape 18"/>
          <p:cNvSpPr/>
          <p:nvPr/>
        </p:nvSpPr>
        <p:spPr>
          <a:xfrm>
            <a:off x="7205289" y="2441448"/>
            <a:ext cx="146304" cy="146304"/>
          </a:xfrm>
          <a:prstGeom prst="rect">
            <a:avLst/>
          </a:prstGeom>
          <a:solidFill>
            <a:srgbClr val="0A0A0A"/>
          </a:solidFill>
          <a:ln/>
        </p:spPr>
      </p:sp>
      <p:sp>
        <p:nvSpPr>
          <p:cNvPr id="21" name="Text 19"/>
          <p:cNvSpPr txBox="1"/>
          <p:nvPr/>
        </p:nvSpPr>
        <p:spPr>
          <a:xfrm>
            <a:off x="7205289" y="2788920"/>
            <a:ext cx="2036003"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Report</a:t>
            </a:r>
            <a:endParaRPr lang="en-US" sz="2200" dirty="0"/>
          </a:p>
        </p:txBody>
      </p:sp>
      <p:sp>
        <p:nvSpPr>
          <p:cNvPr id="22" name="Text 20"/>
          <p:cNvSpPr txBox="1"/>
          <p:nvPr/>
        </p:nvSpPr>
        <p:spPr>
          <a:xfrm>
            <a:off x="7205289" y="3246120"/>
            <a:ext cx="2036003" cy="457200"/>
          </a:xfrm>
          <a:prstGeom prst="rect">
            <a:avLst/>
          </a:prstGeom>
          <a:noFill/>
          <a:ln/>
        </p:spPr>
        <p:txBody>
          <a:bodyPr wrap="square" lIns="0" tIns="0" rIns="0" bIns="0" rtlCol="0" anchor="t"/>
          <a:lstStyle/>
          <a:p>
            <a:pPr indent="0" marL="0">
              <a:buNone/>
            </a:pPr>
            <a:r>
              <a:rPr lang="en-US" sz="1100" dirty="0">
                <a:solidFill>
                  <a:srgbClr val="6B6B6B"/>
                </a:solidFill>
                <a:latin typeface="Consolas" pitchFamily="34" charset="0"/>
                <a:ea typeface="Consolas" pitchFamily="34" charset="-122"/>
                <a:cs typeface="Consolas" pitchFamily="34" charset="-120"/>
              </a:rPr>
              <a:t>16:30 manager</a:t>
            </a:r>
            <a:endParaRPr lang="en-US" sz="1100" dirty="0"/>
          </a:p>
          <a:p>
            <a:pPr indent="0" marL="0">
              <a:buNone/>
            </a:pPr>
            <a:r>
              <a:rPr lang="en-US" sz="1100" dirty="0">
                <a:solidFill>
                  <a:srgbClr val="6B6B6B"/>
                </a:solidFill>
                <a:latin typeface="Consolas" pitchFamily="34" charset="0"/>
                <a:ea typeface="Consolas" pitchFamily="34" charset="-122"/>
                <a:cs typeface="Consolas" pitchFamily="34" charset="-120"/>
              </a:rPr>
              <a:t>released</a:t>
            </a:r>
            <a:endParaRPr lang="en-US" sz="1100" dirty="0"/>
          </a:p>
        </p:txBody>
      </p:sp>
      <p:sp>
        <p:nvSpPr>
          <p:cNvPr id="23" name="Shape 21"/>
          <p:cNvSpPr/>
          <p:nvPr/>
        </p:nvSpPr>
        <p:spPr>
          <a:xfrm>
            <a:off x="9424172" y="2441448"/>
            <a:ext cx="146304" cy="146304"/>
          </a:xfrm>
          <a:prstGeom prst="rect">
            <a:avLst/>
          </a:prstGeom>
          <a:solidFill>
            <a:srgbClr val="002FA7"/>
          </a:solidFill>
          <a:ln/>
        </p:spPr>
      </p:sp>
      <p:sp>
        <p:nvSpPr>
          <p:cNvPr id="24" name="Text 22"/>
          <p:cNvSpPr txBox="1"/>
          <p:nvPr/>
        </p:nvSpPr>
        <p:spPr>
          <a:xfrm>
            <a:off x="9424172" y="2788920"/>
            <a:ext cx="2036003" cy="411480"/>
          </a:xfrm>
          <a:prstGeom prst="rect">
            <a:avLst/>
          </a:prstGeom>
          <a:noFill/>
          <a:ln/>
        </p:spPr>
        <p:txBody>
          <a:bodyPr wrap="square" lIns="0" tIns="0" rIns="0" bIns="0" rtlCol="0" anchor="t"/>
          <a:lstStyle/>
          <a:p>
            <a:pPr indent="0" marL="0">
              <a:buNone/>
            </a:pPr>
            <a:r>
              <a:rPr lang="en-US" sz="2200" b="1" dirty="0">
                <a:solidFill>
                  <a:srgbClr val="002FA7"/>
                </a:solidFill>
                <a:latin typeface="Inter" pitchFamily="34" charset="0"/>
                <a:ea typeface="Inter" pitchFamily="34" charset="-122"/>
                <a:cs typeface="Inter" pitchFamily="34" charset="-120"/>
              </a:rPr>
              <a:t>Archive</a:t>
            </a:r>
            <a:endParaRPr lang="en-US" sz="2200" dirty="0"/>
          </a:p>
        </p:txBody>
      </p:sp>
      <p:sp>
        <p:nvSpPr>
          <p:cNvPr id="25" name="Text 23"/>
          <p:cNvSpPr txBox="1"/>
          <p:nvPr/>
        </p:nvSpPr>
        <p:spPr>
          <a:xfrm>
            <a:off x="9424172" y="3246120"/>
            <a:ext cx="2036003" cy="457200"/>
          </a:xfrm>
          <a:prstGeom prst="rect">
            <a:avLst/>
          </a:prstGeom>
          <a:noFill/>
          <a:ln/>
        </p:spPr>
        <p:txBody>
          <a:bodyPr wrap="square" lIns="0" tIns="0" rIns="0" bIns="0" rtlCol="0" anchor="t"/>
          <a:lstStyle/>
          <a:p>
            <a:pPr indent="0" marL="0">
              <a:buNone/>
            </a:pPr>
            <a:r>
              <a:rPr lang="en-US" sz="1100" dirty="0">
                <a:solidFill>
                  <a:srgbClr val="6B6B6B"/>
                </a:solidFill>
                <a:latin typeface="Consolas" pitchFamily="34" charset="0"/>
                <a:ea typeface="Consolas" pitchFamily="34" charset="-122"/>
                <a:cs typeface="Consolas" pitchFamily="34" charset="-120"/>
              </a:rPr>
              <a:t>16:31 system</a:t>
            </a:r>
            <a:endParaRPr lang="en-US" sz="1100" dirty="0"/>
          </a:p>
          <a:p>
            <a:pPr indent="0" marL="0">
              <a:buNone/>
            </a:pPr>
            <a:r>
              <a:rPr lang="en-US" sz="1100" dirty="0">
                <a:solidFill>
                  <a:srgbClr val="6B6B6B"/>
                </a:solidFill>
                <a:latin typeface="Consolas" pitchFamily="34" charset="0"/>
                <a:ea typeface="Consolas" pitchFamily="34" charset="-122"/>
                <a:cs typeface="Consolas" pitchFamily="34" charset="-120"/>
              </a:rPr>
              <a:t>locked</a:t>
            </a:r>
            <a:endParaRPr lang="en-US" sz="1100" dirty="0"/>
          </a:p>
        </p:txBody>
      </p:sp>
      <p:sp>
        <p:nvSpPr>
          <p:cNvPr id="26" name="Shape 24"/>
          <p:cNvSpPr/>
          <p:nvPr/>
        </p:nvSpPr>
        <p:spPr>
          <a:xfrm>
            <a:off x="548640" y="4160520"/>
            <a:ext cx="11094415" cy="0"/>
          </a:xfrm>
          <a:prstGeom prst="line">
            <a:avLst/>
          </a:prstGeom>
          <a:noFill/>
          <a:ln w="9525">
            <a:solidFill>
              <a:srgbClr val="C9C9C4"/>
            </a:solidFill>
            <a:prstDash val="solid"/>
          </a:ln>
        </p:spPr>
      </p:sp>
      <p:sp>
        <p:nvSpPr>
          <p:cNvPr id="27" name="Text 25"/>
          <p:cNvSpPr txBox="1"/>
          <p:nvPr/>
        </p:nvSpPr>
        <p:spPr>
          <a:xfrm>
            <a:off x="548640" y="4389120"/>
            <a:ext cx="36576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EVERY STEP LOGGED</a:t>
            </a:r>
            <a:endParaRPr lang="en-US" sz="1000" dirty="0"/>
          </a:p>
        </p:txBody>
      </p:sp>
      <p:sp>
        <p:nvSpPr>
          <p:cNvPr id="28" name="Text 26"/>
          <p:cNvSpPr txBox="1"/>
          <p:nvPr/>
        </p:nvSpPr>
        <p:spPr>
          <a:xfrm>
            <a:off x="548640" y="4663440"/>
            <a:ext cx="4480560" cy="1188720"/>
          </a:xfrm>
          <a:prstGeom prst="rect">
            <a:avLst/>
          </a:prstGeom>
          <a:noFill/>
          <a:ln/>
        </p:spPr>
        <p:txBody>
          <a:bodyPr wrap="square" lIns="0" tIns="0" rIns="0" bIns="0" rtlCol="0" anchor="t"/>
          <a:lstStyle/>
          <a:p>
            <a:pPr indent="0" marL="0">
              <a:buNone/>
            </a:pPr>
            <a:r>
              <a:rPr lang="en-US" sz="1600" dirty="0">
                <a:solidFill>
                  <a:srgbClr val="0A0A0A"/>
                </a:solidFill>
                <a:latin typeface="Inter" pitchFamily="34" charset="0"/>
                <a:ea typeface="Inter" pitchFamily="34" charset="-122"/>
                <a:cs typeface="Inter" pitchFamily="34" charset="-120"/>
              </a:rPr>
              <a:t>Who did it, what changed, when, and why. Used by pharma, medical device, CRO and food testing labs.</a:t>
            </a:r>
            <a:endParaRPr lang="en-US" sz="1600" dirty="0"/>
          </a:p>
        </p:txBody>
      </p:sp>
      <p:sp>
        <p:nvSpPr>
          <p:cNvPr id="29" name="Text 27"/>
          <p:cNvSpPr txBox="1"/>
          <p:nvPr/>
        </p:nvSpPr>
        <p:spPr>
          <a:xfrm>
            <a:off x="5577840" y="4389120"/>
            <a:ext cx="5486400" cy="228600"/>
          </a:xfrm>
          <a:prstGeom prst="rect">
            <a:avLst/>
          </a:prstGeom>
          <a:noFill/>
          <a:ln/>
        </p:spPr>
        <p:txBody>
          <a:bodyPr wrap="square" lIns="0" tIns="0" rIns="0" bIns="0" rtlCol="0" anchor="t"/>
          <a:lstStyle/>
          <a:p>
            <a:pPr indent="0" marL="0">
              <a:buNone/>
            </a:pPr>
            <a:r>
              <a:rPr lang="en-US" sz="1000" spc="200" kern="0" dirty="0">
                <a:solidFill>
                  <a:srgbClr val="002FA7"/>
                </a:solidFill>
                <a:latin typeface="Consolas" pitchFamily="34" charset="0"/>
                <a:ea typeface="Consolas" pitchFamily="34" charset="-122"/>
                <a:cs typeface="Consolas" pitchFamily="34" charset="-120"/>
              </a:rPr>
              <a:t>THE QUESTION EVERY AUDITOR ASKS</a:t>
            </a:r>
            <a:endParaRPr lang="en-US" sz="1000" dirty="0"/>
          </a:p>
        </p:txBody>
      </p:sp>
      <p:sp>
        <p:nvSpPr>
          <p:cNvPr id="30" name="Text 28"/>
          <p:cNvSpPr txBox="1"/>
          <p:nvPr/>
        </p:nvSpPr>
        <p:spPr>
          <a:xfrm>
            <a:off x="5577840" y="4663440"/>
            <a:ext cx="6035040" cy="1188720"/>
          </a:xfrm>
          <a:prstGeom prst="rect">
            <a:avLst/>
          </a:prstGeom>
          <a:noFill/>
          <a:ln/>
        </p:spPr>
        <p:txBody>
          <a:bodyPr wrap="square" lIns="0" tIns="0" rIns="0" bIns="0" rtlCol="0" anchor="t"/>
          <a:lstStyle/>
          <a:p>
            <a:pPr indent="0" marL="0">
              <a:buNone/>
            </a:pPr>
            <a:r>
              <a:rPr lang="en-US" sz="2800" b="1" spc="-30" kern="0" dirty="0">
                <a:solidFill>
                  <a:srgbClr val="0A0A0A"/>
                </a:solidFill>
                <a:latin typeface="Inter" pitchFamily="34" charset="0"/>
                <a:ea typeface="Inter" pitchFamily="34" charset="-122"/>
                <a:cs typeface="Inter" pitchFamily="34" charset="-120"/>
              </a:rPr>
              <a:t>“Can you prove this record was never altered?”</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THE PROBLEM TODAY</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S04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SOURCE — TCEX REVIEW OF PUBLISHED US FDA WARNING LETTERS, 1 OCT 2026</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№04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№04 · THE PROBLEM TODAY</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Paper and spreadsheets cannot prove</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a record is untouched.</a:t>
            </a:r>
            <a:endParaRPr lang="en-US" sz="4000" dirty="0"/>
          </a:p>
        </p:txBody>
      </p:sp>
      <p:sp>
        <p:nvSpPr>
          <p:cNvPr id="10" name="Shape 8"/>
          <p:cNvSpPr/>
          <p:nvPr/>
        </p:nvSpPr>
        <p:spPr>
          <a:xfrm>
            <a:off x="6099048" y="2606040"/>
            <a:ext cx="0" cy="3520440"/>
          </a:xfrm>
          <a:prstGeom prst="line">
            <a:avLst/>
          </a:prstGeom>
          <a:noFill/>
          <a:ln w="9525">
            <a:solidFill>
              <a:srgbClr val="0A0A0A"/>
            </a:solidFill>
            <a:prstDash val="solid"/>
          </a:ln>
        </p:spPr>
      </p:sp>
      <p:sp>
        <p:nvSpPr>
          <p:cNvPr id="11" name="Text 9"/>
          <p:cNvSpPr txBox="1"/>
          <p:nvPr/>
        </p:nvSpPr>
        <p:spPr>
          <a:xfrm>
            <a:off x="548640" y="2606040"/>
            <a:ext cx="45720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TODAY, IN MOST LABS</a:t>
            </a:r>
            <a:endParaRPr lang="en-US" sz="1000" dirty="0"/>
          </a:p>
        </p:txBody>
      </p:sp>
      <p:sp>
        <p:nvSpPr>
          <p:cNvPr id="12" name="Shape 10"/>
          <p:cNvSpPr/>
          <p:nvPr/>
        </p:nvSpPr>
        <p:spPr>
          <a:xfrm>
            <a:off x="548640" y="2971800"/>
            <a:ext cx="5212080" cy="0"/>
          </a:xfrm>
          <a:prstGeom prst="line">
            <a:avLst/>
          </a:prstGeom>
          <a:noFill/>
          <a:ln w="9525">
            <a:solidFill>
              <a:srgbClr val="C9C9C4"/>
            </a:solidFill>
            <a:prstDash val="solid"/>
          </a:ln>
        </p:spPr>
      </p:sp>
      <p:sp>
        <p:nvSpPr>
          <p:cNvPr id="13" name="Text 11"/>
          <p:cNvSpPr txBox="1"/>
          <p:nvPr/>
        </p:nvSpPr>
        <p:spPr>
          <a:xfrm>
            <a:off x="548640" y="3127248"/>
            <a:ext cx="54864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01</a:t>
            </a:r>
            <a:endParaRPr lang="en-US" sz="1000" dirty="0"/>
          </a:p>
        </p:txBody>
      </p:sp>
      <p:sp>
        <p:nvSpPr>
          <p:cNvPr id="14" name="Text 12"/>
          <p:cNvSpPr txBox="1"/>
          <p:nvPr/>
        </p:nvSpPr>
        <p:spPr>
          <a:xfrm>
            <a:off x="1143000" y="3081528"/>
            <a:ext cx="4572000" cy="54864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Records sit across paper registers, Excel files and email</a:t>
            </a:r>
            <a:endParaRPr lang="en-US" sz="1700" dirty="0"/>
          </a:p>
        </p:txBody>
      </p:sp>
      <p:sp>
        <p:nvSpPr>
          <p:cNvPr id="15" name="Shape 13"/>
          <p:cNvSpPr/>
          <p:nvPr/>
        </p:nvSpPr>
        <p:spPr>
          <a:xfrm>
            <a:off x="548640" y="3703320"/>
            <a:ext cx="5212080" cy="0"/>
          </a:xfrm>
          <a:prstGeom prst="line">
            <a:avLst/>
          </a:prstGeom>
          <a:noFill/>
          <a:ln w="9525">
            <a:solidFill>
              <a:srgbClr val="C9C9C4"/>
            </a:solidFill>
            <a:prstDash val="solid"/>
          </a:ln>
        </p:spPr>
      </p:sp>
      <p:sp>
        <p:nvSpPr>
          <p:cNvPr id="16" name="Text 14"/>
          <p:cNvSpPr txBox="1"/>
          <p:nvPr/>
        </p:nvSpPr>
        <p:spPr>
          <a:xfrm>
            <a:off x="548640" y="3858768"/>
            <a:ext cx="54864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02</a:t>
            </a:r>
            <a:endParaRPr lang="en-US" sz="1000" dirty="0"/>
          </a:p>
        </p:txBody>
      </p:sp>
      <p:sp>
        <p:nvSpPr>
          <p:cNvPr id="17" name="Text 15"/>
          <p:cNvSpPr txBox="1"/>
          <p:nvPr/>
        </p:nvSpPr>
        <p:spPr>
          <a:xfrm>
            <a:off x="1143000" y="3813048"/>
            <a:ext cx="4572000" cy="54864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Values are re-typed by hand from instruments</a:t>
            </a:r>
            <a:endParaRPr lang="en-US" sz="1700" dirty="0"/>
          </a:p>
        </p:txBody>
      </p:sp>
      <p:sp>
        <p:nvSpPr>
          <p:cNvPr id="18" name="Shape 16"/>
          <p:cNvSpPr/>
          <p:nvPr/>
        </p:nvSpPr>
        <p:spPr>
          <a:xfrm>
            <a:off x="548640" y="4434840"/>
            <a:ext cx="5212080" cy="0"/>
          </a:xfrm>
          <a:prstGeom prst="line">
            <a:avLst/>
          </a:prstGeom>
          <a:noFill/>
          <a:ln w="9525">
            <a:solidFill>
              <a:srgbClr val="C9C9C4"/>
            </a:solidFill>
            <a:prstDash val="solid"/>
          </a:ln>
        </p:spPr>
      </p:sp>
      <p:sp>
        <p:nvSpPr>
          <p:cNvPr id="19" name="Text 17"/>
          <p:cNvSpPr txBox="1"/>
          <p:nvPr/>
        </p:nvSpPr>
        <p:spPr>
          <a:xfrm>
            <a:off x="548640" y="4590288"/>
            <a:ext cx="54864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03</a:t>
            </a:r>
            <a:endParaRPr lang="en-US" sz="1000" dirty="0"/>
          </a:p>
        </p:txBody>
      </p:sp>
      <p:sp>
        <p:nvSpPr>
          <p:cNvPr id="20" name="Text 18"/>
          <p:cNvSpPr txBox="1"/>
          <p:nvPr/>
        </p:nvSpPr>
        <p:spPr>
          <a:xfrm>
            <a:off x="1143000" y="4544568"/>
            <a:ext cx="4572000" cy="54864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Edits leave no trace of who changed what</a:t>
            </a:r>
            <a:endParaRPr lang="en-US" sz="1700" dirty="0"/>
          </a:p>
        </p:txBody>
      </p:sp>
      <p:sp>
        <p:nvSpPr>
          <p:cNvPr id="21" name="Shape 19"/>
          <p:cNvSpPr/>
          <p:nvPr/>
        </p:nvSpPr>
        <p:spPr>
          <a:xfrm>
            <a:off x="548640" y="5166360"/>
            <a:ext cx="5212080" cy="0"/>
          </a:xfrm>
          <a:prstGeom prst="line">
            <a:avLst/>
          </a:prstGeom>
          <a:noFill/>
          <a:ln w="9525">
            <a:solidFill>
              <a:srgbClr val="C9C9C4"/>
            </a:solidFill>
            <a:prstDash val="solid"/>
          </a:ln>
        </p:spPr>
      </p:sp>
      <p:sp>
        <p:nvSpPr>
          <p:cNvPr id="22" name="Text 20"/>
          <p:cNvSpPr txBox="1"/>
          <p:nvPr/>
        </p:nvSpPr>
        <p:spPr>
          <a:xfrm>
            <a:off x="548640" y="5321808"/>
            <a:ext cx="54864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04</a:t>
            </a:r>
            <a:endParaRPr lang="en-US" sz="1000" dirty="0"/>
          </a:p>
        </p:txBody>
      </p:sp>
      <p:sp>
        <p:nvSpPr>
          <p:cNvPr id="23" name="Text 21"/>
          <p:cNvSpPr txBox="1"/>
          <p:nvPr/>
        </p:nvSpPr>
        <p:spPr>
          <a:xfrm>
            <a:off x="1143000" y="5276088"/>
            <a:ext cx="4572000" cy="54864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Audits take days of reconstruction</a:t>
            </a:r>
            <a:endParaRPr lang="en-US" sz="1700" dirty="0"/>
          </a:p>
        </p:txBody>
      </p:sp>
      <p:sp>
        <p:nvSpPr>
          <p:cNvPr id="24" name="Text 22"/>
          <p:cNvSpPr txBox="1"/>
          <p:nvPr/>
        </p:nvSpPr>
        <p:spPr>
          <a:xfrm>
            <a:off x="6492240" y="2606040"/>
            <a:ext cx="4572000" cy="228600"/>
          </a:xfrm>
          <a:prstGeom prst="rect">
            <a:avLst/>
          </a:prstGeom>
          <a:noFill/>
          <a:ln/>
        </p:spPr>
        <p:txBody>
          <a:bodyPr wrap="square" lIns="0" tIns="0" rIns="0" bIns="0" rtlCol="0" anchor="t"/>
          <a:lstStyle/>
          <a:p>
            <a:pPr indent="0" marL="0">
              <a:buNone/>
            </a:pPr>
            <a:r>
              <a:rPr lang="en-US" sz="1000" spc="200" kern="0" dirty="0">
                <a:solidFill>
                  <a:srgbClr val="002FA7"/>
                </a:solidFill>
                <a:latin typeface="Consolas" pitchFamily="34" charset="0"/>
                <a:ea typeface="Consolas" pitchFamily="34" charset="-122"/>
                <a:cs typeface="Consolas" pitchFamily="34" charset="-120"/>
              </a:rPr>
              <a:t>2026 · US FDA WARNING LETTERS</a:t>
            </a:r>
            <a:endParaRPr lang="en-US" sz="1000" dirty="0"/>
          </a:p>
        </p:txBody>
      </p:sp>
      <p:sp>
        <p:nvSpPr>
          <p:cNvPr id="25" name="Text 23"/>
          <p:cNvSpPr txBox="1"/>
          <p:nvPr/>
        </p:nvSpPr>
        <p:spPr>
          <a:xfrm>
            <a:off x="6446520" y="2788920"/>
            <a:ext cx="4572000" cy="1645920"/>
          </a:xfrm>
          <a:prstGeom prst="rect">
            <a:avLst/>
          </a:prstGeom>
          <a:noFill/>
          <a:ln/>
        </p:spPr>
        <p:txBody>
          <a:bodyPr wrap="square" lIns="0" tIns="0" rIns="0" bIns="0" rtlCol="0" anchor="t"/>
          <a:lstStyle/>
          <a:p>
            <a:pPr indent="0" marL="0">
              <a:buNone/>
            </a:pPr>
            <a:r>
              <a:rPr lang="en-US" sz="12000" spc="-400" kern="0" dirty="0">
                <a:solidFill>
                  <a:srgbClr val="002FA7"/>
                </a:solidFill>
                <a:latin typeface="Inter Black" pitchFamily="34" charset="0"/>
                <a:ea typeface="Inter Black" pitchFamily="34" charset="-122"/>
                <a:cs typeface="Inter Black" pitchFamily="34" charset="-120"/>
              </a:rPr>
              <a:t>22</a:t>
            </a:r>
            <a:endParaRPr lang="en-US" sz="12000" dirty="0"/>
          </a:p>
        </p:txBody>
      </p:sp>
      <p:sp>
        <p:nvSpPr>
          <p:cNvPr id="26" name="Text 24"/>
          <p:cNvSpPr txBox="1"/>
          <p:nvPr/>
        </p:nvSpPr>
        <p:spPr>
          <a:xfrm>
            <a:off x="6492240" y="4663440"/>
            <a:ext cx="5120640" cy="365760"/>
          </a:xfrm>
          <a:prstGeom prst="rect">
            <a:avLst/>
          </a:prstGeom>
          <a:noFill/>
          <a:ln/>
        </p:spPr>
        <p:txBody>
          <a:bodyPr wrap="square" lIns="0" tIns="0" rIns="0" bIns="0" rtlCol="0" anchor="t"/>
          <a:lstStyle/>
          <a:p>
            <a:pPr indent="0" marL="0">
              <a:buNone/>
            </a:pPr>
            <a:r>
              <a:rPr lang="en-US" sz="1800" b="1" dirty="0">
                <a:solidFill>
                  <a:srgbClr val="0A0A0A"/>
                </a:solidFill>
                <a:latin typeface="Inter" pitchFamily="34" charset="0"/>
                <a:ea typeface="Inter" pitchFamily="34" charset="-122"/>
                <a:cs typeface="Inter" pitchFamily="34" charset="-120"/>
              </a:rPr>
              <a:t>Indian sites received warning letters, at least.</a:t>
            </a:r>
            <a:endParaRPr lang="en-US" sz="1800" dirty="0"/>
          </a:p>
        </p:txBody>
      </p:sp>
      <p:sp>
        <p:nvSpPr>
          <p:cNvPr id="27" name="Text 25"/>
          <p:cNvSpPr txBox="1"/>
          <p:nvPr/>
        </p:nvSpPr>
        <p:spPr>
          <a:xfrm>
            <a:off x="6492240" y="5074920"/>
            <a:ext cx="4937760" cy="731520"/>
          </a:xfrm>
          <a:prstGeom prst="rect">
            <a:avLst/>
          </a:prstGeom>
          <a:noFill/>
          <a:ln/>
        </p:spPr>
        <p:txBody>
          <a:bodyPr wrap="square" lIns="0" tIns="0" rIns="0" bIns="0" rtlCol="0" anchor="t"/>
          <a:lstStyle/>
          <a:p>
            <a:pPr indent="0" marL="0">
              <a:buNone/>
            </a:pPr>
            <a:r>
              <a:rPr lang="en-US" sz="1600" dirty="0">
                <a:solidFill>
                  <a:srgbClr val="6B6B6B"/>
                </a:solidFill>
                <a:latin typeface="Inter" pitchFamily="34" charset="0"/>
                <a:ea typeface="Inter" pitchFamily="34" charset="-122"/>
                <a:cs typeface="Inter" pitchFamily="34" charset="-120"/>
              </a:rPr>
              <a:t>About half cited data integrity or incomplete lab records.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HARVEST NOW, DECRYPT LATER</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S05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№05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№05 · HARVEST NOW, DECRYPT LATER</a:t>
            </a:r>
            <a:endParaRPr lang="en-US" sz="1100" dirty="0"/>
          </a:p>
        </p:txBody>
      </p:sp>
      <p:sp>
        <p:nvSpPr>
          <p:cNvPr id="9" name="Text 7"/>
          <p:cNvSpPr txBox="1"/>
          <p:nvPr/>
        </p:nvSpPr>
        <p:spPr>
          <a:xfrm>
            <a:off x="548640" y="1280160"/>
            <a:ext cx="10972800" cy="2011680"/>
          </a:xfrm>
          <a:prstGeom prst="rect">
            <a:avLst/>
          </a:prstGeom>
          <a:noFill/>
          <a:ln/>
        </p:spPr>
        <p:txBody>
          <a:bodyPr wrap="square" lIns="0" tIns="0" rIns="0" bIns="0" rtlCol="0" anchor="t"/>
          <a:lstStyle/>
          <a:p>
            <a:pPr indent="0" marL="0">
              <a:lnSpc>
                <a:spcPct val="90000"/>
              </a:lnSpc>
              <a:buNone/>
            </a:pPr>
            <a:r>
              <a:rPr lang="en-US" sz="6600" spc="-200" kern="0" dirty="0">
                <a:solidFill>
                  <a:srgbClr val="0A0A0A"/>
                </a:solidFill>
                <a:latin typeface="Inter Black" pitchFamily="34" charset="0"/>
                <a:ea typeface="Inter Black" pitchFamily="34" charset="-122"/>
                <a:cs typeface="Inter Black" pitchFamily="34" charset="-120"/>
              </a:rPr>
              <a:t>Data stolen today</a:t>
            </a:r>
            <a:endParaRPr lang="en-US" sz="6600" dirty="0"/>
          </a:p>
          <a:p>
            <a:pPr indent="0" marL="0">
              <a:lnSpc>
                <a:spcPct val="90000"/>
              </a:lnSpc>
              <a:buNone/>
            </a:pPr>
            <a:r>
              <a:rPr lang="en-US" sz="6600" spc="-200" kern="0" dirty="0">
                <a:solidFill>
                  <a:srgbClr val="0A0A0A"/>
                </a:solidFill>
                <a:latin typeface="Inter Black" pitchFamily="34" charset="0"/>
                <a:ea typeface="Inter Black" pitchFamily="34" charset="-122"/>
                <a:cs typeface="Inter Black" pitchFamily="34" charset="-120"/>
              </a:rPr>
              <a:t>can be read tomorrow.</a:t>
            </a:r>
            <a:endParaRPr lang="en-US" sz="6600" dirty="0"/>
          </a:p>
        </p:txBody>
      </p:sp>
      <p:sp>
        <p:nvSpPr>
          <p:cNvPr id="10" name="Shape 8"/>
          <p:cNvSpPr/>
          <p:nvPr/>
        </p:nvSpPr>
        <p:spPr>
          <a:xfrm>
            <a:off x="548640" y="3611880"/>
            <a:ext cx="3515258" cy="0"/>
          </a:xfrm>
          <a:prstGeom prst="line">
            <a:avLst/>
          </a:prstGeom>
          <a:noFill/>
          <a:ln w="12700">
            <a:solidFill>
              <a:srgbClr val="0A0A0A"/>
            </a:solidFill>
            <a:prstDash val="solid"/>
          </a:ln>
        </p:spPr>
      </p:sp>
      <p:sp>
        <p:nvSpPr>
          <p:cNvPr id="11" name="Text 9"/>
          <p:cNvSpPr txBox="1"/>
          <p:nvPr/>
        </p:nvSpPr>
        <p:spPr>
          <a:xfrm>
            <a:off x="548640" y="3749040"/>
            <a:ext cx="3515258" cy="228600"/>
          </a:xfrm>
          <a:prstGeom prst="rect">
            <a:avLst/>
          </a:prstGeom>
          <a:noFill/>
          <a:ln/>
        </p:spPr>
        <p:txBody>
          <a:bodyPr wrap="square" lIns="0" tIns="0" rIns="0" bIns="0" rtlCol="0" anchor="t"/>
          <a:lstStyle/>
          <a:p>
            <a:pPr indent="0" marL="0">
              <a:buNone/>
            </a:pPr>
            <a:r>
              <a:rPr lang="en-US" sz="1100" spc="200" kern="0" dirty="0">
                <a:solidFill>
                  <a:srgbClr val="0A0A0A"/>
                </a:solidFill>
                <a:latin typeface="Consolas" pitchFamily="34" charset="0"/>
                <a:ea typeface="Consolas" pitchFamily="34" charset="-122"/>
                <a:cs typeface="Consolas" pitchFamily="34" charset="-120"/>
              </a:rPr>
              <a:t>01 · TODAY</a:t>
            </a:r>
            <a:endParaRPr lang="en-US" sz="1100" dirty="0"/>
          </a:p>
        </p:txBody>
      </p:sp>
      <p:sp>
        <p:nvSpPr>
          <p:cNvPr id="12" name="Text 10"/>
          <p:cNvSpPr txBox="1"/>
          <p:nvPr/>
        </p:nvSpPr>
        <p:spPr>
          <a:xfrm>
            <a:off x="548640" y="4069080"/>
            <a:ext cx="3332378" cy="73152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Attackers copy encrypted data and store it.</a:t>
            </a:r>
            <a:endParaRPr lang="en-US" sz="1700" dirty="0"/>
          </a:p>
        </p:txBody>
      </p:sp>
      <p:sp>
        <p:nvSpPr>
          <p:cNvPr id="13" name="Shape 11"/>
          <p:cNvSpPr/>
          <p:nvPr/>
        </p:nvSpPr>
        <p:spPr>
          <a:xfrm>
            <a:off x="4338218" y="3611880"/>
            <a:ext cx="3515258" cy="0"/>
          </a:xfrm>
          <a:prstGeom prst="line">
            <a:avLst/>
          </a:prstGeom>
          <a:noFill/>
          <a:ln w="12700">
            <a:solidFill>
              <a:srgbClr val="0A0A0A"/>
            </a:solidFill>
            <a:prstDash val="solid"/>
          </a:ln>
        </p:spPr>
      </p:sp>
      <p:sp>
        <p:nvSpPr>
          <p:cNvPr id="14" name="Text 12"/>
          <p:cNvSpPr txBox="1"/>
          <p:nvPr/>
        </p:nvSpPr>
        <p:spPr>
          <a:xfrm>
            <a:off x="4338218" y="3749040"/>
            <a:ext cx="3515258" cy="228600"/>
          </a:xfrm>
          <a:prstGeom prst="rect">
            <a:avLst/>
          </a:prstGeom>
          <a:noFill/>
          <a:ln/>
        </p:spPr>
        <p:txBody>
          <a:bodyPr wrap="square" lIns="0" tIns="0" rIns="0" bIns="0" rtlCol="0" anchor="t"/>
          <a:lstStyle/>
          <a:p>
            <a:pPr indent="0" marL="0">
              <a:buNone/>
            </a:pPr>
            <a:r>
              <a:rPr lang="en-US" sz="1100" spc="200" kern="0" dirty="0">
                <a:solidFill>
                  <a:srgbClr val="0A0A0A"/>
                </a:solidFill>
                <a:latin typeface="Consolas" pitchFamily="34" charset="0"/>
                <a:ea typeface="Consolas" pitchFamily="34" charset="-122"/>
                <a:cs typeface="Consolas" pitchFamily="34" charset="-120"/>
              </a:rPr>
              <a:t>02 · YEARS PASS</a:t>
            </a:r>
            <a:endParaRPr lang="en-US" sz="1100" dirty="0"/>
          </a:p>
        </p:txBody>
      </p:sp>
      <p:sp>
        <p:nvSpPr>
          <p:cNvPr id="15" name="Text 13"/>
          <p:cNvSpPr txBox="1"/>
          <p:nvPr/>
        </p:nvSpPr>
        <p:spPr>
          <a:xfrm>
            <a:off x="4338218" y="4069080"/>
            <a:ext cx="3332378" cy="73152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The copy sits untouched, waiting.</a:t>
            </a:r>
            <a:endParaRPr lang="en-US" sz="1700" dirty="0"/>
          </a:p>
        </p:txBody>
      </p:sp>
      <p:sp>
        <p:nvSpPr>
          <p:cNvPr id="16" name="Shape 14"/>
          <p:cNvSpPr/>
          <p:nvPr/>
        </p:nvSpPr>
        <p:spPr>
          <a:xfrm>
            <a:off x="8127797" y="3611880"/>
            <a:ext cx="3515258" cy="0"/>
          </a:xfrm>
          <a:prstGeom prst="line">
            <a:avLst/>
          </a:prstGeom>
          <a:noFill/>
          <a:ln w="25400">
            <a:solidFill>
              <a:srgbClr val="002FA7"/>
            </a:solidFill>
            <a:prstDash val="solid"/>
          </a:ln>
        </p:spPr>
      </p:sp>
      <p:sp>
        <p:nvSpPr>
          <p:cNvPr id="17" name="Text 15"/>
          <p:cNvSpPr txBox="1"/>
          <p:nvPr/>
        </p:nvSpPr>
        <p:spPr>
          <a:xfrm>
            <a:off x="8127797" y="3749040"/>
            <a:ext cx="3515258"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03 · QUANTUM ARRIVES</a:t>
            </a:r>
            <a:endParaRPr lang="en-US" sz="1100" dirty="0"/>
          </a:p>
        </p:txBody>
      </p:sp>
      <p:sp>
        <p:nvSpPr>
          <p:cNvPr id="18" name="Text 16"/>
          <p:cNvSpPr txBox="1"/>
          <p:nvPr/>
        </p:nvSpPr>
        <p:spPr>
          <a:xfrm>
            <a:off x="8127797" y="4069080"/>
            <a:ext cx="3332378" cy="731520"/>
          </a:xfrm>
          <a:prstGeom prst="rect">
            <a:avLst/>
          </a:prstGeom>
          <a:noFill/>
          <a:ln/>
        </p:spPr>
        <p:txBody>
          <a:bodyPr wrap="square" lIns="0" tIns="0" rIns="0" bIns="0" rtlCol="0" anchor="t"/>
          <a:lstStyle/>
          <a:p>
            <a:pPr indent="0" marL="0">
              <a:buNone/>
            </a:pPr>
            <a:r>
              <a:rPr lang="en-US" sz="1700" b="1" dirty="0">
                <a:solidFill>
                  <a:srgbClr val="002FA7"/>
                </a:solidFill>
                <a:latin typeface="Inter" pitchFamily="34" charset="0"/>
                <a:ea typeface="Inter" pitchFamily="34" charset="-122"/>
                <a:cs typeface="Inter" pitchFamily="34" charset="-120"/>
              </a:rPr>
              <a:t>Public-key encryption (RSA, ECC) breaks. The data opens.</a:t>
            </a:r>
            <a:endParaRPr lang="en-US" sz="1700" dirty="0"/>
          </a:p>
        </p:txBody>
      </p:sp>
      <p:sp>
        <p:nvSpPr>
          <p:cNvPr id="19" name="Shape 17"/>
          <p:cNvSpPr/>
          <p:nvPr/>
        </p:nvSpPr>
        <p:spPr>
          <a:xfrm>
            <a:off x="548640" y="5029200"/>
            <a:ext cx="11094415" cy="960120"/>
          </a:xfrm>
          <a:prstGeom prst="rect">
            <a:avLst/>
          </a:prstGeom>
          <a:ln w="9525">
            <a:solidFill>
              <a:srgbClr val="0A0A0A"/>
            </a:solidFill>
            <a:prstDash val="solid"/>
          </a:ln>
        </p:spPr>
      </p:sp>
      <p:sp>
        <p:nvSpPr>
          <p:cNvPr id="20" name="Text 18"/>
          <p:cNvSpPr txBox="1"/>
          <p:nvPr/>
        </p:nvSpPr>
        <p:spPr>
          <a:xfrm>
            <a:off x="777240" y="5166360"/>
            <a:ext cx="2743200" cy="228600"/>
          </a:xfrm>
          <a:prstGeom prst="rect">
            <a:avLst/>
          </a:prstGeom>
          <a:noFill/>
          <a:ln/>
        </p:spPr>
        <p:txBody>
          <a:bodyPr wrap="square" lIns="0" tIns="0" rIns="0" bIns="0" rtlCol="0" anchor="t"/>
          <a:lstStyle/>
          <a:p>
            <a:pPr indent="0" marL="0">
              <a:buNone/>
            </a:pPr>
            <a:r>
              <a:rPr lang="en-US" sz="1000" spc="200" kern="0" dirty="0">
                <a:solidFill>
                  <a:srgbClr val="002FA7"/>
                </a:solidFill>
                <a:latin typeface="Consolas" pitchFamily="34" charset="0"/>
                <a:ea typeface="Consolas" pitchFamily="34" charset="-122"/>
                <a:cs typeface="Consolas" pitchFamily="34" charset="-120"/>
              </a:rPr>
              <a:t>MOSCA'S RULE</a:t>
            </a:r>
            <a:endParaRPr lang="en-US" sz="1000" dirty="0"/>
          </a:p>
        </p:txBody>
      </p:sp>
      <p:sp>
        <p:nvSpPr>
          <p:cNvPr id="21" name="Text 19"/>
          <p:cNvSpPr txBox="1"/>
          <p:nvPr/>
        </p:nvSpPr>
        <p:spPr>
          <a:xfrm>
            <a:off x="777240" y="5440680"/>
            <a:ext cx="10515600" cy="411480"/>
          </a:xfrm>
          <a:prstGeom prst="rect">
            <a:avLst/>
          </a:prstGeom>
          <a:noFill/>
          <a:ln/>
        </p:spPr>
        <p:txBody>
          <a:bodyPr wrap="square" lIns="0" tIns="0" rIns="0" bIns="0" rtlCol="0" anchor="t"/>
          <a:lstStyle/>
          <a:p>
            <a:pPr indent="0" marL="0">
              <a:buNone/>
            </a:pPr>
            <a:r>
              <a:rPr lang="en-US" sz="2000" b="1" dirty="0">
                <a:solidFill>
                  <a:srgbClr val="0A0A0A"/>
                </a:solidFill>
                <a:latin typeface="Inter" pitchFamily="34" charset="0"/>
                <a:ea typeface="Inter" pitchFamily="34" charset="-122"/>
                <a:cs typeface="Inter" pitchFamily="34" charset="-120"/>
              </a:rPr>
              <a:t>secrecy period + migration time &gt; time until quantum</a:t>
            </a:r>
            <a:pPr indent="0" marL="0">
              <a:buNone/>
            </a:pPr>
            <a:r>
              <a:rPr lang="en-US" sz="2000" b="1" dirty="0">
                <a:solidFill>
                  <a:srgbClr val="002FA7"/>
                </a:solidFill>
                <a:latin typeface="Inter" pitchFamily="34" charset="0"/>
                <a:ea typeface="Inter" pitchFamily="34" charset="-122"/>
                <a:cs typeface="Inter" pitchFamily="34" charset="-120"/>
              </a:rPr>
              <a:t>   →  you are already late.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WHY LAB DATA</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S06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№06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№06 · WHY LAB DATA IS A PRIME TARGET</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Lab data must stay secret and trusted</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for decades.</a:t>
            </a:r>
            <a:endParaRPr lang="en-US" sz="4000" dirty="0"/>
          </a:p>
        </p:txBody>
      </p:sp>
      <p:sp>
        <p:nvSpPr>
          <p:cNvPr id="10" name="Shape 8"/>
          <p:cNvSpPr/>
          <p:nvPr/>
        </p:nvSpPr>
        <p:spPr>
          <a:xfrm>
            <a:off x="548640" y="2697480"/>
            <a:ext cx="11094415" cy="0"/>
          </a:xfrm>
          <a:prstGeom prst="line">
            <a:avLst/>
          </a:prstGeom>
          <a:noFill/>
          <a:ln w="9525">
            <a:solidFill>
              <a:srgbClr val="C9C9C4"/>
            </a:solidFill>
            <a:prstDash val="solid"/>
          </a:ln>
        </p:spPr>
      </p:sp>
      <p:sp>
        <p:nvSpPr>
          <p:cNvPr id="11" name="Text 9"/>
          <p:cNvSpPr txBox="1"/>
          <p:nvPr/>
        </p:nvSpPr>
        <p:spPr>
          <a:xfrm>
            <a:off x="548640" y="2971800"/>
            <a:ext cx="54864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01</a:t>
            </a:r>
            <a:endParaRPr lang="en-US" sz="1000" dirty="0"/>
          </a:p>
        </p:txBody>
      </p:sp>
      <p:sp>
        <p:nvSpPr>
          <p:cNvPr id="12" name="Text 10"/>
          <p:cNvSpPr txBox="1"/>
          <p:nvPr/>
        </p:nvSpPr>
        <p:spPr>
          <a:xfrm>
            <a:off x="1188720" y="2898648"/>
            <a:ext cx="4937760" cy="54864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Study protocols and research data</a:t>
            </a:r>
            <a:endParaRPr lang="en-US" sz="2200" dirty="0"/>
          </a:p>
        </p:txBody>
      </p:sp>
      <p:sp>
        <p:nvSpPr>
          <p:cNvPr id="13" name="Text 11"/>
          <p:cNvSpPr txBox="1"/>
          <p:nvPr/>
        </p:nvSpPr>
        <p:spPr>
          <a:xfrm>
            <a:off x="6309360" y="2944368"/>
            <a:ext cx="5303520" cy="548640"/>
          </a:xfrm>
          <a:prstGeom prst="rect">
            <a:avLst/>
          </a:prstGeom>
          <a:noFill/>
          <a:ln/>
        </p:spPr>
        <p:txBody>
          <a:bodyPr wrap="square" lIns="0" tIns="0" rIns="0" bIns="0" rtlCol="0" anchor="t"/>
          <a:lstStyle/>
          <a:p>
            <a:pPr indent="0" marL="0">
              <a:buNone/>
            </a:pPr>
            <a:r>
              <a:rPr lang="en-US" sz="1700" dirty="0">
                <a:solidFill>
                  <a:srgbClr val="6B6B6B"/>
                </a:solidFill>
                <a:latin typeface="Inter" pitchFamily="34" charset="0"/>
                <a:ea typeface="Inter" pitchFamily="34" charset="-122"/>
                <a:cs typeface="Inter" pitchFamily="34" charset="-120"/>
              </a:rPr>
              <a:t>Intellectual property for the life of the product</a:t>
            </a:r>
            <a:endParaRPr lang="en-US" sz="1700" dirty="0"/>
          </a:p>
        </p:txBody>
      </p:sp>
      <p:sp>
        <p:nvSpPr>
          <p:cNvPr id="14" name="Shape 12"/>
          <p:cNvSpPr/>
          <p:nvPr/>
        </p:nvSpPr>
        <p:spPr>
          <a:xfrm>
            <a:off x="548640" y="3538728"/>
            <a:ext cx="11094415" cy="0"/>
          </a:xfrm>
          <a:prstGeom prst="line">
            <a:avLst/>
          </a:prstGeom>
          <a:noFill/>
          <a:ln w="9525">
            <a:solidFill>
              <a:srgbClr val="C9C9C4"/>
            </a:solidFill>
            <a:prstDash val="solid"/>
          </a:ln>
        </p:spPr>
      </p:sp>
      <p:sp>
        <p:nvSpPr>
          <p:cNvPr id="15" name="Text 13"/>
          <p:cNvSpPr txBox="1"/>
          <p:nvPr/>
        </p:nvSpPr>
        <p:spPr>
          <a:xfrm>
            <a:off x="548640" y="3813048"/>
            <a:ext cx="54864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02</a:t>
            </a:r>
            <a:endParaRPr lang="en-US" sz="1000" dirty="0"/>
          </a:p>
        </p:txBody>
      </p:sp>
      <p:sp>
        <p:nvSpPr>
          <p:cNvPr id="16" name="Text 14"/>
          <p:cNvSpPr txBox="1"/>
          <p:nvPr/>
        </p:nvSpPr>
        <p:spPr>
          <a:xfrm>
            <a:off x="1188720" y="3739896"/>
            <a:ext cx="4937760" cy="54864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Sponsor and client information</a:t>
            </a:r>
            <a:endParaRPr lang="en-US" sz="2200" dirty="0"/>
          </a:p>
        </p:txBody>
      </p:sp>
      <p:sp>
        <p:nvSpPr>
          <p:cNvPr id="17" name="Text 15"/>
          <p:cNvSpPr txBox="1"/>
          <p:nvPr/>
        </p:nvSpPr>
        <p:spPr>
          <a:xfrm>
            <a:off x="6309360" y="3785616"/>
            <a:ext cx="5303520" cy="548640"/>
          </a:xfrm>
          <a:prstGeom prst="rect">
            <a:avLst/>
          </a:prstGeom>
          <a:noFill/>
          <a:ln/>
        </p:spPr>
        <p:txBody>
          <a:bodyPr wrap="square" lIns="0" tIns="0" rIns="0" bIns="0" rtlCol="0" anchor="t"/>
          <a:lstStyle/>
          <a:p>
            <a:pPr indent="0" marL="0">
              <a:buNone/>
            </a:pPr>
            <a:r>
              <a:rPr lang="en-US" sz="1700" dirty="0">
                <a:solidFill>
                  <a:srgbClr val="6B6B6B"/>
                </a:solidFill>
                <a:latin typeface="Inter" pitchFamily="34" charset="0"/>
                <a:ea typeface="Inter" pitchFamily="34" charset="-122"/>
                <a:cs typeface="Inter" pitchFamily="34" charset="-120"/>
              </a:rPr>
              <a:t>Commercial contracts and unreleased products</a:t>
            </a:r>
            <a:endParaRPr lang="en-US" sz="1700" dirty="0"/>
          </a:p>
        </p:txBody>
      </p:sp>
      <p:sp>
        <p:nvSpPr>
          <p:cNvPr id="18" name="Shape 16"/>
          <p:cNvSpPr/>
          <p:nvPr/>
        </p:nvSpPr>
        <p:spPr>
          <a:xfrm>
            <a:off x="548640" y="4379976"/>
            <a:ext cx="11094415" cy="0"/>
          </a:xfrm>
          <a:prstGeom prst="line">
            <a:avLst/>
          </a:prstGeom>
          <a:noFill/>
          <a:ln w="9525">
            <a:solidFill>
              <a:srgbClr val="C9C9C4"/>
            </a:solidFill>
            <a:prstDash val="solid"/>
          </a:ln>
        </p:spPr>
      </p:sp>
      <p:sp>
        <p:nvSpPr>
          <p:cNvPr id="19" name="Text 17"/>
          <p:cNvSpPr txBox="1"/>
          <p:nvPr/>
        </p:nvSpPr>
        <p:spPr>
          <a:xfrm>
            <a:off x="548640" y="4654296"/>
            <a:ext cx="54864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03</a:t>
            </a:r>
            <a:endParaRPr lang="en-US" sz="1000" dirty="0"/>
          </a:p>
        </p:txBody>
      </p:sp>
      <p:sp>
        <p:nvSpPr>
          <p:cNvPr id="20" name="Text 18"/>
          <p:cNvSpPr txBox="1"/>
          <p:nvPr/>
        </p:nvSpPr>
        <p:spPr>
          <a:xfrm>
            <a:off x="1188720" y="4581144"/>
            <a:ext cx="4937760" cy="54864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Regulated reports</a:t>
            </a:r>
            <a:endParaRPr lang="en-US" sz="2200" dirty="0"/>
          </a:p>
        </p:txBody>
      </p:sp>
      <p:sp>
        <p:nvSpPr>
          <p:cNvPr id="21" name="Text 19"/>
          <p:cNvSpPr txBox="1"/>
          <p:nvPr/>
        </p:nvSpPr>
        <p:spPr>
          <a:xfrm>
            <a:off x="6309360" y="4626864"/>
            <a:ext cx="5303520" cy="548640"/>
          </a:xfrm>
          <a:prstGeom prst="rect">
            <a:avLst/>
          </a:prstGeom>
          <a:noFill/>
          <a:ln/>
        </p:spPr>
        <p:txBody>
          <a:bodyPr wrap="square" lIns="0" tIns="0" rIns="0" bIns="0" rtlCol="0" anchor="t"/>
          <a:lstStyle/>
          <a:p>
            <a:pPr indent="0" marL="0">
              <a:buNone/>
            </a:pPr>
            <a:r>
              <a:rPr lang="en-US" sz="1700" dirty="0">
                <a:solidFill>
                  <a:srgbClr val="6B6B6B"/>
                </a:solidFill>
                <a:latin typeface="Inter" pitchFamily="34" charset="0"/>
                <a:ea typeface="Inter" pitchFamily="34" charset="-122"/>
                <a:cs typeface="Inter" pitchFamily="34" charset="-120"/>
              </a:rPr>
              <a:t>Kept for years under GLP and GMP retention rules</a:t>
            </a:r>
            <a:endParaRPr lang="en-US" sz="1700" dirty="0"/>
          </a:p>
        </p:txBody>
      </p:sp>
      <p:sp>
        <p:nvSpPr>
          <p:cNvPr id="22" name="Shape 20"/>
          <p:cNvSpPr/>
          <p:nvPr/>
        </p:nvSpPr>
        <p:spPr>
          <a:xfrm>
            <a:off x="548640" y="5221224"/>
            <a:ext cx="11094415" cy="0"/>
          </a:xfrm>
          <a:prstGeom prst="line">
            <a:avLst/>
          </a:prstGeom>
          <a:noFill/>
          <a:ln w="19050">
            <a:solidFill>
              <a:srgbClr val="002FA7"/>
            </a:solidFill>
            <a:prstDash val="solid"/>
          </a:ln>
        </p:spPr>
      </p:sp>
      <p:sp>
        <p:nvSpPr>
          <p:cNvPr id="23" name="Text 21"/>
          <p:cNvSpPr txBox="1"/>
          <p:nvPr/>
        </p:nvSpPr>
        <p:spPr>
          <a:xfrm>
            <a:off x="548640" y="5495544"/>
            <a:ext cx="548640" cy="228600"/>
          </a:xfrm>
          <a:prstGeom prst="rect">
            <a:avLst/>
          </a:prstGeom>
          <a:noFill/>
          <a:ln/>
        </p:spPr>
        <p:txBody>
          <a:bodyPr wrap="square" lIns="0" tIns="0" rIns="0" bIns="0" rtlCol="0" anchor="t"/>
          <a:lstStyle/>
          <a:p>
            <a:pPr indent="0" marL="0">
              <a:buNone/>
            </a:pPr>
            <a:r>
              <a:rPr lang="en-US" sz="1000" spc="200" kern="0" dirty="0">
                <a:solidFill>
                  <a:srgbClr val="002FA7"/>
                </a:solidFill>
                <a:latin typeface="Consolas" pitchFamily="34" charset="0"/>
                <a:ea typeface="Consolas" pitchFamily="34" charset="-122"/>
                <a:cs typeface="Consolas" pitchFamily="34" charset="-120"/>
              </a:rPr>
              <a:t>04</a:t>
            </a:r>
            <a:endParaRPr lang="en-US" sz="1000" dirty="0"/>
          </a:p>
        </p:txBody>
      </p:sp>
      <p:sp>
        <p:nvSpPr>
          <p:cNvPr id="24" name="Text 22"/>
          <p:cNvSpPr txBox="1"/>
          <p:nvPr/>
        </p:nvSpPr>
        <p:spPr>
          <a:xfrm>
            <a:off x="1188720" y="5422392"/>
            <a:ext cx="4937760" cy="548640"/>
          </a:xfrm>
          <a:prstGeom prst="rect">
            <a:avLst/>
          </a:prstGeom>
          <a:noFill/>
          <a:ln/>
        </p:spPr>
        <p:txBody>
          <a:bodyPr wrap="square" lIns="0" tIns="0" rIns="0" bIns="0" rtlCol="0" anchor="t"/>
          <a:lstStyle/>
          <a:p>
            <a:pPr indent="0" marL="0">
              <a:buNone/>
            </a:pPr>
            <a:r>
              <a:rPr lang="en-US" sz="2200" b="1" dirty="0">
                <a:solidFill>
                  <a:srgbClr val="002FA7"/>
                </a:solidFill>
                <a:latin typeface="Inter" pitchFamily="34" charset="0"/>
                <a:ea typeface="Inter" pitchFamily="34" charset="-122"/>
                <a:cs typeface="Inter" pitchFamily="34" charset="-120"/>
              </a:rPr>
              <a:t>Signing and identity keys</a:t>
            </a:r>
            <a:endParaRPr lang="en-US" sz="2200" dirty="0"/>
          </a:p>
        </p:txBody>
      </p:sp>
      <p:sp>
        <p:nvSpPr>
          <p:cNvPr id="25" name="Text 23"/>
          <p:cNvSpPr txBox="1"/>
          <p:nvPr/>
        </p:nvSpPr>
        <p:spPr>
          <a:xfrm>
            <a:off x="6309360" y="5468112"/>
            <a:ext cx="5303520" cy="548640"/>
          </a:xfrm>
          <a:prstGeom prst="rect">
            <a:avLst/>
          </a:prstGeom>
          <a:noFill/>
          <a:ln/>
        </p:spPr>
        <p:txBody>
          <a:bodyPr wrap="square" lIns="0" tIns="0" rIns="0" bIns="0" rtlCol="0" anchor="t"/>
          <a:lstStyle/>
          <a:p>
            <a:pPr indent="0" marL="0">
              <a:buNone/>
            </a:pPr>
            <a:r>
              <a:rPr lang="en-US" sz="1700" dirty="0">
                <a:solidFill>
                  <a:srgbClr val="002FA7"/>
                </a:solidFill>
                <a:latin typeface="Inter" pitchFamily="34" charset="0"/>
                <a:ea typeface="Inter" pitchFamily="34" charset="-122"/>
                <a:cs typeface="Inter" pitchFamily="34" charset="-120"/>
              </a:rPr>
              <a:t>They vouch for every record in the archive</a:t>
            </a:r>
            <a:endParaRPr lang="en-US" sz="1700" dirty="0"/>
          </a:p>
        </p:txBody>
      </p:sp>
      <p:sp>
        <p:nvSpPr>
          <p:cNvPr id="26" name="Shape 24"/>
          <p:cNvSpPr/>
          <p:nvPr/>
        </p:nvSpPr>
        <p:spPr>
          <a:xfrm>
            <a:off x="548640" y="6062472"/>
            <a:ext cx="11094415" cy="0"/>
          </a:xfrm>
          <a:prstGeom prst="line">
            <a:avLst/>
          </a:prstGeom>
          <a:noFill/>
          <a:ln w="9525">
            <a:solidFill>
              <a:srgbClr val="C9C9C4"/>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FORGERY RISK</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S07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№07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№07 · QUANTUM RISK IS ALSO A FORGERY RISK</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A broken signature means a record</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can no longer prove anything.</a:t>
            </a:r>
            <a:endParaRPr lang="en-US" sz="4000" dirty="0"/>
          </a:p>
        </p:txBody>
      </p:sp>
      <p:sp>
        <p:nvSpPr>
          <p:cNvPr id="10" name="Shape 8"/>
          <p:cNvSpPr/>
          <p:nvPr/>
        </p:nvSpPr>
        <p:spPr>
          <a:xfrm>
            <a:off x="6099048" y="2651760"/>
            <a:ext cx="0" cy="2377440"/>
          </a:xfrm>
          <a:prstGeom prst="line">
            <a:avLst/>
          </a:prstGeom>
          <a:noFill/>
          <a:ln w="9525">
            <a:solidFill>
              <a:srgbClr val="0A0A0A"/>
            </a:solidFill>
            <a:prstDash val="solid"/>
          </a:ln>
        </p:spPr>
      </p:sp>
      <p:sp>
        <p:nvSpPr>
          <p:cNvPr id="11" name="Text 9"/>
          <p:cNvSpPr txBox="1"/>
          <p:nvPr/>
        </p:nvSpPr>
        <p:spPr>
          <a:xfrm>
            <a:off x="548640" y="2651760"/>
            <a:ext cx="45720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TODAY</a:t>
            </a:r>
            <a:endParaRPr lang="en-US" sz="1000" dirty="0"/>
          </a:p>
        </p:txBody>
      </p:sp>
      <p:sp>
        <p:nvSpPr>
          <p:cNvPr id="12" name="Text 10"/>
          <p:cNvSpPr txBox="1"/>
          <p:nvPr/>
        </p:nvSpPr>
        <p:spPr>
          <a:xfrm>
            <a:off x="548640" y="2971800"/>
            <a:ext cx="5120640" cy="1097280"/>
          </a:xfrm>
          <a:prstGeom prst="rect">
            <a:avLst/>
          </a:prstGeom>
          <a:noFill/>
          <a:ln/>
        </p:spPr>
        <p:txBody>
          <a:bodyPr wrap="square" lIns="0" tIns="0" rIns="0" bIns="0" rtlCol="0" anchor="t"/>
          <a:lstStyle/>
          <a:p>
            <a:pPr indent="0" marL="0">
              <a:buNone/>
            </a:pPr>
            <a:r>
              <a:rPr lang="en-US" sz="2600" b="1" spc="-30" kern="0" dirty="0">
                <a:solidFill>
                  <a:srgbClr val="0A0A0A"/>
                </a:solidFill>
                <a:latin typeface="Inter" pitchFamily="34" charset="0"/>
                <a:ea typeface="Inter" pitchFamily="34" charset="-122"/>
                <a:cs typeface="Inter" pitchFamily="34" charset="-120"/>
              </a:rPr>
              <a:t>A digital signature proves who approved a record.</a:t>
            </a:r>
            <a:endParaRPr lang="en-US" sz="2600" dirty="0"/>
          </a:p>
        </p:txBody>
      </p:sp>
      <p:sp>
        <p:nvSpPr>
          <p:cNvPr id="13" name="Text 11"/>
          <p:cNvSpPr txBox="1"/>
          <p:nvPr/>
        </p:nvSpPr>
        <p:spPr>
          <a:xfrm>
            <a:off x="548640" y="4206240"/>
            <a:ext cx="4572000" cy="365760"/>
          </a:xfrm>
          <a:prstGeom prst="rect">
            <a:avLst/>
          </a:prstGeom>
          <a:noFill/>
          <a:ln/>
        </p:spPr>
        <p:txBody>
          <a:bodyPr wrap="square" lIns="0" tIns="0" rIns="0" bIns="0" rtlCol="0" anchor="t"/>
          <a:lstStyle/>
          <a:p>
            <a:pPr indent="0" marL="0">
              <a:buNone/>
            </a:pPr>
            <a:r>
              <a:rPr lang="en-US" sz="1300" dirty="0">
                <a:solidFill>
                  <a:srgbClr val="6B6B6B"/>
                </a:solidFill>
                <a:latin typeface="Consolas" pitchFamily="34" charset="0"/>
                <a:ea typeface="Consolas" pitchFamily="34" charset="-122"/>
                <a:cs typeface="Consolas" pitchFamily="34" charset="-120"/>
              </a:rPr>
              <a:t>RSA, ECDSA</a:t>
            </a:r>
            <a:endParaRPr lang="en-US" sz="1300" dirty="0"/>
          </a:p>
        </p:txBody>
      </p:sp>
      <p:sp>
        <p:nvSpPr>
          <p:cNvPr id="14" name="Text 12"/>
          <p:cNvSpPr txBox="1"/>
          <p:nvPr/>
        </p:nvSpPr>
        <p:spPr>
          <a:xfrm>
            <a:off x="6492240" y="2651760"/>
            <a:ext cx="5120640" cy="228600"/>
          </a:xfrm>
          <a:prstGeom prst="rect">
            <a:avLst/>
          </a:prstGeom>
          <a:noFill/>
          <a:ln/>
        </p:spPr>
        <p:txBody>
          <a:bodyPr wrap="square" lIns="0" tIns="0" rIns="0" bIns="0" rtlCol="0" anchor="t"/>
          <a:lstStyle/>
          <a:p>
            <a:pPr indent="0" marL="0">
              <a:buNone/>
            </a:pPr>
            <a:r>
              <a:rPr lang="en-US" sz="1000" spc="200" kern="0" dirty="0">
                <a:solidFill>
                  <a:srgbClr val="002FA7"/>
                </a:solidFill>
                <a:latin typeface="Consolas" pitchFamily="34" charset="0"/>
                <a:ea typeface="Consolas" pitchFamily="34" charset="-122"/>
                <a:cs typeface="Consolas" pitchFamily="34" charset="-120"/>
              </a:rPr>
              <a:t>WITH A CAPABLE QUANTUM COMPUTER</a:t>
            </a:r>
            <a:endParaRPr lang="en-US" sz="1000" dirty="0"/>
          </a:p>
        </p:txBody>
      </p:sp>
      <p:sp>
        <p:nvSpPr>
          <p:cNvPr id="15" name="Text 13"/>
          <p:cNvSpPr txBox="1"/>
          <p:nvPr/>
        </p:nvSpPr>
        <p:spPr>
          <a:xfrm>
            <a:off x="6492240" y="2971800"/>
            <a:ext cx="5120640" cy="1097280"/>
          </a:xfrm>
          <a:prstGeom prst="rect">
            <a:avLst/>
          </a:prstGeom>
          <a:noFill/>
          <a:ln/>
        </p:spPr>
        <p:txBody>
          <a:bodyPr wrap="square" lIns="0" tIns="0" rIns="0" bIns="0" rtlCol="0" anchor="t"/>
          <a:lstStyle/>
          <a:p>
            <a:pPr indent="0" marL="0">
              <a:buNone/>
            </a:pPr>
            <a:r>
              <a:rPr lang="en-US" sz="2600" b="1" spc="-30" kern="0" dirty="0">
                <a:solidFill>
                  <a:srgbClr val="002FA7"/>
                </a:solidFill>
                <a:latin typeface="Inter" pitchFamily="34" charset="0"/>
                <a:ea typeface="Inter" pitchFamily="34" charset="-122"/>
                <a:cs typeface="Inter" pitchFamily="34" charset="-120"/>
              </a:rPr>
              <a:t>The same signature can be forged.</a:t>
            </a:r>
            <a:endParaRPr lang="en-US" sz="2600" dirty="0"/>
          </a:p>
        </p:txBody>
      </p:sp>
      <p:sp>
        <p:nvSpPr>
          <p:cNvPr id="16" name="Text 14"/>
          <p:cNvSpPr txBox="1"/>
          <p:nvPr/>
        </p:nvSpPr>
        <p:spPr>
          <a:xfrm>
            <a:off x="6492240" y="4206240"/>
            <a:ext cx="5120640" cy="457200"/>
          </a:xfrm>
          <a:prstGeom prst="rect">
            <a:avLst/>
          </a:prstGeom>
          <a:noFill/>
          <a:ln/>
        </p:spPr>
        <p:txBody>
          <a:bodyPr wrap="square" lIns="0" tIns="0" rIns="0" bIns="0" rtlCol="0" anchor="t"/>
          <a:lstStyle/>
          <a:p>
            <a:pPr indent="0" marL="0">
              <a:buNone/>
            </a:pPr>
            <a:r>
              <a:rPr lang="en-US" sz="1600" dirty="0">
                <a:solidFill>
                  <a:srgbClr val="6B6B6B"/>
                </a:solidFill>
                <a:latin typeface="Inter" pitchFamily="34" charset="0"/>
                <a:ea typeface="Inter" pitchFamily="34" charset="-122"/>
                <a:cs typeface="Inter" pitchFamily="34" charset="-120"/>
              </a:rPr>
              <a:t>An archived approval would then prove nothing.</a:t>
            </a:r>
            <a:endParaRPr lang="en-US" sz="1600" dirty="0"/>
          </a:p>
        </p:txBody>
      </p:sp>
      <p:sp>
        <p:nvSpPr>
          <p:cNvPr id="17" name="Shape 15"/>
          <p:cNvSpPr/>
          <p:nvPr/>
        </p:nvSpPr>
        <p:spPr>
          <a:xfrm>
            <a:off x="548640" y="5257800"/>
            <a:ext cx="11094415" cy="0"/>
          </a:xfrm>
          <a:prstGeom prst="line">
            <a:avLst/>
          </a:prstGeom>
          <a:noFill/>
          <a:ln w="12700">
            <a:solidFill>
              <a:srgbClr val="0A0A0A"/>
            </a:solidFill>
            <a:prstDash val="solid"/>
          </a:ln>
        </p:spPr>
      </p:sp>
      <p:sp>
        <p:nvSpPr>
          <p:cNvPr id="18" name="Text 16"/>
          <p:cNvSpPr txBox="1"/>
          <p:nvPr/>
        </p:nvSpPr>
        <p:spPr>
          <a:xfrm>
            <a:off x="548640" y="5440680"/>
            <a:ext cx="10972800" cy="457200"/>
          </a:xfrm>
          <a:prstGeom prst="rect">
            <a:avLst/>
          </a:prstGeom>
          <a:noFill/>
          <a:ln/>
        </p:spPr>
        <p:txBody>
          <a:bodyPr wrap="square" lIns="0" tIns="0" rIns="0" bIns="0" rtlCol="0" anchor="t"/>
          <a:lstStyle/>
          <a:p>
            <a:pPr indent="0" marL="0">
              <a:buNone/>
            </a:pPr>
            <a:r>
              <a:rPr lang="en-US" sz="2000" b="1" dirty="0">
                <a:solidFill>
                  <a:srgbClr val="0A0A0A"/>
                </a:solidFill>
                <a:latin typeface="Inter" pitchFamily="34" charset="0"/>
                <a:ea typeface="Inter" pitchFamily="34" charset="-122"/>
                <a:cs typeface="Inter" pitchFamily="34" charset="-120"/>
              </a:rPr>
              <a:t>For regulated labs, trust in the record matters as much as secrecy.</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MIGRATION CLOCK</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S08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SOURCE — NIST IR 8547 (DRAFT); INDIA NATIONAL QUANTUM MISSION TASK FORCE REPORT, FEB 2026</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№08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№08 · THE MIGRATION CLOCK HAS STARTED</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Standards and national deadlines</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are already set.</a:t>
            </a:r>
            <a:endParaRPr lang="en-US" sz="4000" dirty="0"/>
          </a:p>
        </p:txBody>
      </p:sp>
      <p:sp>
        <p:nvSpPr>
          <p:cNvPr id="10" name="Shape 8"/>
          <p:cNvSpPr/>
          <p:nvPr/>
        </p:nvSpPr>
        <p:spPr>
          <a:xfrm>
            <a:off x="621792" y="2880360"/>
            <a:ext cx="0" cy="2743200"/>
          </a:xfrm>
          <a:prstGeom prst="line">
            <a:avLst/>
          </a:prstGeom>
          <a:noFill/>
          <a:ln w="9525">
            <a:solidFill>
              <a:srgbClr val="0A0A0A"/>
            </a:solidFill>
            <a:prstDash val="dash"/>
          </a:ln>
        </p:spPr>
      </p:sp>
      <p:sp>
        <p:nvSpPr>
          <p:cNvPr id="11" name="Shape 9"/>
          <p:cNvSpPr/>
          <p:nvPr/>
        </p:nvSpPr>
        <p:spPr>
          <a:xfrm>
            <a:off x="548640" y="2807208"/>
            <a:ext cx="146304" cy="146304"/>
          </a:xfrm>
          <a:prstGeom prst="rect">
            <a:avLst/>
          </a:prstGeom>
          <a:solidFill>
            <a:srgbClr val="0A0A0A"/>
          </a:solidFill>
          <a:ln/>
        </p:spPr>
      </p:sp>
      <p:sp>
        <p:nvSpPr>
          <p:cNvPr id="12" name="Text 10"/>
          <p:cNvSpPr txBox="1"/>
          <p:nvPr/>
        </p:nvSpPr>
        <p:spPr>
          <a:xfrm>
            <a:off x="960120" y="2743200"/>
            <a:ext cx="1005840" cy="365760"/>
          </a:xfrm>
          <a:prstGeom prst="rect">
            <a:avLst/>
          </a:prstGeom>
          <a:noFill/>
          <a:ln/>
        </p:spPr>
        <p:txBody>
          <a:bodyPr wrap="square" lIns="0" tIns="0" rIns="0" bIns="0" rtlCol="0" anchor="t"/>
          <a:lstStyle/>
          <a:p>
            <a:pPr indent="0" marL="0">
              <a:buNone/>
            </a:pPr>
            <a:r>
              <a:rPr lang="en-US" sz="2000" b="1" dirty="0">
                <a:solidFill>
                  <a:srgbClr val="0A0A0A"/>
                </a:solidFill>
                <a:latin typeface="Consolas" pitchFamily="34" charset="0"/>
                <a:ea typeface="Consolas" pitchFamily="34" charset="-122"/>
                <a:cs typeface="Consolas" pitchFamily="34" charset="-120"/>
              </a:rPr>
              <a:t>2024</a:t>
            </a:r>
            <a:endParaRPr lang="en-US" sz="2000" dirty="0"/>
          </a:p>
        </p:txBody>
      </p:sp>
      <p:sp>
        <p:nvSpPr>
          <p:cNvPr id="13" name="Shape 11"/>
          <p:cNvSpPr/>
          <p:nvPr/>
        </p:nvSpPr>
        <p:spPr>
          <a:xfrm>
            <a:off x="2011680" y="2779776"/>
            <a:ext cx="731520" cy="237744"/>
          </a:xfrm>
          <a:prstGeom prst="rect">
            <a:avLst/>
          </a:prstGeom>
          <a:ln w="9525">
            <a:solidFill>
              <a:srgbClr val="0A0A0A"/>
            </a:solidFill>
            <a:prstDash val="solid"/>
          </a:ln>
        </p:spPr>
      </p:sp>
      <p:sp>
        <p:nvSpPr>
          <p:cNvPr id="14" name="Text 12"/>
          <p:cNvSpPr txBox="1"/>
          <p:nvPr/>
        </p:nvSpPr>
        <p:spPr>
          <a:xfrm>
            <a:off x="2011680" y="2807208"/>
            <a:ext cx="731520" cy="228600"/>
          </a:xfrm>
          <a:prstGeom prst="rect">
            <a:avLst/>
          </a:prstGeom>
          <a:noFill/>
          <a:ln/>
        </p:spPr>
        <p:txBody>
          <a:bodyPr wrap="square" lIns="0" tIns="0" rIns="0" bIns="0" rtlCol="0" anchor="t"/>
          <a:lstStyle/>
          <a:p>
            <a:pPr algn="ctr" indent="0" marL="0">
              <a:buNone/>
            </a:pPr>
            <a:r>
              <a:rPr lang="en-US" sz="900" spc="100" kern="0" dirty="0">
                <a:solidFill>
                  <a:srgbClr val="0A0A0A"/>
                </a:solidFill>
                <a:latin typeface="Consolas" pitchFamily="34" charset="0"/>
                <a:ea typeface="Consolas" pitchFamily="34" charset="-122"/>
                <a:cs typeface="Consolas" pitchFamily="34" charset="-120"/>
              </a:rPr>
              <a:t>NIST</a:t>
            </a:r>
            <a:endParaRPr lang="en-US" sz="900" dirty="0"/>
          </a:p>
        </p:txBody>
      </p:sp>
      <p:sp>
        <p:nvSpPr>
          <p:cNvPr id="15" name="Text 13"/>
          <p:cNvSpPr txBox="1"/>
          <p:nvPr/>
        </p:nvSpPr>
        <p:spPr>
          <a:xfrm>
            <a:off x="2926080" y="2761488"/>
            <a:ext cx="5303520" cy="5486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Post-quantum standards published: FIPS 203 (ML-KEM), 204 (ML-DSA), 205 (SLH-DSA)</a:t>
            </a:r>
            <a:endParaRPr lang="en-US" sz="1500" dirty="0"/>
          </a:p>
        </p:txBody>
      </p:sp>
      <p:sp>
        <p:nvSpPr>
          <p:cNvPr id="16" name="Shape 14"/>
          <p:cNvSpPr/>
          <p:nvPr/>
        </p:nvSpPr>
        <p:spPr>
          <a:xfrm>
            <a:off x="548640" y="3355848"/>
            <a:ext cx="146304" cy="146304"/>
          </a:xfrm>
          <a:prstGeom prst="rect">
            <a:avLst/>
          </a:prstGeom>
          <a:solidFill>
            <a:srgbClr val="002FA7"/>
          </a:solidFill>
          <a:ln/>
        </p:spPr>
      </p:sp>
      <p:sp>
        <p:nvSpPr>
          <p:cNvPr id="17" name="Text 15"/>
          <p:cNvSpPr txBox="1"/>
          <p:nvPr/>
        </p:nvSpPr>
        <p:spPr>
          <a:xfrm>
            <a:off x="960120" y="3291840"/>
            <a:ext cx="1005840" cy="365760"/>
          </a:xfrm>
          <a:prstGeom prst="rect">
            <a:avLst/>
          </a:prstGeom>
          <a:noFill/>
          <a:ln/>
        </p:spPr>
        <p:txBody>
          <a:bodyPr wrap="square" lIns="0" tIns="0" rIns="0" bIns="0" rtlCol="0" anchor="t"/>
          <a:lstStyle/>
          <a:p>
            <a:pPr indent="0" marL="0">
              <a:buNone/>
            </a:pPr>
            <a:r>
              <a:rPr lang="en-US" sz="2000" b="1" dirty="0">
                <a:solidFill>
                  <a:srgbClr val="002FA7"/>
                </a:solidFill>
                <a:latin typeface="Consolas" pitchFamily="34" charset="0"/>
                <a:ea typeface="Consolas" pitchFamily="34" charset="-122"/>
                <a:cs typeface="Consolas" pitchFamily="34" charset="-120"/>
              </a:rPr>
              <a:t>2027</a:t>
            </a:r>
            <a:endParaRPr lang="en-US" sz="2000" dirty="0"/>
          </a:p>
        </p:txBody>
      </p:sp>
      <p:sp>
        <p:nvSpPr>
          <p:cNvPr id="18" name="Shape 16"/>
          <p:cNvSpPr/>
          <p:nvPr/>
        </p:nvSpPr>
        <p:spPr>
          <a:xfrm>
            <a:off x="2011680" y="3328416"/>
            <a:ext cx="731520" cy="237744"/>
          </a:xfrm>
          <a:prstGeom prst="rect">
            <a:avLst/>
          </a:prstGeom>
          <a:solidFill>
            <a:srgbClr val="002FA7"/>
          </a:solidFill>
          <a:ln w="9525">
            <a:solidFill>
              <a:srgbClr val="002FA7"/>
            </a:solidFill>
            <a:prstDash val="solid"/>
          </a:ln>
        </p:spPr>
      </p:sp>
      <p:sp>
        <p:nvSpPr>
          <p:cNvPr id="19" name="Text 17"/>
          <p:cNvSpPr txBox="1"/>
          <p:nvPr/>
        </p:nvSpPr>
        <p:spPr>
          <a:xfrm>
            <a:off x="2011680" y="3355848"/>
            <a:ext cx="731520" cy="228600"/>
          </a:xfrm>
          <a:prstGeom prst="rect">
            <a:avLst/>
          </a:prstGeom>
          <a:noFill/>
          <a:ln/>
        </p:spPr>
        <p:txBody>
          <a:bodyPr wrap="square" lIns="0" tIns="0" rIns="0" bIns="0" rtlCol="0" anchor="t"/>
          <a:lstStyle/>
          <a:p>
            <a:pPr algn="ctr" indent="0" marL="0">
              <a:buNone/>
            </a:pPr>
            <a:r>
              <a:rPr lang="en-US" sz="900" spc="100" kern="0" dirty="0">
                <a:solidFill>
                  <a:srgbClr val="FAFAF8"/>
                </a:solidFill>
                <a:latin typeface="Consolas" pitchFamily="34" charset="0"/>
                <a:ea typeface="Consolas" pitchFamily="34" charset="-122"/>
                <a:cs typeface="Consolas" pitchFamily="34" charset="-120"/>
              </a:rPr>
              <a:t>INDIA</a:t>
            </a:r>
            <a:endParaRPr lang="en-US" sz="900" dirty="0"/>
          </a:p>
        </p:txBody>
      </p:sp>
      <p:sp>
        <p:nvSpPr>
          <p:cNvPr id="20" name="Text 18"/>
          <p:cNvSpPr txBox="1"/>
          <p:nvPr/>
        </p:nvSpPr>
        <p:spPr>
          <a:xfrm>
            <a:off x="2926080" y="3310128"/>
            <a:ext cx="5303520" cy="5486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PQC rollout begins in critical information infrastructure</a:t>
            </a:r>
            <a:endParaRPr lang="en-US" sz="1500" dirty="0"/>
          </a:p>
        </p:txBody>
      </p:sp>
      <p:sp>
        <p:nvSpPr>
          <p:cNvPr id="21" name="Shape 19"/>
          <p:cNvSpPr/>
          <p:nvPr/>
        </p:nvSpPr>
        <p:spPr>
          <a:xfrm>
            <a:off x="548640" y="3904488"/>
            <a:ext cx="146304" cy="146304"/>
          </a:xfrm>
          <a:prstGeom prst="rect">
            <a:avLst/>
          </a:prstGeom>
          <a:solidFill>
            <a:srgbClr val="002FA7"/>
          </a:solidFill>
          <a:ln/>
        </p:spPr>
      </p:sp>
      <p:sp>
        <p:nvSpPr>
          <p:cNvPr id="22" name="Text 20"/>
          <p:cNvSpPr txBox="1"/>
          <p:nvPr/>
        </p:nvSpPr>
        <p:spPr>
          <a:xfrm>
            <a:off x="960120" y="3840480"/>
            <a:ext cx="1005840" cy="365760"/>
          </a:xfrm>
          <a:prstGeom prst="rect">
            <a:avLst/>
          </a:prstGeom>
          <a:noFill/>
          <a:ln/>
        </p:spPr>
        <p:txBody>
          <a:bodyPr wrap="square" lIns="0" tIns="0" rIns="0" bIns="0" rtlCol="0" anchor="t"/>
          <a:lstStyle/>
          <a:p>
            <a:pPr indent="0" marL="0">
              <a:buNone/>
            </a:pPr>
            <a:r>
              <a:rPr lang="en-US" sz="2000" b="1" dirty="0">
                <a:solidFill>
                  <a:srgbClr val="002FA7"/>
                </a:solidFill>
                <a:latin typeface="Consolas" pitchFamily="34" charset="0"/>
                <a:ea typeface="Consolas" pitchFamily="34" charset="-122"/>
                <a:cs typeface="Consolas" pitchFamily="34" charset="-120"/>
              </a:rPr>
              <a:t>2028</a:t>
            </a:r>
            <a:endParaRPr lang="en-US" sz="2000" dirty="0"/>
          </a:p>
        </p:txBody>
      </p:sp>
      <p:sp>
        <p:nvSpPr>
          <p:cNvPr id="23" name="Shape 21"/>
          <p:cNvSpPr/>
          <p:nvPr/>
        </p:nvSpPr>
        <p:spPr>
          <a:xfrm>
            <a:off x="2011680" y="3877056"/>
            <a:ext cx="731520" cy="237744"/>
          </a:xfrm>
          <a:prstGeom prst="rect">
            <a:avLst/>
          </a:prstGeom>
          <a:solidFill>
            <a:srgbClr val="002FA7"/>
          </a:solidFill>
          <a:ln w="9525">
            <a:solidFill>
              <a:srgbClr val="002FA7"/>
            </a:solidFill>
            <a:prstDash val="solid"/>
          </a:ln>
        </p:spPr>
      </p:sp>
      <p:sp>
        <p:nvSpPr>
          <p:cNvPr id="24" name="Text 22"/>
          <p:cNvSpPr txBox="1"/>
          <p:nvPr/>
        </p:nvSpPr>
        <p:spPr>
          <a:xfrm>
            <a:off x="2011680" y="3904488"/>
            <a:ext cx="731520" cy="228600"/>
          </a:xfrm>
          <a:prstGeom prst="rect">
            <a:avLst/>
          </a:prstGeom>
          <a:noFill/>
          <a:ln/>
        </p:spPr>
        <p:txBody>
          <a:bodyPr wrap="square" lIns="0" tIns="0" rIns="0" bIns="0" rtlCol="0" anchor="t"/>
          <a:lstStyle/>
          <a:p>
            <a:pPr algn="ctr" indent="0" marL="0">
              <a:buNone/>
            </a:pPr>
            <a:r>
              <a:rPr lang="en-US" sz="900" spc="100" kern="0" dirty="0">
                <a:solidFill>
                  <a:srgbClr val="FAFAF8"/>
                </a:solidFill>
                <a:latin typeface="Consolas" pitchFamily="34" charset="0"/>
                <a:ea typeface="Consolas" pitchFamily="34" charset="-122"/>
                <a:cs typeface="Consolas" pitchFamily="34" charset="-120"/>
              </a:rPr>
              <a:t>INDIA</a:t>
            </a:r>
            <a:endParaRPr lang="en-US" sz="900" dirty="0"/>
          </a:p>
        </p:txBody>
      </p:sp>
      <p:sp>
        <p:nvSpPr>
          <p:cNvPr id="25" name="Text 23"/>
          <p:cNvSpPr txBox="1"/>
          <p:nvPr/>
        </p:nvSpPr>
        <p:spPr>
          <a:xfrm>
            <a:off x="2926080" y="3858768"/>
            <a:ext cx="5303520" cy="5486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Enterprises begin structured preparation</a:t>
            </a:r>
            <a:endParaRPr lang="en-US" sz="1500" dirty="0"/>
          </a:p>
        </p:txBody>
      </p:sp>
      <p:sp>
        <p:nvSpPr>
          <p:cNvPr id="26" name="Shape 24"/>
          <p:cNvSpPr/>
          <p:nvPr/>
        </p:nvSpPr>
        <p:spPr>
          <a:xfrm>
            <a:off x="548640" y="4453128"/>
            <a:ext cx="146304" cy="146304"/>
          </a:xfrm>
          <a:prstGeom prst="rect">
            <a:avLst/>
          </a:prstGeom>
          <a:solidFill>
            <a:srgbClr val="0A0A0A"/>
          </a:solidFill>
          <a:ln/>
        </p:spPr>
      </p:sp>
      <p:sp>
        <p:nvSpPr>
          <p:cNvPr id="27" name="Text 25"/>
          <p:cNvSpPr txBox="1"/>
          <p:nvPr/>
        </p:nvSpPr>
        <p:spPr>
          <a:xfrm>
            <a:off x="960120" y="4389120"/>
            <a:ext cx="1005840" cy="365760"/>
          </a:xfrm>
          <a:prstGeom prst="rect">
            <a:avLst/>
          </a:prstGeom>
          <a:noFill/>
          <a:ln/>
        </p:spPr>
        <p:txBody>
          <a:bodyPr wrap="square" lIns="0" tIns="0" rIns="0" bIns="0" rtlCol="0" anchor="t"/>
          <a:lstStyle/>
          <a:p>
            <a:pPr indent="0" marL="0">
              <a:buNone/>
            </a:pPr>
            <a:r>
              <a:rPr lang="en-US" sz="2000" b="1" dirty="0">
                <a:solidFill>
                  <a:srgbClr val="0A0A0A"/>
                </a:solidFill>
                <a:latin typeface="Consolas" pitchFamily="34" charset="0"/>
                <a:ea typeface="Consolas" pitchFamily="34" charset="-122"/>
                <a:cs typeface="Consolas" pitchFamily="34" charset="-120"/>
              </a:rPr>
              <a:t>2030</a:t>
            </a:r>
            <a:endParaRPr lang="en-US" sz="2000" dirty="0"/>
          </a:p>
        </p:txBody>
      </p:sp>
      <p:sp>
        <p:nvSpPr>
          <p:cNvPr id="28" name="Shape 26"/>
          <p:cNvSpPr/>
          <p:nvPr/>
        </p:nvSpPr>
        <p:spPr>
          <a:xfrm>
            <a:off x="2011680" y="4425696"/>
            <a:ext cx="731520" cy="237744"/>
          </a:xfrm>
          <a:prstGeom prst="rect">
            <a:avLst/>
          </a:prstGeom>
          <a:ln w="9525">
            <a:solidFill>
              <a:srgbClr val="0A0A0A"/>
            </a:solidFill>
            <a:prstDash val="solid"/>
          </a:ln>
        </p:spPr>
      </p:sp>
      <p:sp>
        <p:nvSpPr>
          <p:cNvPr id="29" name="Text 27"/>
          <p:cNvSpPr txBox="1"/>
          <p:nvPr/>
        </p:nvSpPr>
        <p:spPr>
          <a:xfrm>
            <a:off x="2011680" y="4453128"/>
            <a:ext cx="731520" cy="228600"/>
          </a:xfrm>
          <a:prstGeom prst="rect">
            <a:avLst/>
          </a:prstGeom>
          <a:noFill/>
          <a:ln/>
        </p:spPr>
        <p:txBody>
          <a:bodyPr wrap="square" lIns="0" tIns="0" rIns="0" bIns="0" rtlCol="0" anchor="t"/>
          <a:lstStyle/>
          <a:p>
            <a:pPr algn="ctr" indent="0" marL="0">
              <a:buNone/>
            </a:pPr>
            <a:r>
              <a:rPr lang="en-US" sz="900" spc="100" kern="0" dirty="0">
                <a:solidFill>
                  <a:srgbClr val="0A0A0A"/>
                </a:solidFill>
                <a:latin typeface="Consolas" pitchFamily="34" charset="0"/>
                <a:ea typeface="Consolas" pitchFamily="34" charset="-122"/>
                <a:cs typeface="Consolas" pitchFamily="34" charset="-120"/>
              </a:rPr>
              <a:t>NIST</a:t>
            </a:r>
            <a:endParaRPr lang="en-US" sz="900" dirty="0"/>
          </a:p>
        </p:txBody>
      </p:sp>
      <p:sp>
        <p:nvSpPr>
          <p:cNvPr id="30" name="Text 28"/>
          <p:cNvSpPr txBox="1"/>
          <p:nvPr/>
        </p:nvSpPr>
        <p:spPr>
          <a:xfrm>
            <a:off x="2926080" y="4407408"/>
            <a:ext cx="5303520" cy="5486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RSA-2048 and similar algorithms deprecated</a:t>
            </a:r>
            <a:endParaRPr lang="en-US" sz="1500" dirty="0"/>
          </a:p>
        </p:txBody>
      </p:sp>
      <p:sp>
        <p:nvSpPr>
          <p:cNvPr id="31" name="Shape 29"/>
          <p:cNvSpPr/>
          <p:nvPr/>
        </p:nvSpPr>
        <p:spPr>
          <a:xfrm>
            <a:off x="548640" y="5001768"/>
            <a:ext cx="146304" cy="146304"/>
          </a:xfrm>
          <a:prstGeom prst="rect">
            <a:avLst/>
          </a:prstGeom>
          <a:solidFill>
            <a:srgbClr val="002FA7"/>
          </a:solidFill>
          <a:ln/>
        </p:spPr>
      </p:sp>
      <p:sp>
        <p:nvSpPr>
          <p:cNvPr id="32" name="Text 30"/>
          <p:cNvSpPr txBox="1"/>
          <p:nvPr/>
        </p:nvSpPr>
        <p:spPr>
          <a:xfrm>
            <a:off x="960120" y="4937760"/>
            <a:ext cx="1005840" cy="365760"/>
          </a:xfrm>
          <a:prstGeom prst="rect">
            <a:avLst/>
          </a:prstGeom>
          <a:noFill/>
          <a:ln/>
        </p:spPr>
        <p:txBody>
          <a:bodyPr wrap="square" lIns="0" tIns="0" rIns="0" bIns="0" rtlCol="0" anchor="t"/>
          <a:lstStyle/>
          <a:p>
            <a:pPr indent="0" marL="0">
              <a:buNone/>
            </a:pPr>
            <a:r>
              <a:rPr lang="en-US" sz="2000" b="1" dirty="0">
                <a:solidFill>
                  <a:srgbClr val="002FA7"/>
                </a:solidFill>
                <a:latin typeface="Consolas" pitchFamily="34" charset="0"/>
                <a:ea typeface="Consolas" pitchFamily="34" charset="-122"/>
                <a:cs typeface="Consolas" pitchFamily="34" charset="-120"/>
              </a:rPr>
              <a:t>2033</a:t>
            </a:r>
            <a:endParaRPr lang="en-US" sz="2000" dirty="0"/>
          </a:p>
        </p:txBody>
      </p:sp>
      <p:sp>
        <p:nvSpPr>
          <p:cNvPr id="33" name="Shape 31"/>
          <p:cNvSpPr/>
          <p:nvPr/>
        </p:nvSpPr>
        <p:spPr>
          <a:xfrm>
            <a:off x="2011680" y="4974336"/>
            <a:ext cx="731520" cy="237744"/>
          </a:xfrm>
          <a:prstGeom prst="rect">
            <a:avLst/>
          </a:prstGeom>
          <a:solidFill>
            <a:srgbClr val="002FA7"/>
          </a:solidFill>
          <a:ln w="9525">
            <a:solidFill>
              <a:srgbClr val="002FA7"/>
            </a:solidFill>
            <a:prstDash val="solid"/>
          </a:ln>
        </p:spPr>
      </p:sp>
      <p:sp>
        <p:nvSpPr>
          <p:cNvPr id="34" name="Text 32"/>
          <p:cNvSpPr txBox="1"/>
          <p:nvPr/>
        </p:nvSpPr>
        <p:spPr>
          <a:xfrm>
            <a:off x="2011680" y="5001768"/>
            <a:ext cx="731520" cy="228600"/>
          </a:xfrm>
          <a:prstGeom prst="rect">
            <a:avLst/>
          </a:prstGeom>
          <a:noFill/>
          <a:ln/>
        </p:spPr>
        <p:txBody>
          <a:bodyPr wrap="square" lIns="0" tIns="0" rIns="0" bIns="0" rtlCol="0" anchor="t"/>
          <a:lstStyle/>
          <a:p>
            <a:pPr algn="ctr" indent="0" marL="0">
              <a:buNone/>
            </a:pPr>
            <a:r>
              <a:rPr lang="en-US" sz="900" spc="100" kern="0" dirty="0">
                <a:solidFill>
                  <a:srgbClr val="FAFAF8"/>
                </a:solidFill>
                <a:latin typeface="Consolas" pitchFamily="34" charset="0"/>
                <a:ea typeface="Consolas" pitchFamily="34" charset="-122"/>
                <a:cs typeface="Consolas" pitchFamily="34" charset="-120"/>
              </a:rPr>
              <a:t>INDIA</a:t>
            </a:r>
            <a:endParaRPr lang="en-US" sz="900" dirty="0"/>
          </a:p>
        </p:txBody>
      </p:sp>
      <p:sp>
        <p:nvSpPr>
          <p:cNvPr id="35" name="Text 33"/>
          <p:cNvSpPr txBox="1"/>
          <p:nvPr/>
        </p:nvSpPr>
        <p:spPr>
          <a:xfrm>
            <a:off x="2926080" y="4956048"/>
            <a:ext cx="5303520" cy="5486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Full national adoption targeted</a:t>
            </a:r>
            <a:endParaRPr lang="en-US" sz="1500" dirty="0"/>
          </a:p>
        </p:txBody>
      </p:sp>
      <p:sp>
        <p:nvSpPr>
          <p:cNvPr id="36" name="Shape 34"/>
          <p:cNvSpPr/>
          <p:nvPr/>
        </p:nvSpPr>
        <p:spPr>
          <a:xfrm>
            <a:off x="548640" y="5550408"/>
            <a:ext cx="146304" cy="146304"/>
          </a:xfrm>
          <a:prstGeom prst="rect">
            <a:avLst/>
          </a:prstGeom>
          <a:solidFill>
            <a:srgbClr val="0A0A0A"/>
          </a:solidFill>
          <a:ln/>
        </p:spPr>
      </p:sp>
      <p:sp>
        <p:nvSpPr>
          <p:cNvPr id="37" name="Text 35"/>
          <p:cNvSpPr txBox="1"/>
          <p:nvPr/>
        </p:nvSpPr>
        <p:spPr>
          <a:xfrm>
            <a:off x="960120" y="5486400"/>
            <a:ext cx="1005840" cy="365760"/>
          </a:xfrm>
          <a:prstGeom prst="rect">
            <a:avLst/>
          </a:prstGeom>
          <a:noFill/>
          <a:ln/>
        </p:spPr>
        <p:txBody>
          <a:bodyPr wrap="square" lIns="0" tIns="0" rIns="0" bIns="0" rtlCol="0" anchor="t"/>
          <a:lstStyle/>
          <a:p>
            <a:pPr indent="0" marL="0">
              <a:buNone/>
            </a:pPr>
            <a:r>
              <a:rPr lang="en-US" sz="2000" b="1" dirty="0">
                <a:solidFill>
                  <a:srgbClr val="0A0A0A"/>
                </a:solidFill>
                <a:latin typeface="Consolas" pitchFamily="34" charset="0"/>
                <a:ea typeface="Consolas" pitchFamily="34" charset="-122"/>
                <a:cs typeface="Consolas" pitchFamily="34" charset="-120"/>
              </a:rPr>
              <a:t>2035</a:t>
            </a:r>
            <a:endParaRPr lang="en-US" sz="2000" dirty="0"/>
          </a:p>
        </p:txBody>
      </p:sp>
      <p:sp>
        <p:nvSpPr>
          <p:cNvPr id="38" name="Shape 36"/>
          <p:cNvSpPr/>
          <p:nvPr/>
        </p:nvSpPr>
        <p:spPr>
          <a:xfrm>
            <a:off x="2011680" y="5522976"/>
            <a:ext cx="731520" cy="237744"/>
          </a:xfrm>
          <a:prstGeom prst="rect">
            <a:avLst/>
          </a:prstGeom>
          <a:ln w="9525">
            <a:solidFill>
              <a:srgbClr val="0A0A0A"/>
            </a:solidFill>
            <a:prstDash val="solid"/>
          </a:ln>
        </p:spPr>
      </p:sp>
      <p:sp>
        <p:nvSpPr>
          <p:cNvPr id="39" name="Text 37"/>
          <p:cNvSpPr txBox="1"/>
          <p:nvPr/>
        </p:nvSpPr>
        <p:spPr>
          <a:xfrm>
            <a:off x="2011680" y="5550408"/>
            <a:ext cx="731520" cy="228600"/>
          </a:xfrm>
          <a:prstGeom prst="rect">
            <a:avLst/>
          </a:prstGeom>
          <a:noFill/>
          <a:ln/>
        </p:spPr>
        <p:txBody>
          <a:bodyPr wrap="square" lIns="0" tIns="0" rIns="0" bIns="0" rtlCol="0" anchor="t"/>
          <a:lstStyle/>
          <a:p>
            <a:pPr algn="ctr" indent="0" marL="0">
              <a:buNone/>
            </a:pPr>
            <a:r>
              <a:rPr lang="en-US" sz="900" spc="100" kern="0" dirty="0">
                <a:solidFill>
                  <a:srgbClr val="0A0A0A"/>
                </a:solidFill>
                <a:latin typeface="Consolas" pitchFamily="34" charset="0"/>
                <a:ea typeface="Consolas" pitchFamily="34" charset="-122"/>
                <a:cs typeface="Consolas" pitchFamily="34" charset="-120"/>
              </a:rPr>
              <a:t>NIST</a:t>
            </a:r>
            <a:endParaRPr lang="en-US" sz="900" dirty="0"/>
          </a:p>
        </p:txBody>
      </p:sp>
      <p:sp>
        <p:nvSpPr>
          <p:cNvPr id="40" name="Text 38"/>
          <p:cNvSpPr txBox="1"/>
          <p:nvPr/>
        </p:nvSpPr>
        <p:spPr>
          <a:xfrm>
            <a:off x="2926080" y="5504688"/>
            <a:ext cx="5303520" cy="5486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Quantum-vulnerable algorithms disallowed</a:t>
            </a:r>
            <a:endParaRPr lang="en-US" sz="1500" dirty="0"/>
          </a:p>
        </p:txBody>
      </p:sp>
      <p:sp>
        <p:nvSpPr>
          <p:cNvPr id="41" name="Shape 39"/>
          <p:cNvSpPr/>
          <p:nvPr/>
        </p:nvSpPr>
        <p:spPr>
          <a:xfrm>
            <a:off x="8595360" y="2743200"/>
            <a:ext cx="3047695" cy="0"/>
          </a:xfrm>
          <a:prstGeom prst="line">
            <a:avLst/>
          </a:prstGeom>
          <a:noFill/>
          <a:ln w="25400">
            <a:solidFill>
              <a:srgbClr val="002FA7"/>
            </a:solidFill>
            <a:prstDash val="solid"/>
          </a:ln>
        </p:spPr>
      </p:sp>
      <p:sp>
        <p:nvSpPr>
          <p:cNvPr id="42" name="Text 40"/>
          <p:cNvSpPr txBox="1"/>
          <p:nvPr/>
        </p:nvSpPr>
        <p:spPr>
          <a:xfrm>
            <a:off x="8595360" y="2880360"/>
            <a:ext cx="3108960" cy="228600"/>
          </a:xfrm>
          <a:prstGeom prst="rect">
            <a:avLst/>
          </a:prstGeom>
          <a:noFill/>
          <a:ln/>
        </p:spPr>
        <p:txBody>
          <a:bodyPr wrap="square" lIns="0" tIns="0" rIns="0" bIns="0" rtlCol="0" anchor="t"/>
          <a:lstStyle/>
          <a:p>
            <a:pPr indent="0" marL="0">
              <a:buNone/>
            </a:pPr>
            <a:r>
              <a:rPr lang="en-US" sz="1000" spc="200" kern="0" dirty="0">
                <a:solidFill>
                  <a:srgbClr val="002FA7"/>
                </a:solidFill>
                <a:latin typeface="Consolas" pitchFamily="34" charset="0"/>
                <a:ea typeface="Consolas" pitchFamily="34" charset="-122"/>
                <a:cs typeface="Consolas" pitchFamily="34" charset="-120"/>
              </a:rPr>
              <a:t>INDIA'S TASK FORCE CALLS FOR</a:t>
            </a:r>
            <a:endParaRPr lang="en-US" sz="1000" dirty="0"/>
          </a:p>
        </p:txBody>
      </p:sp>
      <p:sp>
        <p:nvSpPr>
          <p:cNvPr id="43" name="Text 41"/>
          <p:cNvSpPr txBox="1"/>
          <p:nvPr/>
        </p:nvSpPr>
        <p:spPr>
          <a:xfrm>
            <a:off x="8595360" y="3200400"/>
            <a:ext cx="3017520" cy="1645920"/>
          </a:xfrm>
          <a:prstGeom prst="rect">
            <a:avLst/>
          </a:prstGeom>
          <a:noFill/>
          <a:ln/>
        </p:spPr>
        <p:txBody>
          <a:bodyPr wrap="square" lIns="0" tIns="0" rIns="0" bIns="0" rtlCol="0" anchor="t"/>
          <a:lstStyle/>
          <a:p>
            <a:pPr indent="0" marL="0">
              <a:buNone/>
            </a:pPr>
            <a:r>
              <a:rPr lang="en-US" sz="1800" b="1" dirty="0">
                <a:solidFill>
                  <a:srgbClr val="0A0A0A"/>
                </a:solidFill>
                <a:latin typeface="Inter" pitchFamily="34" charset="0"/>
                <a:ea typeface="Inter" pitchFamily="34" charset="-122"/>
                <a:cs typeface="Inter" pitchFamily="34" charset="-120"/>
              </a:rPr>
              <a:t>Crypto inventories, vendor crypto bills of materials, and quantum-safe procurement.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OUR APPROACH</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S09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№09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№09 · OUR APPROACH</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TraceCore builds post-quantum protection</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into the lab record.</a:t>
            </a:r>
            <a:endParaRPr lang="en-US" sz="4000" dirty="0"/>
          </a:p>
        </p:txBody>
      </p:sp>
      <p:sp>
        <p:nvSpPr>
          <p:cNvPr id="10" name="Shape 8"/>
          <p:cNvSpPr/>
          <p:nvPr/>
        </p:nvSpPr>
        <p:spPr>
          <a:xfrm>
            <a:off x="548640" y="2606040"/>
            <a:ext cx="11094415" cy="0"/>
          </a:xfrm>
          <a:prstGeom prst="line">
            <a:avLst/>
          </a:prstGeom>
          <a:noFill/>
          <a:ln w="25400">
            <a:solidFill>
              <a:srgbClr val="002FA7"/>
            </a:solidFill>
            <a:prstDash val="solid"/>
          </a:ln>
        </p:spPr>
      </p:sp>
      <p:sp>
        <p:nvSpPr>
          <p:cNvPr id="11" name="Shape 9"/>
          <p:cNvSpPr/>
          <p:nvPr/>
        </p:nvSpPr>
        <p:spPr>
          <a:xfrm>
            <a:off x="548640" y="2788920"/>
            <a:ext cx="2636444" cy="2377440"/>
          </a:xfrm>
          <a:prstGeom prst="rect">
            <a:avLst/>
          </a:prstGeom>
          <a:ln w="9525">
            <a:solidFill>
              <a:srgbClr val="0A0A0A"/>
            </a:solidFill>
            <a:prstDash val="solid"/>
          </a:ln>
        </p:spPr>
      </p:sp>
      <p:sp>
        <p:nvSpPr>
          <p:cNvPr id="12" name="Text 10"/>
          <p:cNvSpPr txBox="1"/>
          <p:nvPr/>
        </p:nvSpPr>
        <p:spPr>
          <a:xfrm>
            <a:off x="731520" y="2971800"/>
            <a:ext cx="2270684" cy="228600"/>
          </a:xfrm>
          <a:prstGeom prst="rect">
            <a:avLst/>
          </a:prstGeom>
          <a:noFill/>
          <a:ln/>
        </p:spPr>
        <p:txBody>
          <a:bodyPr wrap="square" lIns="0" tIns="0" rIns="0" bIns="0" rtlCol="0" anchor="t"/>
          <a:lstStyle/>
          <a:p>
            <a:pPr indent="0" marL="0">
              <a:buNone/>
            </a:pPr>
            <a:r>
              <a:rPr lang="en-US" sz="900" spc="200" kern="0" dirty="0">
                <a:solidFill>
                  <a:srgbClr val="0A0A0A"/>
                </a:solidFill>
                <a:latin typeface="Consolas" pitchFamily="34" charset="0"/>
                <a:ea typeface="Consolas" pitchFamily="34" charset="-122"/>
                <a:cs typeface="Consolas" pitchFamily="34" charset="-120"/>
              </a:rPr>
              <a:t>LAYER 01</a:t>
            </a:r>
            <a:endParaRPr lang="en-US" sz="900" dirty="0"/>
          </a:p>
        </p:txBody>
      </p:sp>
      <p:sp>
        <p:nvSpPr>
          <p:cNvPr id="13" name="Text 11"/>
          <p:cNvSpPr txBox="1"/>
          <p:nvPr/>
        </p:nvSpPr>
        <p:spPr>
          <a:xfrm>
            <a:off x="731520" y="3246120"/>
            <a:ext cx="2270684" cy="731520"/>
          </a:xfrm>
          <a:prstGeom prst="rect">
            <a:avLst/>
          </a:prstGeom>
          <a:noFill/>
          <a:ln/>
        </p:spPr>
        <p:txBody>
          <a:bodyPr wrap="square" lIns="0" tIns="0" rIns="0" bIns="0" rtlCol="0" anchor="t"/>
          <a:lstStyle/>
          <a:p>
            <a:pPr indent="0" marL="0">
              <a:buNone/>
            </a:pPr>
            <a:r>
              <a:rPr lang="en-US" sz="2000" b="1" dirty="0">
                <a:solidFill>
                  <a:srgbClr val="0A0A0A"/>
                </a:solidFill>
                <a:latin typeface="Inter" pitchFamily="34" charset="0"/>
                <a:ea typeface="Inter" pitchFamily="34" charset="-122"/>
                <a:cs typeface="Inter" pitchFamily="34" charset="-120"/>
              </a:rPr>
              <a:t>Access</a:t>
            </a:r>
            <a:endParaRPr lang="en-US" sz="2000" dirty="0"/>
          </a:p>
        </p:txBody>
      </p:sp>
      <p:sp>
        <p:nvSpPr>
          <p:cNvPr id="14" name="Text 12"/>
          <p:cNvSpPr txBox="1"/>
          <p:nvPr/>
        </p:nvSpPr>
        <p:spPr>
          <a:xfrm>
            <a:off x="731520" y="3977640"/>
            <a:ext cx="2270684" cy="731520"/>
          </a:xfrm>
          <a:prstGeom prst="rect">
            <a:avLst/>
          </a:prstGeom>
          <a:noFill/>
          <a:ln/>
        </p:spPr>
        <p:txBody>
          <a:bodyPr wrap="square" lIns="0" tIns="0" rIns="0" bIns="0" rtlCol="0" anchor="t"/>
          <a:lstStyle/>
          <a:p>
            <a:pPr indent="0" marL="0">
              <a:buNone/>
            </a:pPr>
            <a:r>
              <a:rPr lang="en-US" sz="1400" dirty="0">
                <a:solidFill>
                  <a:srgbClr val="0A0A0A"/>
                </a:solidFill>
                <a:latin typeface="Inter" pitchFamily="34" charset="0"/>
                <a:ea typeface="Inter" pitchFamily="34" charset="-122"/>
                <a:cs typeface="Inter" pitchFamily="34" charset="-120"/>
              </a:rPr>
              <a:t>Passwordless sign-in for each user</a:t>
            </a:r>
            <a:endParaRPr lang="en-US" sz="1400" dirty="0"/>
          </a:p>
        </p:txBody>
      </p:sp>
      <p:sp>
        <p:nvSpPr>
          <p:cNvPr id="15" name="Text 13"/>
          <p:cNvSpPr txBox="1"/>
          <p:nvPr/>
        </p:nvSpPr>
        <p:spPr>
          <a:xfrm>
            <a:off x="731520" y="4754880"/>
            <a:ext cx="914400" cy="228600"/>
          </a:xfrm>
          <a:prstGeom prst="rect">
            <a:avLst/>
          </a:prstGeom>
          <a:noFill/>
          <a:ln/>
        </p:spPr>
        <p:txBody>
          <a:bodyPr wrap="square" lIns="0" tIns="0" rIns="0" bIns="0" rtlCol="0" anchor="t"/>
          <a:lstStyle/>
          <a:p>
            <a:pPr indent="0" marL="0">
              <a:buNone/>
            </a:pPr>
            <a:r>
              <a:rPr lang="en-US" sz="900" spc="200" kern="0" dirty="0">
                <a:solidFill>
                  <a:srgbClr val="0A0A0A"/>
                </a:solidFill>
                <a:latin typeface="Consolas" pitchFamily="34" charset="0"/>
                <a:ea typeface="Consolas" pitchFamily="34" charset="-122"/>
                <a:cs typeface="Consolas" pitchFamily="34" charset="-120"/>
              </a:rPr>
              <a:t>STATUS</a:t>
            </a:r>
            <a:endParaRPr lang="en-US" sz="900" dirty="0"/>
          </a:p>
        </p:txBody>
      </p:sp>
      <p:sp>
        <p:nvSpPr>
          <p:cNvPr id="16" name="Text 14"/>
          <p:cNvSpPr txBox="1"/>
          <p:nvPr/>
        </p:nvSpPr>
        <p:spPr>
          <a:xfrm>
            <a:off x="1463040" y="4736592"/>
            <a:ext cx="1371600" cy="274320"/>
          </a:xfrm>
          <a:prstGeom prst="rect">
            <a:avLst/>
          </a:prstGeom>
          <a:noFill/>
          <a:ln/>
        </p:spPr>
        <p:txBody>
          <a:bodyPr wrap="square" lIns="0" tIns="0" rIns="0" bIns="0" rtlCol="0" anchor="t"/>
          <a:lstStyle/>
          <a:p>
            <a:pPr indent="0" marL="0">
              <a:buNone/>
            </a:pPr>
            <a:r>
              <a:rPr lang="en-US" sz="1100" dirty="0">
                <a:solidFill>
                  <a:srgbClr val="0A0A0A"/>
                </a:solidFill>
                <a:highlight>
                  <a:srgbClr val="FFE36E"/>
                </a:highlight>
                <a:latin typeface="Consolas" pitchFamily="34" charset="0"/>
                <a:ea typeface="Consolas" pitchFamily="34" charset="-122"/>
                <a:cs typeface="Consolas" pitchFamily="34" charset="-120"/>
              </a:rPr>
              <a:t>[CONFIRM]</a:t>
            </a:r>
            <a:endParaRPr lang="en-US" sz="1600" dirty="0"/>
          </a:p>
        </p:txBody>
      </p:sp>
      <p:sp>
        <p:nvSpPr>
          <p:cNvPr id="17" name="Shape 15"/>
          <p:cNvSpPr/>
          <p:nvPr/>
        </p:nvSpPr>
        <p:spPr>
          <a:xfrm>
            <a:off x="3367964" y="2788920"/>
            <a:ext cx="2636444" cy="2377440"/>
          </a:xfrm>
          <a:prstGeom prst="rect">
            <a:avLst/>
          </a:prstGeom>
          <a:ln w="9525">
            <a:solidFill>
              <a:srgbClr val="0A0A0A"/>
            </a:solidFill>
            <a:prstDash val="solid"/>
          </a:ln>
        </p:spPr>
      </p:sp>
      <p:sp>
        <p:nvSpPr>
          <p:cNvPr id="18" name="Text 16"/>
          <p:cNvSpPr txBox="1"/>
          <p:nvPr/>
        </p:nvSpPr>
        <p:spPr>
          <a:xfrm>
            <a:off x="3550844" y="2971800"/>
            <a:ext cx="2270684" cy="228600"/>
          </a:xfrm>
          <a:prstGeom prst="rect">
            <a:avLst/>
          </a:prstGeom>
          <a:noFill/>
          <a:ln/>
        </p:spPr>
        <p:txBody>
          <a:bodyPr wrap="square" lIns="0" tIns="0" rIns="0" bIns="0" rtlCol="0" anchor="t"/>
          <a:lstStyle/>
          <a:p>
            <a:pPr indent="0" marL="0">
              <a:buNone/>
            </a:pPr>
            <a:r>
              <a:rPr lang="en-US" sz="900" spc="200" kern="0" dirty="0">
                <a:solidFill>
                  <a:srgbClr val="0A0A0A"/>
                </a:solidFill>
                <a:latin typeface="Consolas" pitchFamily="34" charset="0"/>
                <a:ea typeface="Consolas" pitchFamily="34" charset="-122"/>
                <a:cs typeface="Consolas" pitchFamily="34" charset="-120"/>
              </a:rPr>
              <a:t>LAYER 02 · ML-KEM</a:t>
            </a:r>
            <a:endParaRPr lang="en-US" sz="900" dirty="0"/>
          </a:p>
        </p:txBody>
      </p:sp>
      <p:sp>
        <p:nvSpPr>
          <p:cNvPr id="19" name="Text 17"/>
          <p:cNvSpPr txBox="1"/>
          <p:nvPr/>
        </p:nvSpPr>
        <p:spPr>
          <a:xfrm>
            <a:off x="3550844" y="3246120"/>
            <a:ext cx="2270684" cy="731520"/>
          </a:xfrm>
          <a:prstGeom prst="rect">
            <a:avLst/>
          </a:prstGeom>
          <a:noFill/>
          <a:ln/>
        </p:spPr>
        <p:txBody>
          <a:bodyPr wrap="square" lIns="0" tIns="0" rIns="0" bIns="0" rtlCol="0" anchor="t"/>
          <a:lstStyle/>
          <a:p>
            <a:pPr indent="0" marL="0">
              <a:buNone/>
            </a:pPr>
            <a:r>
              <a:rPr lang="en-US" sz="2000" b="1" dirty="0">
                <a:solidFill>
                  <a:srgbClr val="0A0A0A"/>
                </a:solidFill>
                <a:latin typeface="Inter" pitchFamily="34" charset="0"/>
                <a:ea typeface="Inter" pitchFamily="34" charset="-122"/>
                <a:cs typeface="Inter" pitchFamily="34" charset="-120"/>
              </a:rPr>
              <a:t>Transport</a:t>
            </a:r>
            <a:endParaRPr lang="en-US" sz="2000" dirty="0"/>
          </a:p>
        </p:txBody>
      </p:sp>
      <p:sp>
        <p:nvSpPr>
          <p:cNvPr id="20" name="Text 18"/>
          <p:cNvSpPr txBox="1"/>
          <p:nvPr/>
        </p:nvSpPr>
        <p:spPr>
          <a:xfrm>
            <a:off x="3550844" y="3977640"/>
            <a:ext cx="2270684" cy="731520"/>
          </a:xfrm>
          <a:prstGeom prst="rect">
            <a:avLst/>
          </a:prstGeom>
          <a:noFill/>
          <a:ln/>
        </p:spPr>
        <p:txBody>
          <a:bodyPr wrap="square" lIns="0" tIns="0" rIns="0" bIns="0" rtlCol="0" anchor="t"/>
          <a:lstStyle/>
          <a:p>
            <a:pPr indent="0" marL="0">
              <a:buNone/>
            </a:pPr>
            <a:r>
              <a:rPr lang="en-US" sz="1400" dirty="0">
                <a:solidFill>
                  <a:srgbClr val="0A0A0A"/>
                </a:solidFill>
                <a:latin typeface="Inter" pitchFamily="34" charset="0"/>
                <a:ea typeface="Inter" pitchFamily="34" charset="-122"/>
                <a:cs typeface="Inter" pitchFamily="34" charset="-120"/>
              </a:rPr>
              <a:t>Data moving between lab, instruments and server</a:t>
            </a:r>
            <a:endParaRPr lang="en-US" sz="1400" dirty="0"/>
          </a:p>
        </p:txBody>
      </p:sp>
      <p:sp>
        <p:nvSpPr>
          <p:cNvPr id="21" name="Text 19"/>
          <p:cNvSpPr txBox="1"/>
          <p:nvPr/>
        </p:nvSpPr>
        <p:spPr>
          <a:xfrm>
            <a:off x="3550844" y="4754880"/>
            <a:ext cx="914400" cy="228600"/>
          </a:xfrm>
          <a:prstGeom prst="rect">
            <a:avLst/>
          </a:prstGeom>
          <a:noFill/>
          <a:ln/>
        </p:spPr>
        <p:txBody>
          <a:bodyPr wrap="square" lIns="0" tIns="0" rIns="0" bIns="0" rtlCol="0" anchor="t"/>
          <a:lstStyle/>
          <a:p>
            <a:pPr indent="0" marL="0">
              <a:buNone/>
            </a:pPr>
            <a:r>
              <a:rPr lang="en-US" sz="900" spc="200" kern="0" dirty="0">
                <a:solidFill>
                  <a:srgbClr val="0A0A0A"/>
                </a:solidFill>
                <a:latin typeface="Consolas" pitchFamily="34" charset="0"/>
                <a:ea typeface="Consolas" pitchFamily="34" charset="-122"/>
                <a:cs typeface="Consolas" pitchFamily="34" charset="-120"/>
              </a:rPr>
              <a:t>STATUS</a:t>
            </a:r>
            <a:endParaRPr lang="en-US" sz="900" dirty="0"/>
          </a:p>
        </p:txBody>
      </p:sp>
      <p:sp>
        <p:nvSpPr>
          <p:cNvPr id="22" name="Text 20"/>
          <p:cNvSpPr txBox="1"/>
          <p:nvPr/>
        </p:nvSpPr>
        <p:spPr>
          <a:xfrm>
            <a:off x="4282364" y="4736592"/>
            <a:ext cx="1371600" cy="274320"/>
          </a:xfrm>
          <a:prstGeom prst="rect">
            <a:avLst/>
          </a:prstGeom>
          <a:noFill/>
          <a:ln/>
        </p:spPr>
        <p:txBody>
          <a:bodyPr wrap="square" lIns="0" tIns="0" rIns="0" bIns="0" rtlCol="0" anchor="t"/>
          <a:lstStyle/>
          <a:p>
            <a:pPr indent="0" marL="0">
              <a:buNone/>
            </a:pPr>
            <a:r>
              <a:rPr lang="en-US" sz="1100" dirty="0">
                <a:solidFill>
                  <a:srgbClr val="0A0A0A"/>
                </a:solidFill>
                <a:highlight>
                  <a:srgbClr val="FFE36E"/>
                </a:highlight>
                <a:latin typeface="Consolas" pitchFamily="34" charset="0"/>
                <a:ea typeface="Consolas" pitchFamily="34" charset="-122"/>
                <a:cs typeface="Consolas" pitchFamily="34" charset="-120"/>
              </a:rPr>
              <a:t>[CONFIRM]</a:t>
            </a:r>
            <a:endParaRPr lang="en-US" sz="1600" dirty="0"/>
          </a:p>
        </p:txBody>
      </p:sp>
      <p:sp>
        <p:nvSpPr>
          <p:cNvPr id="23" name="Shape 21"/>
          <p:cNvSpPr/>
          <p:nvPr/>
        </p:nvSpPr>
        <p:spPr>
          <a:xfrm>
            <a:off x="6187288" y="2788920"/>
            <a:ext cx="2636444" cy="2377440"/>
          </a:xfrm>
          <a:prstGeom prst="rect">
            <a:avLst/>
          </a:prstGeom>
          <a:ln w="9525">
            <a:solidFill>
              <a:srgbClr val="0A0A0A"/>
            </a:solidFill>
            <a:prstDash val="solid"/>
          </a:ln>
        </p:spPr>
      </p:sp>
      <p:sp>
        <p:nvSpPr>
          <p:cNvPr id="24" name="Text 22"/>
          <p:cNvSpPr txBox="1"/>
          <p:nvPr/>
        </p:nvSpPr>
        <p:spPr>
          <a:xfrm>
            <a:off x="6370168" y="2971800"/>
            <a:ext cx="2270684" cy="228600"/>
          </a:xfrm>
          <a:prstGeom prst="rect">
            <a:avLst/>
          </a:prstGeom>
          <a:noFill/>
          <a:ln/>
        </p:spPr>
        <p:txBody>
          <a:bodyPr wrap="square" lIns="0" tIns="0" rIns="0" bIns="0" rtlCol="0" anchor="t"/>
          <a:lstStyle/>
          <a:p>
            <a:pPr indent="0" marL="0">
              <a:buNone/>
            </a:pPr>
            <a:r>
              <a:rPr lang="en-US" sz="900" spc="200" kern="0" dirty="0">
                <a:solidFill>
                  <a:srgbClr val="0A0A0A"/>
                </a:solidFill>
                <a:latin typeface="Consolas" pitchFamily="34" charset="0"/>
                <a:ea typeface="Consolas" pitchFamily="34" charset="-122"/>
                <a:cs typeface="Consolas" pitchFamily="34" charset="-120"/>
              </a:rPr>
              <a:t>LAYER 03</a:t>
            </a:r>
            <a:endParaRPr lang="en-US" sz="900" dirty="0"/>
          </a:p>
        </p:txBody>
      </p:sp>
      <p:sp>
        <p:nvSpPr>
          <p:cNvPr id="25" name="Text 23"/>
          <p:cNvSpPr txBox="1"/>
          <p:nvPr/>
        </p:nvSpPr>
        <p:spPr>
          <a:xfrm>
            <a:off x="6370168" y="3246120"/>
            <a:ext cx="2270684" cy="731520"/>
          </a:xfrm>
          <a:prstGeom prst="rect">
            <a:avLst/>
          </a:prstGeom>
          <a:noFill/>
          <a:ln/>
        </p:spPr>
        <p:txBody>
          <a:bodyPr wrap="square" lIns="0" tIns="0" rIns="0" bIns="0" rtlCol="0" anchor="t"/>
          <a:lstStyle/>
          <a:p>
            <a:pPr indent="0" marL="0">
              <a:buNone/>
            </a:pPr>
            <a:r>
              <a:rPr lang="en-US" sz="2000" b="1" dirty="0">
                <a:solidFill>
                  <a:srgbClr val="0A0A0A"/>
                </a:solidFill>
                <a:latin typeface="Inter" pitchFamily="34" charset="0"/>
                <a:ea typeface="Inter" pitchFamily="34" charset="-122"/>
                <a:cs typeface="Inter" pitchFamily="34" charset="-120"/>
              </a:rPr>
              <a:t>Storage and keys</a:t>
            </a:r>
            <a:endParaRPr lang="en-US" sz="2000" dirty="0"/>
          </a:p>
        </p:txBody>
      </p:sp>
      <p:sp>
        <p:nvSpPr>
          <p:cNvPr id="26" name="Text 24"/>
          <p:cNvSpPr txBox="1"/>
          <p:nvPr/>
        </p:nvSpPr>
        <p:spPr>
          <a:xfrm>
            <a:off x="6370168" y="3977640"/>
            <a:ext cx="2270684" cy="731520"/>
          </a:xfrm>
          <a:prstGeom prst="rect">
            <a:avLst/>
          </a:prstGeom>
          <a:noFill/>
          <a:ln/>
        </p:spPr>
        <p:txBody>
          <a:bodyPr wrap="square" lIns="0" tIns="0" rIns="0" bIns="0" rtlCol="0" anchor="t"/>
          <a:lstStyle/>
          <a:p>
            <a:pPr indent="0" marL="0">
              <a:buNone/>
            </a:pPr>
            <a:r>
              <a:rPr lang="en-US" sz="1400" dirty="0">
                <a:solidFill>
                  <a:srgbClr val="0A0A0A"/>
                </a:solidFill>
                <a:latin typeface="Inter" pitchFamily="34" charset="0"/>
                <a:ea typeface="Inter" pitchFamily="34" charset="-122"/>
                <a:cs typeface="Inter" pitchFamily="34" charset="-120"/>
              </a:rPr>
              <a:t>Stored records and encryption keys</a:t>
            </a:r>
            <a:endParaRPr lang="en-US" sz="1400" dirty="0"/>
          </a:p>
        </p:txBody>
      </p:sp>
      <p:sp>
        <p:nvSpPr>
          <p:cNvPr id="27" name="Text 25"/>
          <p:cNvSpPr txBox="1"/>
          <p:nvPr/>
        </p:nvSpPr>
        <p:spPr>
          <a:xfrm>
            <a:off x="6370168" y="4754880"/>
            <a:ext cx="914400" cy="228600"/>
          </a:xfrm>
          <a:prstGeom prst="rect">
            <a:avLst/>
          </a:prstGeom>
          <a:noFill/>
          <a:ln/>
        </p:spPr>
        <p:txBody>
          <a:bodyPr wrap="square" lIns="0" tIns="0" rIns="0" bIns="0" rtlCol="0" anchor="t"/>
          <a:lstStyle/>
          <a:p>
            <a:pPr indent="0" marL="0">
              <a:buNone/>
            </a:pPr>
            <a:r>
              <a:rPr lang="en-US" sz="900" spc="200" kern="0" dirty="0">
                <a:solidFill>
                  <a:srgbClr val="0A0A0A"/>
                </a:solidFill>
                <a:latin typeface="Consolas" pitchFamily="34" charset="0"/>
                <a:ea typeface="Consolas" pitchFamily="34" charset="-122"/>
                <a:cs typeface="Consolas" pitchFamily="34" charset="-120"/>
              </a:rPr>
              <a:t>STATUS</a:t>
            </a:r>
            <a:endParaRPr lang="en-US" sz="900" dirty="0"/>
          </a:p>
        </p:txBody>
      </p:sp>
      <p:sp>
        <p:nvSpPr>
          <p:cNvPr id="28" name="Text 26"/>
          <p:cNvSpPr txBox="1"/>
          <p:nvPr/>
        </p:nvSpPr>
        <p:spPr>
          <a:xfrm>
            <a:off x="7101688" y="4736592"/>
            <a:ext cx="1371600" cy="274320"/>
          </a:xfrm>
          <a:prstGeom prst="rect">
            <a:avLst/>
          </a:prstGeom>
          <a:noFill/>
          <a:ln/>
        </p:spPr>
        <p:txBody>
          <a:bodyPr wrap="square" lIns="0" tIns="0" rIns="0" bIns="0" rtlCol="0" anchor="t"/>
          <a:lstStyle/>
          <a:p>
            <a:pPr indent="0" marL="0">
              <a:buNone/>
            </a:pPr>
            <a:r>
              <a:rPr lang="en-US" sz="1100" dirty="0">
                <a:solidFill>
                  <a:srgbClr val="0A0A0A"/>
                </a:solidFill>
                <a:highlight>
                  <a:srgbClr val="FFE36E"/>
                </a:highlight>
                <a:latin typeface="Consolas" pitchFamily="34" charset="0"/>
                <a:ea typeface="Consolas" pitchFamily="34" charset="-122"/>
                <a:cs typeface="Consolas" pitchFamily="34" charset="-120"/>
              </a:rPr>
              <a:t>[CONFIRM]</a:t>
            </a:r>
            <a:endParaRPr lang="en-US" sz="1600" dirty="0"/>
          </a:p>
        </p:txBody>
      </p:sp>
      <p:sp>
        <p:nvSpPr>
          <p:cNvPr id="29" name="Shape 27"/>
          <p:cNvSpPr/>
          <p:nvPr/>
        </p:nvSpPr>
        <p:spPr>
          <a:xfrm>
            <a:off x="9006611" y="2788920"/>
            <a:ext cx="2636444" cy="2377440"/>
          </a:xfrm>
          <a:prstGeom prst="rect">
            <a:avLst/>
          </a:prstGeom>
          <a:solidFill>
            <a:srgbClr val="002FA7"/>
          </a:solidFill>
          <a:ln w="9525">
            <a:solidFill>
              <a:srgbClr val="002FA7"/>
            </a:solidFill>
            <a:prstDash val="solid"/>
          </a:ln>
        </p:spPr>
      </p:sp>
      <p:sp>
        <p:nvSpPr>
          <p:cNvPr id="30" name="Text 28"/>
          <p:cNvSpPr txBox="1"/>
          <p:nvPr/>
        </p:nvSpPr>
        <p:spPr>
          <a:xfrm>
            <a:off x="9189491" y="2971800"/>
            <a:ext cx="2270684" cy="228600"/>
          </a:xfrm>
          <a:prstGeom prst="rect">
            <a:avLst/>
          </a:prstGeom>
          <a:noFill/>
          <a:ln/>
        </p:spPr>
        <p:txBody>
          <a:bodyPr wrap="square" lIns="0" tIns="0" rIns="0" bIns="0" rtlCol="0" anchor="t"/>
          <a:lstStyle/>
          <a:p>
            <a:pPr indent="0" marL="0">
              <a:buNone/>
            </a:pPr>
            <a:r>
              <a:rPr lang="en-US" sz="900" spc="200" kern="0" dirty="0">
                <a:solidFill>
                  <a:srgbClr val="FAFAF8"/>
                </a:solidFill>
                <a:latin typeface="Consolas" pitchFamily="34" charset="0"/>
                <a:ea typeface="Consolas" pitchFamily="34" charset="-122"/>
                <a:cs typeface="Consolas" pitchFamily="34" charset="-120"/>
              </a:rPr>
              <a:t>LAYER 04 · ML-DSA</a:t>
            </a:r>
            <a:endParaRPr lang="en-US" sz="900" dirty="0"/>
          </a:p>
        </p:txBody>
      </p:sp>
      <p:sp>
        <p:nvSpPr>
          <p:cNvPr id="31" name="Text 29"/>
          <p:cNvSpPr txBox="1"/>
          <p:nvPr/>
        </p:nvSpPr>
        <p:spPr>
          <a:xfrm>
            <a:off x="9189491" y="3246120"/>
            <a:ext cx="2270684" cy="731520"/>
          </a:xfrm>
          <a:prstGeom prst="rect">
            <a:avLst/>
          </a:prstGeom>
          <a:noFill/>
          <a:ln/>
        </p:spPr>
        <p:txBody>
          <a:bodyPr wrap="square" lIns="0" tIns="0" rIns="0" bIns="0" rtlCol="0" anchor="t"/>
          <a:lstStyle/>
          <a:p>
            <a:pPr indent="0" marL="0">
              <a:buNone/>
            </a:pPr>
            <a:r>
              <a:rPr lang="en-US" sz="2000" b="1" dirty="0">
                <a:solidFill>
                  <a:srgbClr val="FAFAF8"/>
                </a:solidFill>
                <a:latin typeface="Inter" pitchFamily="34" charset="0"/>
                <a:ea typeface="Inter" pitchFamily="34" charset="-122"/>
                <a:cs typeface="Inter" pitchFamily="34" charset="-120"/>
              </a:rPr>
              <a:t>Signatures and audit trail</a:t>
            </a:r>
            <a:endParaRPr lang="en-US" sz="2000" dirty="0"/>
          </a:p>
        </p:txBody>
      </p:sp>
      <p:sp>
        <p:nvSpPr>
          <p:cNvPr id="32" name="Text 30"/>
          <p:cNvSpPr txBox="1"/>
          <p:nvPr/>
        </p:nvSpPr>
        <p:spPr>
          <a:xfrm>
            <a:off x="9189491" y="3977640"/>
            <a:ext cx="2270684" cy="731520"/>
          </a:xfrm>
          <a:prstGeom prst="rect">
            <a:avLst/>
          </a:prstGeom>
          <a:noFill/>
          <a:ln/>
        </p:spPr>
        <p:txBody>
          <a:bodyPr wrap="square" lIns="0" tIns="0" rIns="0" bIns="0" rtlCol="0" anchor="t"/>
          <a:lstStyle/>
          <a:p>
            <a:pPr indent="0" marL="0">
              <a:buNone/>
            </a:pPr>
            <a:r>
              <a:rPr lang="en-US" sz="1400" dirty="0">
                <a:solidFill>
                  <a:srgbClr val="FAFAF8"/>
                </a:solidFill>
                <a:latin typeface="Inter" pitchFamily="34" charset="0"/>
                <a:ea typeface="Inter" pitchFamily="34" charset="-122"/>
                <a:cs typeface="Inter" pitchFamily="34" charset="-120"/>
              </a:rPr>
              <a:t>Approvals and every logged change</a:t>
            </a:r>
            <a:endParaRPr lang="en-US" sz="1400" dirty="0"/>
          </a:p>
        </p:txBody>
      </p:sp>
      <p:sp>
        <p:nvSpPr>
          <p:cNvPr id="33" name="Text 31"/>
          <p:cNvSpPr txBox="1"/>
          <p:nvPr/>
        </p:nvSpPr>
        <p:spPr>
          <a:xfrm>
            <a:off x="9189491" y="4754880"/>
            <a:ext cx="914400" cy="228600"/>
          </a:xfrm>
          <a:prstGeom prst="rect">
            <a:avLst/>
          </a:prstGeom>
          <a:noFill/>
          <a:ln/>
        </p:spPr>
        <p:txBody>
          <a:bodyPr wrap="square" lIns="0" tIns="0" rIns="0" bIns="0" rtlCol="0" anchor="t"/>
          <a:lstStyle/>
          <a:p>
            <a:pPr indent="0" marL="0">
              <a:buNone/>
            </a:pPr>
            <a:r>
              <a:rPr lang="en-US" sz="900" spc="200" kern="0" dirty="0">
                <a:solidFill>
                  <a:srgbClr val="FAFAF8"/>
                </a:solidFill>
                <a:latin typeface="Consolas" pitchFamily="34" charset="0"/>
                <a:ea typeface="Consolas" pitchFamily="34" charset="-122"/>
                <a:cs typeface="Consolas" pitchFamily="34" charset="-120"/>
              </a:rPr>
              <a:t>STATUS</a:t>
            </a:r>
            <a:endParaRPr lang="en-US" sz="900" dirty="0"/>
          </a:p>
        </p:txBody>
      </p:sp>
      <p:sp>
        <p:nvSpPr>
          <p:cNvPr id="34" name="Text 32"/>
          <p:cNvSpPr txBox="1"/>
          <p:nvPr/>
        </p:nvSpPr>
        <p:spPr>
          <a:xfrm>
            <a:off x="9921011" y="4736592"/>
            <a:ext cx="1371600" cy="274320"/>
          </a:xfrm>
          <a:prstGeom prst="rect">
            <a:avLst/>
          </a:prstGeom>
          <a:noFill/>
          <a:ln/>
        </p:spPr>
        <p:txBody>
          <a:bodyPr wrap="square" lIns="0" tIns="0" rIns="0" bIns="0" rtlCol="0" anchor="t"/>
          <a:lstStyle/>
          <a:p>
            <a:pPr indent="0" marL="0">
              <a:buNone/>
            </a:pPr>
            <a:r>
              <a:rPr lang="en-US" sz="1100" dirty="0">
                <a:solidFill>
                  <a:srgbClr val="0A0A0A"/>
                </a:solidFill>
                <a:highlight>
                  <a:srgbClr val="FFE36E"/>
                </a:highlight>
                <a:latin typeface="Consolas" pitchFamily="34" charset="0"/>
                <a:ea typeface="Consolas" pitchFamily="34" charset="-122"/>
                <a:cs typeface="Consolas" pitchFamily="34" charset="-120"/>
              </a:rPr>
              <a:t>[CONFIRM]</a:t>
            </a:r>
            <a:endParaRPr lang="en-US" sz="1600" dirty="0"/>
          </a:p>
        </p:txBody>
      </p:sp>
      <p:sp>
        <p:nvSpPr>
          <p:cNvPr id="35" name="Text 33"/>
          <p:cNvSpPr txBox="1"/>
          <p:nvPr/>
        </p:nvSpPr>
        <p:spPr>
          <a:xfrm>
            <a:off x="548640" y="5440680"/>
            <a:ext cx="5486400" cy="365760"/>
          </a:xfrm>
          <a:prstGeom prst="rect">
            <a:avLst/>
          </a:prstGeom>
          <a:noFill/>
          <a:ln/>
        </p:spPr>
        <p:txBody>
          <a:bodyPr wrap="square" lIns="0" tIns="0" rIns="0" bIns="0" rtlCol="0" anchor="t"/>
          <a:lstStyle/>
          <a:p>
            <a:pPr indent="0" marL="0">
              <a:buNone/>
            </a:pPr>
            <a:r>
              <a:rPr lang="en-US" sz="1400" dirty="0">
                <a:solidFill>
                  <a:srgbClr val="0A0A0A"/>
                </a:solidFill>
                <a:latin typeface="Inter" pitchFamily="34" charset="0"/>
                <a:ea typeface="Inter" pitchFamily="34" charset="-122"/>
                <a:cs typeface="Inter" pitchFamily="34" charset="-120"/>
              </a:rPr>
              <a:t>Crypto-agile: algorithms swap without a rebuild </a:t>
            </a:r>
            <a:pPr indent="0" marL="0">
              <a:buNone/>
            </a:pPr>
            <a:r>
              <a:rPr lang="en-US" sz="1400" dirty="0">
                <a:solidFill>
                  <a:srgbClr val="0A0A0A"/>
                </a:solidFill>
                <a:highlight>
                  <a:srgbClr val="FFE36E"/>
                </a:highlight>
                <a:latin typeface="Consolas" pitchFamily="34" charset="0"/>
                <a:ea typeface="Consolas" pitchFamily="34" charset="-122"/>
                <a:cs typeface="Consolas" pitchFamily="34" charset="-120"/>
              </a:rPr>
              <a:t>[CONFIRM]</a:t>
            </a:r>
            <a:endParaRPr lang="en-US" sz="1600" dirty="0"/>
          </a:p>
        </p:txBody>
      </p:sp>
      <p:sp>
        <p:nvSpPr>
          <p:cNvPr id="36" name="Text 34"/>
          <p:cNvSpPr txBox="1"/>
          <p:nvPr/>
        </p:nvSpPr>
        <p:spPr>
          <a:xfrm>
            <a:off x="6217920" y="5440680"/>
            <a:ext cx="5486400" cy="365760"/>
          </a:xfrm>
          <a:prstGeom prst="rect">
            <a:avLst/>
          </a:prstGeom>
          <a:noFill/>
          <a:ln/>
        </p:spPr>
        <p:txBody>
          <a:bodyPr wrap="square" lIns="0" tIns="0" rIns="0" bIns="0" rtlCol="0" anchor="t"/>
          <a:lstStyle/>
          <a:p>
            <a:pPr indent="0" marL="0">
              <a:buNone/>
            </a:pPr>
            <a:r>
              <a:rPr lang="en-US" sz="1400" dirty="0">
                <a:solidFill>
                  <a:srgbClr val="0A0A0A"/>
                </a:solidFill>
                <a:latin typeface="Inter" pitchFamily="34" charset="0"/>
                <a:ea typeface="Inter" pitchFamily="34" charset="-122"/>
                <a:cs typeface="Inter" pitchFamily="34" charset="-120"/>
              </a:rPr>
              <a:t>Runs on the lab's own servers: the lab keeps its data and keys </a:t>
            </a:r>
            <a:pPr indent="0" marL="0">
              <a:buNone/>
            </a:pPr>
            <a:r>
              <a:rPr lang="en-US" sz="1400" dirty="0">
                <a:solidFill>
                  <a:srgbClr val="0A0A0A"/>
                </a:solidFill>
                <a:highlight>
                  <a:srgbClr val="FFE36E"/>
                </a:highlight>
                <a:latin typeface="Consolas" pitchFamily="34" charset="0"/>
                <a:ea typeface="Consolas" pitchFamily="34" charset="-122"/>
                <a:cs typeface="Consolas" pitchFamily="34" charset="-120"/>
              </a:rPr>
              <a:t>[CONFIRM]</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THE PLATFORM</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S10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№10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№10 · WHAT THE PLATFORM DOES</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One connected record from sample to archive.</a:t>
            </a:r>
            <a:endParaRPr lang="en-US" sz="4000" dirty="0"/>
          </a:p>
        </p:txBody>
      </p:sp>
      <p:sp>
        <p:nvSpPr>
          <p:cNvPr id="10" name="Shape 8"/>
          <p:cNvSpPr/>
          <p:nvPr/>
        </p:nvSpPr>
        <p:spPr>
          <a:xfrm>
            <a:off x="548640" y="2606040"/>
            <a:ext cx="11094415" cy="0"/>
          </a:xfrm>
          <a:prstGeom prst="line">
            <a:avLst/>
          </a:prstGeom>
          <a:noFill/>
          <a:ln w="12700">
            <a:solidFill>
              <a:srgbClr val="0A0A0A"/>
            </a:solidFill>
            <a:prstDash val="solid"/>
          </a:ln>
        </p:spPr>
      </p:sp>
      <p:sp>
        <p:nvSpPr>
          <p:cNvPr id="11" name="Shape 9"/>
          <p:cNvSpPr/>
          <p:nvPr/>
        </p:nvSpPr>
        <p:spPr>
          <a:xfrm>
            <a:off x="548640" y="4233672"/>
            <a:ext cx="11094415" cy="0"/>
          </a:xfrm>
          <a:prstGeom prst="line">
            <a:avLst/>
          </a:prstGeom>
          <a:noFill/>
          <a:ln w="9525">
            <a:solidFill>
              <a:srgbClr val="C9C9C4"/>
            </a:solidFill>
            <a:prstDash val="solid"/>
          </a:ln>
        </p:spPr>
      </p:sp>
      <p:sp>
        <p:nvSpPr>
          <p:cNvPr id="12" name="Shape 10"/>
          <p:cNvSpPr/>
          <p:nvPr/>
        </p:nvSpPr>
        <p:spPr>
          <a:xfrm>
            <a:off x="548640" y="5861304"/>
            <a:ext cx="11094415" cy="0"/>
          </a:xfrm>
          <a:prstGeom prst="line">
            <a:avLst/>
          </a:prstGeom>
          <a:noFill/>
          <a:ln w="12700">
            <a:solidFill>
              <a:srgbClr val="0A0A0A"/>
            </a:solidFill>
            <a:prstDash val="solid"/>
          </a:ln>
        </p:spPr>
      </p:sp>
      <p:sp>
        <p:nvSpPr>
          <p:cNvPr id="13" name="Shape 11"/>
          <p:cNvSpPr/>
          <p:nvPr/>
        </p:nvSpPr>
        <p:spPr>
          <a:xfrm>
            <a:off x="4246778" y="2606040"/>
            <a:ext cx="0" cy="3255264"/>
          </a:xfrm>
          <a:prstGeom prst="line">
            <a:avLst/>
          </a:prstGeom>
          <a:noFill/>
          <a:ln w="9525">
            <a:solidFill>
              <a:srgbClr val="C9C9C4"/>
            </a:solidFill>
            <a:prstDash val="solid"/>
          </a:ln>
        </p:spPr>
      </p:sp>
      <p:sp>
        <p:nvSpPr>
          <p:cNvPr id="14" name="Shape 12"/>
          <p:cNvSpPr/>
          <p:nvPr/>
        </p:nvSpPr>
        <p:spPr>
          <a:xfrm>
            <a:off x="7944917" y="2606040"/>
            <a:ext cx="0" cy="3255264"/>
          </a:xfrm>
          <a:prstGeom prst="line">
            <a:avLst/>
          </a:prstGeom>
          <a:noFill/>
          <a:ln w="9525">
            <a:solidFill>
              <a:srgbClr val="C9C9C4"/>
            </a:solidFill>
            <a:prstDash val="solid"/>
          </a:ln>
        </p:spPr>
      </p:sp>
      <p:sp>
        <p:nvSpPr>
          <p:cNvPr id="15" name="Text 13"/>
          <p:cNvSpPr txBox="1"/>
          <p:nvPr/>
        </p:nvSpPr>
        <p:spPr>
          <a:xfrm>
            <a:off x="548640" y="2807208"/>
            <a:ext cx="9144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01</a:t>
            </a:r>
            <a:endParaRPr lang="en-US" sz="1100" dirty="0"/>
          </a:p>
        </p:txBody>
      </p:sp>
      <p:sp>
        <p:nvSpPr>
          <p:cNvPr id="16" name="Text 14"/>
          <p:cNvSpPr txBox="1"/>
          <p:nvPr/>
        </p:nvSpPr>
        <p:spPr>
          <a:xfrm>
            <a:off x="548640" y="3081528"/>
            <a:ext cx="3332378"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Samples</a:t>
            </a:r>
            <a:endParaRPr lang="en-US" sz="2200" dirty="0"/>
          </a:p>
        </p:txBody>
      </p:sp>
      <p:sp>
        <p:nvSpPr>
          <p:cNvPr id="17" name="Text 15"/>
          <p:cNvSpPr txBox="1"/>
          <p:nvPr/>
        </p:nvSpPr>
        <p:spPr>
          <a:xfrm>
            <a:off x="548640" y="3538728"/>
            <a:ext cx="3286658" cy="73152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Registration, unique ID, storage location, status</a:t>
            </a:r>
            <a:endParaRPr lang="en-US" sz="1600" dirty="0"/>
          </a:p>
        </p:txBody>
      </p:sp>
      <p:sp>
        <p:nvSpPr>
          <p:cNvPr id="18" name="Text 16"/>
          <p:cNvSpPr txBox="1"/>
          <p:nvPr/>
        </p:nvSpPr>
        <p:spPr>
          <a:xfrm>
            <a:off x="4475378" y="2807208"/>
            <a:ext cx="9144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02</a:t>
            </a:r>
            <a:endParaRPr lang="en-US" sz="1100" dirty="0"/>
          </a:p>
        </p:txBody>
      </p:sp>
      <p:sp>
        <p:nvSpPr>
          <p:cNvPr id="19" name="Text 17"/>
          <p:cNvSpPr txBox="1"/>
          <p:nvPr/>
        </p:nvSpPr>
        <p:spPr>
          <a:xfrm>
            <a:off x="4475378" y="3081528"/>
            <a:ext cx="3332378"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Studies</a:t>
            </a:r>
            <a:endParaRPr lang="en-US" sz="2200" dirty="0"/>
          </a:p>
        </p:txBody>
      </p:sp>
      <p:sp>
        <p:nvSpPr>
          <p:cNvPr id="20" name="Text 18"/>
          <p:cNvSpPr txBox="1"/>
          <p:nvPr/>
        </p:nvSpPr>
        <p:spPr>
          <a:xfrm>
            <a:off x="4475378" y="3538728"/>
            <a:ext cx="3286658" cy="73152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Protocol, study director, sponsor, lifecycle</a:t>
            </a:r>
            <a:endParaRPr lang="en-US" sz="1600" dirty="0"/>
          </a:p>
        </p:txBody>
      </p:sp>
      <p:sp>
        <p:nvSpPr>
          <p:cNvPr id="21" name="Text 19"/>
          <p:cNvSpPr txBox="1"/>
          <p:nvPr/>
        </p:nvSpPr>
        <p:spPr>
          <a:xfrm>
            <a:off x="8173517" y="2807208"/>
            <a:ext cx="9144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03</a:t>
            </a:r>
            <a:endParaRPr lang="en-US" sz="1100" dirty="0"/>
          </a:p>
        </p:txBody>
      </p:sp>
      <p:sp>
        <p:nvSpPr>
          <p:cNvPr id="22" name="Text 20"/>
          <p:cNvSpPr txBox="1"/>
          <p:nvPr/>
        </p:nvSpPr>
        <p:spPr>
          <a:xfrm>
            <a:off x="8173517" y="3081528"/>
            <a:ext cx="3332378"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Testing</a:t>
            </a:r>
            <a:endParaRPr lang="en-US" sz="2200" dirty="0"/>
          </a:p>
        </p:txBody>
      </p:sp>
      <p:sp>
        <p:nvSpPr>
          <p:cNvPr id="23" name="Text 21"/>
          <p:cNvSpPr txBox="1"/>
          <p:nvPr/>
        </p:nvSpPr>
        <p:spPr>
          <a:xfrm>
            <a:off x="8173517" y="3538728"/>
            <a:ext cx="3286658" cy="73152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Instrument data captured directly, limits checked </a:t>
            </a:r>
            <a:pPr indent="0" marL="0">
              <a:buNone/>
            </a:pPr>
            <a:r>
              <a:rPr lang="en-US" sz="1400" dirty="0">
                <a:solidFill>
                  <a:srgbClr val="0A0A0A"/>
                </a:solidFill>
                <a:highlight>
                  <a:srgbClr val="FFE36E"/>
                </a:highlight>
                <a:latin typeface="Consolas" pitchFamily="34" charset="0"/>
                <a:ea typeface="Consolas" pitchFamily="34" charset="-122"/>
                <a:cs typeface="Consolas" pitchFamily="34" charset="-120"/>
              </a:rPr>
              <a:t>[CONFIRM which instruments]</a:t>
            </a:r>
            <a:endParaRPr lang="en-US" sz="1600" dirty="0"/>
          </a:p>
        </p:txBody>
      </p:sp>
      <p:sp>
        <p:nvSpPr>
          <p:cNvPr id="24" name="Text 22"/>
          <p:cNvSpPr txBox="1"/>
          <p:nvPr/>
        </p:nvSpPr>
        <p:spPr>
          <a:xfrm>
            <a:off x="548640" y="4434840"/>
            <a:ext cx="9144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04</a:t>
            </a:r>
            <a:endParaRPr lang="en-US" sz="1100" dirty="0"/>
          </a:p>
        </p:txBody>
      </p:sp>
      <p:sp>
        <p:nvSpPr>
          <p:cNvPr id="25" name="Text 23"/>
          <p:cNvSpPr txBox="1"/>
          <p:nvPr/>
        </p:nvSpPr>
        <p:spPr>
          <a:xfrm>
            <a:off x="548640" y="4709160"/>
            <a:ext cx="3332378"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Quality</a:t>
            </a:r>
            <a:endParaRPr lang="en-US" sz="2200" dirty="0"/>
          </a:p>
        </p:txBody>
      </p:sp>
      <p:sp>
        <p:nvSpPr>
          <p:cNvPr id="26" name="Text 24"/>
          <p:cNvSpPr txBox="1"/>
          <p:nvPr/>
        </p:nvSpPr>
        <p:spPr>
          <a:xfrm>
            <a:off x="548640" y="5166360"/>
            <a:ext cx="3286658" cy="73152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Deviations, CAPA, approvals</a:t>
            </a:r>
            <a:endParaRPr lang="en-US" sz="1600" dirty="0"/>
          </a:p>
        </p:txBody>
      </p:sp>
      <p:sp>
        <p:nvSpPr>
          <p:cNvPr id="27" name="Text 25"/>
          <p:cNvSpPr txBox="1"/>
          <p:nvPr/>
        </p:nvSpPr>
        <p:spPr>
          <a:xfrm>
            <a:off x="4475378" y="4434840"/>
            <a:ext cx="9144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05</a:t>
            </a:r>
            <a:endParaRPr lang="en-US" sz="1100" dirty="0"/>
          </a:p>
        </p:txBody>
      </p:sp>
      <p:sp>
        <p:nvSpPr>
          <p:cNvPr id="28" name="Text 26"/>
          <p:cNvSpPr txBox="1"/>
          <p:nvPr/>
        </p:nvSpPr>
        <p:spPr>
          <a:xfrm>
            <a:off x="4475378" y="4709160"/>
            <a:ext cx="3332378" cy="411480"/>
          </a:xfrm>
          <a:prstGeom prst="rect">
            <a:avLst/>
          </a:prstGeom>
          <a:noFill/>
          <a:ln/>
        </p:spPr>
        <p:txBody>
          <a:bodyPr wrap="square" lIns="0" tIns="0" rIns="0" bIns="0" rtlCol="0" anchor="t"/>
          <a:lstStyle/>
          <a:p>
            <a:pPr indent="0" marL="0">
              <a:buNone/>
            </a:pPr>
            <a:r>
              <a:rPr lang="en-US" sz="2200" b="1" dirty="0">
                <a:solidFill>
                  <a:srgbClr val="0A0A0A"/>
                </a:solidFill>
                <a:latin typeface="Inter" pitchFamily="34" charset="0"/>
                <a:ea typeface="Inter" pitchFamily="34" charset="-122"/>
                <a:cs typeface="Inter" pitchFamily="34" charset="-120"/>
              </a:rPr>
              <a:t>Reports</a:t>
            </a:r>
            <a:endParaRPr lang="en-US" sz="2200" dirty="0"/>
          </a:p>
        </p:txBody>
      </p:sp>
      <p:sp>
        <p:nvSpPr>
          <p:cNvPr id="29" name="Text 27"/>
          <p:cNvSpPr txBox="1"/>
          <p:nvPr/>
        </p:nvSpPr>
        <p:spPr>
          <a:xfrm>
            <a:off x="4475378" y="5166360"/>
            <a:ext cx="3286658" cy="73152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Version control, controlled release, retrieval</a:t>
            </a:r>
            <a:endParaRPr lang="en-US" sz="1600" dirty="0"/>
          </a:p>
        </p:txBody>
      </p:sp>
      <p:sp>
        <p:nvSpPr>
          <p:cNvPr id="30" name="Text 28"/>
          <p:cNvSpPr txBox="1"/>
          <p:nvPr/>
        </p:nvSpPr>
        <p:spPr>
          <a:xfrm>
            <a:off x="8173517" y="4434840"/>
            <a:ext cx="9144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06</a:t>
            </a:r>
            <a:endParaRPr lang="en-US" sz="1100" dirty="0"/>
          </a:p>
        </p:txBody>
      </p:sp>
      <p:sp>
        <p:nvSpPr>
          <p:cNvPr id="31" name="Text 29"/>
          <p:cNvSpPr txBox="1"/>
          <p:nvPr/>
        </p:nvSpPr>
        <p:spPr>
          <a:xfrm>
            <a:off x="8173517" y="4709160"/>
            <a:ext cx="3332378" cy="411480"/>
          </a:xfrm>
          <a:prstGeom prst="rect">
            <a:avLst/>
          </a:prstGeom>
          <a:noFill/>
          <a:ln/>
        </p:spPr>
        <p:txBody>
          <a:bodyPr wrap="square" lIns="0" tIns="0" rIns="0" bIns="0" rtlCol="0" anchor="t"/>
          <a:lstStyle/>
          <a:p>
            <a:pPr indent="0" marL="0">
              <a:buNone/>
            </a:pPr>
            <a:r>
              <a:rPr lang="en-US" sz="2200" b="1" dirty="0">
                <a:solidFill>
                  <a:srgbClr val="002FA7"/>
                </a:solidFill>
                <a:latin typeface="Inter" pitchFamily="34" charset="0"/>
                <a:ea typeface="Inter" pitchFamily="34" charset="-122"/>
                <a:cs typeface="Inter" pitchFamily="34" charset="-120"/>
              </a:rPr>
              <a:t>Integrity</a:t>
            </a:r>
            <a:endParaRPr lang="en-US" sz="2200" dirty="0"/>
          </a:p>
        </p:txBody>
      </p:sp>
      <p:sp>
        <p:nvSpPr>
          <p:cNvPr id="32" name="Text 30"/>
          <p:cNvSpPr txBox="1"/>
          <p:nvPr/>
        </p:nvSpPr>
        <p:spPr>
          <a:xfrm>
            <a:off x="8173517" y="5166360"/>
            <a:ext cx="3286658" cy="73152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Role-based access, server-set timestamps, a reason for every change, original value always kept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LIVE DEMO</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S11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№11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№11 · LIVE DEMO</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One sample, end to end.</a:t>
            </a:r>
            <a:endParaRPr lang="en-US" sz="4000" dirty="0"/>
          </a:p>
        </p:txBody>
      </p:sp>
      <p:sp>
        <p:nvSpPr>
          <p:cNvPr id="10" name="Shape 8"/>
          <p:cNvSpPr/>
          <p:nvPr/>
        </p:nvSpPr>
        <p:spPr>
          <a:xfrm>
            <a:off x="548640" y="2331720"/>
            <a:ext cx="5486400" cy="0"/>
          </a:xfrm>
          <a:prstGeom prst="line">
            <a:avLst/>
          </a:prstGeom>
          <a:noFill/>
          <a:ln w="9525">
            <a:solidFill>
              <a:srgbClr val="C9C9C4"/>
            </a:solidFill>
            <a:prstDash val="solid"/>
          </a:ln>
        </p:spPr>
      </p:sp>
      <p:sp>
        <p:nvSpPr>
          <p:cNvPr id="11" name="Text 9"/>
          <p:cNvSpPr txBox="1"/>
          <p:nvPr/>
        </p:nvSpPr>
        <p:spPr>
          <a:xfrm>
            <a:off x="548640" y="2441448"/>
            <a:ext cx="731520" cy="457200"/>
          </a:xfrm>
          <a:prstGeom prst="rect">
            <a:avLst/>
          </a:prstGeom>
          <a:noFill/>
          <a:ln/>
        </p:spPr>
        <p:txBody>
          <a:bodyPr wrap="square" lIns="0" tIns="0" rIns="0" bIns="0" rtlCol="0" anchor="t"/>
          <a:lstStyle/>
          <a:p>
            <a:pPr indent="0" marL="0">
              <a:buNone/>
            </a:pPr>
            <a:r>
              <a:rPr lang="en-US" sz="2400" dirty="0">
                <a:solidFill>
                  <a:srgbClr val="002FA7"/>
                </a:solidFill>
                <a:latin typeface="Inter Black" pitchFamily="34" charset="0"/>
                <a:ea typeface="Inter Black" pitchFamily="34" charset="-122"/>
                <a:cs typeface="Inter Black" pitchFamily="34" charset="-120"/>
              </a:rPr>
              <a:t>01</a:t>
            </a:r>
            <a:endParaRPr lang="en-US" sz="2400" dirty="0"/>
          </a:p>
        </p:txBody>
      </p:sp>
      <p:sp>
        <p:nvSpPr>
          <p:cNvPr id="12" name="Text 10"/>
          <p:cNvSpPr txBox="1"/>
          <p:nvPr/>
        </p:nvSpPr>
        <p:spPr>
          <a:xfrm>
            <a:off x="1371600" y="2487168"/>
            <a:ext cx="4663440" cy="548640"/>
          </a:xfrm>
          <a:prstGeom prst="rect">
            <a:avLst/>
          </a:prstGeom>
          <a:noFill/>
          <a:ln/>
        </p:spPr>
        <p:txBody>
          <a:bodyPr wrap="square" lIns="0" tIns="0" rIns="0" bIns="0" rtlCol="0" anchor="t"/>
          <a:lstStyle/>
          <a:p>
            <a:pPr indent="0" marL="0">
              <a:buNone/>
            </a:pPr>
            <a:r>
              <a:rPr lang="en-US" sz="1600" dirty="0">
                <a:solidFill>
                  <a:srgbClr val="0A0A0A"/>
                </a:solidFill>
                <a:latin typeface="Inter" pitchFamily="34" charset="0"/>
                <a:ea typeface="Inter" pitchFamily="34" charset="-122"/>
                <a:cs typeface="Inter" pitchFamily="34" charset="-120"/>
              </a:rPr>
              <a:t>Register a sample. The server sets the date; it cannot be changed.</a:t>
            </a:r>
            <a:endParaRPr lang="en-US" sz="1600" dirty="0"/>
          </a:p>
        </p:txBody>
      </p:sp>
      <p:sp>
        <p:nvSpPr>
          <p:cNvPr id="13" name="Shape 11"/>
          <p:cNvSpPr/>
          <p:nvPr/>
        </p:nvSpPr>
        <p:spPr>
          <a:xfrm>
            <a:off x="548640" y="3063240"/>
            <a:ext cx="5486400" cy="0"/>
          </a:xfrm>
          <a:prstGeom prst="line">
            <a:avLst/>
          </a:prstGeom>
          <a:noFill/>
          <a:ln w="9525">
            <a:solidFill>
              <a:srgbClr val="C9C9C4"/>
            </a:solidFill>
            <a:prstDash val="solid"/>
          </a:ln>
        </p:spPr>
      </p:sp>
      <p:sp>
        <p:nvSpPr>
          <p:cNvPr id="14" name="Text 12"/>
          <p:cNvSpPr txBox="1"/>
          <p:nvPr/>
        </p:nvSpPr>
        <p:spPr>
          <a:xfrm>
            <a:off x="548640" y="3172968"/>
            <a:ext cx="731520" cy="457200"/>
          </a:xfrm>
          <a:prstGeom prst="rect">
            <a:avLst/>
          </a:prstGeom>
          <a:noFill/>
          <a:ln/>
        </p:spPr>
        <p:txBody>
          <a:bodyPr wrap="square" lIns="0" tIns="0" rIns="0" bIns="0" rtlCol="0" anchor="t"/>
          <a:lstStyle/>
          <a:p>
            <a:pPr indent="0" marL="0">
              <a:buNone/>
            </a:pPr>
            <a:r>
              <a:rPr lang="en-US" sz="2400" dirty="0">
                <a:solidFill>
                  <a:srgbClr val="002FA7"/>
                </a:solidFill>
                <a:latin typeface="Inter Black" pitchFamily="34" charset="0"/>
                <a:ea typeface="Inter Black" pitchFamily="34" charset="-122"/>
                <a:cs typeface="Inter Black" pitchFamily="34" charset="-120"/>
              </a:rPr>
              <a:t>02</a:t>
            </a:r>
            <a:endParaRPr lang="en-US" sz="2400" dirty="0"/>
          </a:p>
        </p:txBody>
      </p:sp>
      <p:sp>
        <p:nvSpPr>
          <p:cNvPr id="15" name="Text 13"/>
          <p:cNvSpPr txBox="1"/>
          <p:nvPr/>
        </p:nvSpPr>
        <p:spPr>
          <a:xfrm>
            <a:off x="1371600" y="3218688"/>
            <a:ext cx="4663440" cy="548640"/>
          </a:xfrm>
          <a:prstGeom prst="rect">
            <a:avLst/>
          </a:prstGeom>
          <a:noFill/>
          <a:ln/>
        </p:spPr>
        <p:txBody>
          <a:bodyPr wrap="square" lIns="0" tIns="0" rIns="0" bIns="0" rtlCol="0" anchor="t"/>
          <a:lstStyle/>
          <a:p>
            <a:pPr indent="0" marL="0">
              <a:buNone/>
            </a:pPr>
            <a:r>
              <a:rPr lang="en-US" sz="1600" dirty="0">
                <a:solidFill>
                  <a:srgbClr val="0A0A0A"/>
                </a:solidFill>
                <a:latin typeface="Inter" pitchFamily="34" charset="0"/>
                <a:ea typeface="Inter" pitchFamily="34" charset="-122"/>
                <a:cs typeface="Inter" pitchFamily="34" charset="-120"/>
              </a:rPr>
              <a:t>Capture a result from an instrument.</a:t>
            </a:r>
            <a:endParaRPr lang="en-US" sz="1600" dirty="0"/>
          </a:p>
        </p:txBody>
      </p:sp>
      <p:sp>
        <p:nvSpPr>
          <p:cNvPr id="16" name="Shape 14"/>
          <p:cNvSpPr/>
          <p:nvPr/>
        </p:nvSpPr>
        <p:spPr>
          <a:xfrm>
            <a:off x="548640" y="3794760"/>
            <a:ext cx="5486400" cy="0"/>
          </a:xfrm>
          <a:prstGeom prst="line">
            <a:avLst/>
          </a:prstGeom>
          <a:noFill/>
          <a:ln w="9525">
            <a:solidFill>
              <a:srgbClr val="C9C9C4"/>
            </a:solidFill>
            <a:prstDash val="solid"/>
          </a:ln>
        </p:spPr>
      </p:sp>
      <p:sp>
        <p:nvSpPr>
          <p:cNvPr id="17" name="Text 15"/>
          <p:cNvSpPr txBox="1"/>
          <p:nvPr/>
        </p:nvSpPr>
        <p:spPr>
          <a:xfrm>
            <a:off x="548640" y="3904488"/>
            <a:ext cx="731520" cy="457200"/>
          </a:xfrm>
          <a:prstGeom prst="rect">
            <a:avLst/>
          </a:prstGeom>
          <a:noFill/>
          <a:ln/>
        </p:spPr>
        <p:txBody>
          <a:bodyPr wrap="square" lIns="0" tIns="0" rIns="0" bIns="0" rtlCol="0" anchor="t"/>
          <a:lstStyle/>
          <a:p>
            <a:pPr indent="0" marL="0">
              <a:buNone/>
            </a:pPr>
            <a:r>
              <a:rPr lang="en-US" sz="2400" dirty="0">
                <a:solidFill>
                  <a:srgbClr val="002FA7"/>
                </a:solidFill>
                <a:latin typeface="Inter Black" pitchFamily="34" charset="0"/>
                <a:ea typeface="Inter Black" pitchFamily="34" charset="-122"/>
                <a:cs typeface="Inter Black" pitchFamily="34" charset="-120"/>
              </a:rPr>
              <a:t>03</a:t>
            </a:r>
            <a:endParaRPr lang="en-US" sz="2400" dirty="0"/>
          </a:p>
        </p:txBody>
      </p:sp>
      <p:sp>
        <p:nvSpPr>
          <p:cNvPr id="18" name="Text 16"/>
          <p:cNvSpPr txBox="1"/>
          <p:nvPr/>
        </p:nvSpPr>
        <p:spPr>
          <a:xfrm>
            <a:off x="1371600" y="3950208"/>
            <a:ext cx="4663440" cy="548640"/>
          </a:xfrm>
          <a:prstGeom prst="rect">
            <a:avLst/>
          </a:prstGeom>
          <a:noFill/>
          <a:ln/>
        </p:spPr>
        <p:txBody>
          <a:bodyPr wrap="square" lIns="0" tIns="0" rIns="0" bIns="0" rtlCol="0" anchor="t"/>
          <a:lstStyle/>
          <a:p>
            <a:pPr indent="0" marL="0">
              <a:buNone/>
            </a:pPr>
            <a:r>
              <a:rPr lang="en-US" sz="1600" dirty="0">
                <a:solidFill>
                  <a:srgbClr val="0A0A0A"/>
                </a:solidFill>
                <a:latin typeface="Inter" pitchFamily="34" charset="0"/>
                <a:ea typeface="Inter" pitchFamily="34" charset="-122"/>
                <a:cs typeface="Inter" pitchFamily="34" charset="-120"/>
              </a:rPr>
              <a:t>Try to edit it. The system demands a reason.</a:t>
            </a:r>
            <a:endParaRPr lang="en-US" sz="1600" dirty="0"/>
          </a:p>
        </p:txBody>
      </p:sp>
      <p:sp>
        <p:nvSpPr>
          <p:cNvPr id="19" name="Shape 17"/>
          <p:cNvSpPr/>
          <p:nvPr/>
        </p:nvSpPr>
        <p:spPr>
          <a:xfrm>
            <a:off x="548640" y="4526280"/>
            <a:ext cx="5486400" cy="0"/>
          </a:xfrm>
          <a:prstGeom prst="line">
            <a:avLst/>
          </a:prstGeom>
          <a:noFill/>
          <a:ln w="9525">
            <a:solidFill>
              <a:srgbClr val="C9C9C4"/>
            </a:solidFill>
            <a:prstDash val="solid"/>
          </a:ln>
        </p:spPr>
      </p:sp>
      <p:sp>
        <p:nvSpPr>
          <p:cNvPr id="20" name="Text 18"/>
          <p:cNvSpPr txBox="1"/>
          <p:nvPr/>
        </p:nvSpPr>
        <p:spPr>
          <a:xfrm>
            <a:off x="548640" y="4636008"/>
            <a:ext cx="731520" cy="457200"/>
          </a:xfrm>
          <a:prstGeom prst="rect">
            <a:avLst/>
          </a:prstGeom>
          <a:noFill/>
          <a:ln/>
        </p:spPr>
        <p:txBody>
          <a:bodyPr wrap="square" lIns="0" tIns="0" rIns="0" bIns="0" rtlCol="0" anchor="t"/>
          <a:lstStyle/>
          <a:p>
            <a:pPr indent="0" marL="0">
              <a:buNone/>
            </a:pPr>
            <a:r>
              <a:rPr lang="en-US" sz="2400" dirty="0">
                <a:solidFill>
                  <a:srgbClr val="002FA7"/>
                </a:solidFill>
                <a:latin typeface="Inter Black" pitchFamily="34" charset="0"/>
                <a:ea typeface="Inter Black" pitchFamily="34" charset="-122"/>
                <a:cs typeface="Inter Black" pitchFamily="34" charset="-120"/>
              </a:rPr>
              <a:t>04</a:t>
            </a:r>
            <a:endParaRPr lang="en-US" sz="2400" dirty="0"/>
          </a:p>
        </p:txBody>
      </p:sp>
      <p:sp>
        <p:nvSpPr>
          <p:cNvPr id="21" name="Text 19"/>
          <p:cNvSpPr txBox="1"/>
          <p:nvPr/>
        </p:nvSpPr>
        <p:spPr>
          <a:xfrm>
            <a:off x="1371600" y="4681728"/>
            <a:ext cx="4663440" cy="548640"/>
          </a:xfrm>
          <a:prstGeom prst="rect">
            <a:avLst/>
          </a:prstGeom>
          <a:noFill/>
          <a:ln/>
        </p:spPr>
        <p:txBody>
          <a:bodyPr wrap="square" lIns="0" tIns="0" rIns="0" bIns="0" rtlCol="0" anchor="t"/>
          <a:lstStyle/>
          <a:p>
            <a:pPr indent="0" marL="0">
              <a:buNone/>
            </a:pPr>
            <a:r>
              <a:rPr lang="en-US" sz="1600" dirty="0">
                <a:solidFill>
                  <a:srgbClr val="0A0A0A"/>
                </a:solidFill>
                <a:latin typeface="Inter" pitchFamily="34" charset="0"/>
                <a:ea typeface="Inter" pitchFamily="34" charset="-122"/>
                <a:cs typeface="Inter" pitchFamily="34" charset="-120"/>
              </a:rPr>
              <a:t>Open the audit trail: old value, new value, who, when, why.</a:t>
            </a:r>
            <a:endParaRPr lang="en-US" sz="1600" dirty="0"/>
          </a:p>
        </p:txBody>
      </p:sp>
      <p:sp>
        <p:nvSpPr>
          <p:cNvPr id="22" name="Shape 20"/>
          <p:cNvSpPr/>
          <p:nvPr/>
        </p:nvSpPr>
        <p:spPr>
          <a:xfrm>
            <a:off x="548640" y="5257800"/>
            <a:ext cx="5486400" cy="0"/>
          </a:xfrm>
          <a:prstGeom prst="line">
            <a:avLst/>
          </a:prstGeom>
          <a:noFill/>
          <a:ln w="9525">
            <a:solidFill>
              <a:srgbClr val="C9C9C4"/>
            </a:solidFill>
            <a:prstDash val="solid"/>
          </a:ln>
        </p:spPr>
      </p:sp>
      <p:sp>
        <p:nvSpPr>
          <p:cNvPr id="23" name="Text 21"/>
          <p:cNvSpPr txBox="1"/>
          <p:nvPr/>
        </p:nvSpPr>
        <p:spPr>
          <a:xfrm>
            <a:off x="548640" y="5367528"/>
            <a:ext cx="731520" cy="457200"/>
          </a:xfrm>
          <a:prstGeom prst="rect">
            <a:avLst/>
          </a:prstGeom>
          <a:noFill/>
          <a:ln/>
        </p:spPr>
        <p:txBody>
          <a:bodyPr wrap="square" lIns="0" tIns="0" rIns="0" bIns="0" rtlCol="0" anchor="t"/>
          <a:lstStyle/>
          <a:p>
            <a:pPr indent="0" marL="0">
              <a:buNone/>
            </a:pPr>
            <a:r>
              <a:rPr lang="en-US" sz="2400" dirty="0">
                <a:solidFill>
                  <a:srgbClr val="002FA7"/>
                </a:solidFill>
                <a:latin typeface="Inter Black" pitchFamily="34" charset="0"/>
                <a:ea typeface="Inter Black" pitchFamily="34" charset="-122"/>
                <a:cs typeface="Inter Black" pitchFamily="34" charset="-120"/>
              </a:rPr>
              <a:t>05</a:t>
            </a:r>
            <a:endParaRPr lang="en-US" sz="2400" dirty="0"/>
          </a:p>
        </p:txBody>
      </p:sp>
      <p:sp>
        <p:nvSpPr>
          <p:cNvPr id="24" name="Text 22"/>
          <p:cNvSpPr txBox="1"/>
          <p:nvPr/>
        </p:nvSpPr>
        <p:spPr>
          <a:xfrm>
            <a:off x="1371600" y="5413248"/>
            <a:ext cx="4663440" cy="548640"/>
          </a:xfrm>
          <a:prstGeom prst="rect">
            <a:avLst/>
          </a:prstGeom>
          <a:noFill/>
          <a:ln/>
        </p:spPr>
        <p:txBody>
          <a:bodyPr wrap="square" lIns="0" tIns="0" rIns="0" bIns="0" rtlCol="0" anchor="t"/>
          <a:lstStyle/>
          <a:p>
            <a:pPr indent="0" marL="0">
              <a:buNone/>
            </a:pPr>
            <a:r>
              <a:rPr lang="en-US" sz="1600" dirty="0">
                <a:solidFill>
                  <a:srgbClr val="0A0A0A"/>
                </a:solidFill>
                <a:latin typeface="Inter" pitchFamily="34" charset="0"/>
                <a:ea typeface="Inter" pitchFamily="34" charset="-122"/>
                <a:cs typeface="Inter" pitchFamily="34" charset="-120"/>
              </a:rPr>
              <a:t>Approve with an electronic signature </a:t>
            </a:r>
            <a:pPr indent="0" marL="0">
              <a:buNone/>
            </a:pPr>
            <a:r>
              <a:rPr lang="en-US" sz="1600" dirty="0">
                <a:solidFill>
                  <a:srgbClr val="0A0A0A"/>
                </a:solidFill>
                <a:highlight>
                  <a:srgbClr val="FFE36E"/>
                </a:highlight>
                <a:latin typeface="Consolas" pitchFamily="34" charset="0"/>
                <a:ea typeface="Consolas" pitchFamily="34" charset="-122"/>
                <a:cs typeface="Consolas" pitchFamily="34" charset="-120"/>
              </a:rPr>
              <a:t>[show the PQC signature if built]</a:t>
            </a:r>
            <a:endParaRPr lang="en-US" sz="1600" dirty="0"/>
          </a:p>
        </p:txBody>
      </p:sp>
      <p:sp>
        <p:nvSpPr>
          <p:cNvPr id="25" name="Shape 23"/>
          <p:cNvSpPr/>
          <p:nvPr/>
        </p:nvSpPr>
        <p:spPr>
          <a:xfrm>
            <a:off x="6675120" y="2331720"/>
            <a:ext cx="4967935" cy="3657600"/>
          </a:xfrm>
          <a:prstGeom prst="rect">
            <a:avLst/>
          </a:prstGeom>
          <a:solidFill>
            <a:srgbClr val="002FA7"/>
          </a:solidFill>
          <a:ln/>
        </p:spPr>
      </p:sp>
      <p:sp>
        <p:nvSpPr>
          <p:cNvPr id="26" name="Text 24"/>
          <p:cNvSpPr txBox="1"/>
          <p:nvPr/>
        </p:nvSpPr>
        <p:spPr>
          <a:xfrm>
            <a:off x="6903720" y="2514600"/>
            <a:ext cx="3657600" cy="228600"/>
          </a:xfrm>
          <a:prstGeom prst="rect">
            <a:avLst/>
          </a:prstGeom>
          <a:noFill/>
          <a:ln/>
        </p:spPr>
        <p:txBody>
          <a:bodyPr wrap="square" lIns="0" tIns="0" rIns="0" bIns="0" rtlCol="0" anchor="t"/>
          <a:lstStyle/>
          <a:p>
            <a:pPr indent="0" marL="0">
              <a:buNone/>
            </a:pPr>
            <a:r>
              <a:rPr lang="en-US" sz="1000" spc="200" kern="0" dirty="0">
                <a:solidFill>
                  <a:srgbClr val="FAFAF8"/>
                </a:solidFill>
                <a:latin typeface="Consolas" pitchFamily="34" charset="0"/>
                <a:ea typeface="Consolas" pitchFamily="34" charset="-122"/>
                <a:cs typeface="Consolas" pitchFamily="34" charset="-120"/>
              </a:rPr>
              <a:t>LIVE · SAMPLE TS-0417</a:t>
            </a:r>
            <a:endParaRPr lang="en-US" sz="1000" dirty="0"/>
          </a:p>
        </p:txBody>
      </p:sp>
      <p:sp>
        <p:nvSpPr>
          <p:cNvPr id="27" name="Shape 25"/>
          <p:cNvSpPr/>
          <p:nvPr/>
        </p:nvSpPr>
        <p:spPr>
          <a:xfrm>
            <a:off x="9966960" y="2560320"/>
            <a:ext cx="64008" cy="64008"/>
          </a:xfrm>
          <a:prstGeom prst="rect">
            <a:avLst/>
          </a:prstGeom>
          <a:solidFill>
            <a:srgbClr val="FAFAF8">
              <a:alpha val="5000"/>
            </a:srgbClr>
          </a:solidFill>
          <a:ln/>
        </p:spPr>
      </p:sp>
      <p:sp>
        <p:nvSpPr>
          <p:cNvPr id="28" name="Shape 26"/>
          <p:cNvSpPr/>
          <p:nvPr/>
        </p:nvSpPr>
        <p:spPr>
          <a:xfrm>
            <a:off x="10104120" y="2560320"/>
            <a:ext cx="64008" cy="64008"/>
          </a:xfrm>
          <a:prstGeom prst="rect">
            <a:avLst/>
          </a:prstGeom>
          <a:solidFill>
            <a:srgbClr val="FAFAF8">
              <a:alpha val="54000"/>
            </a:srgbClr>
          </a:solidFill>
          <a:ln/>
        </p:spPr>
      </p:sp>
      <p:sp>
        <p:nvSpPr>
          <p:cNvPr id="29" name="Shape 27"/>
          <p:cNvSpPr/>
          <p:nvPr/>
        </p:nvSpPr>
        <p:spPr>
          <a:xfrm>
            <a:off x="10241280" y="2560320"/>
            <a:ext cx="64008" cy="64008"/>
          </a:xfrm>
          <a:prstGeom prst="rect">
            <a:avLst/>
          </a:prstGeom>
          <a:solidFill>
            <a:srgbClr val="FAFAF8">
              <a:alpha val="61000"/>
            </a:srgbClr>
          </a:solidFill>
          <a:ln/>
        </p:spPr>
      </p:sp>
      <p:sp>
        <p:nvSpPr>
          <p:cNvPr id="30" name="Shape 28"/>
          <p:cNvSpPr/>
          <p:nvPr/>
        </p:nvSpPr>
        <p:spPr>
          <a:xfrm>
            <a:off x="10378440" y="2560320"/>
            <a:ext cx="64008" cy="64008"/>
          </a:xfrm>
          <a:prstGeom prst="rect">
            <a:avLst/>
          </a:prstGeom>
          <a:solidFill>
            <a:srgbClr val="FAFAF8">
              <a:alpha val="25000"/>
            </a:srgbClr>
          </a:solidFill>
          <a:ln/>
        </p:spPr>
      </p:sp>
      <p:sp>
        <p:nvSpPr>
          <p:cNvPr id="31" name="Shape 29"/>
          <p:cNvSpPr/>
          <p:nvPr/>
        </p:nvSpPr>
        <p:spPr>
          <a:xfrm>
            <a:off x="10515600" y="2560320"/>
            <a:ext cx="64008" cy="64008"/>
          </a:xfrm>
          <a:prstGeom prst="rect">
            <a:avLst/>
          </a:prstGeom>
          <a:solidFill>
            <a:srgbClr val="FAFAF8">
              <a:alpha val="21000"/>
            </a:srgbClr>
          </a:solidFill>
          <a:ln/>
        </p:spPr>
      </p:sp>
      <p:sp>
        <p:nvSpPr>
          <p:cNvPr id="32" name="Shape 30"/>
          <p:cNvSpPr/>
          <p:nvPr/>
        </p:nvSpPr>
        <p:spPr>
          <a:xfrm>
            <a:off x="10652760" y="2560320"/>
            <a:ext cx="64008" cy="64008"/>
          </a:xfrm>
          <a:prstGeom prst="rect">
            <a:avLst/>
          </a:prstGeom>
          <a:solidFill>
            <a:srgbClr val="FAFAF8">
              <a:alpha val="25000"/>
            </a:srgbClr>
          </a:solidFill>
          <a:ln/>
        </p:spPr>
      </p:sp>
      <p:sp>
        <p:nvSpPr>
          <p:cNvPr id="33" name="Shape 31"/>
          <p:cNvSpPr/>
          <p:nvPr/>
        </p:nvSpPr>
        <p:spPr>
          <a:xfrm>
            <a:off x="10789920" y="2560320"/>
            <a:ext cx="64008" cy="64008"/>
          </a:xfrm>
          <a:prstGeom prst="rect">
            <a:avLst/>
          </a:prstGeom>
          <a:solidFill>
            <a:srgbClr val="FAFAF8">
              <a:alpha val="9000"/>
            </a:srgbClr>
          </a:solidFill>
          <a:ln/>
        </p:spPr>
      </p:sp>
      <p:sp>
        <p:nvSpPr>
          <p:cNvPr id="34" name="Shape 32"/>
          <p:cNvSpPr/>
          <p:nvPr/>
        </p:nvSpPr>
        <p:spPr>
          <a:xfrm>
            <a:off x="10927080" y="2560320"/>
            <a:ext cx="64008" cy="64008"/>
          </a:xfrm>
          <a:prstGeom prst="rect">
            <a:avLst/>
          </a:prstGeom>
          <a:solidFill>
            <a:srgbClr val="FAFAF8">
              <a:alpha val="5000"/>
            </a:srgbClr>
          </a:solidFill>
          <a:ln/>
        </p:spPr>
      </p:sp>
      <p:sp>
        <p:nvSpPr>
          <p:cNvPr id="35" name="Shape 33"/>
          <p:cNvSpPr/>
          <p:nvPr/>
        </p:nvSpPr>
        <p:spPr>
          <a:xfrm>
            <a:off x="11064240" y="2560320"/>
            <a:ext cx="64008" cy="64008"/>
          </a:xfrm>
          <a:prstGeom prst="rect">
            <a:avLst/>
          </a:prstGeom>
          <a:solidFill>
            <a:srgbClr val="FAFAF8">
              <a:alpha val="26000"/>
            </a:srgbClr>
          </a:solidFill>
          <a:ln/>
        </p:spPr>
      </p:sp>
      <p:sp>
        <p:nvSpPr>
          <p:cNvPr id="36" name="Shape 34"/>
          <p:cNvSpPr/>
          <p:nvPr/>
        </p:nvSpPr>
        <p:spPr>
          <a:xfrm>
            <a:off x="11201400" y="2560320"/>
            <a:ext cx="64008" cy="64008"/>
          </a:xfrm>
          <a:prstGeom prst="rect">
            <a:avLst/>
          </a:prstGeom>
          <a:solidFill>
            <a:srgbClr val="FAFAF8">
              <a:alpha val="45000"/>
            </a:srgbClr>
          </a:solidFill>
          <a:ln/>
        </p:spPr>
      </p:sp>
      <p:sp>
        <p:nvSpPr>
          <p:cNvPr id="37" name="Shape 35"/>
          <p:cNvSpPr/>
          <p:nvPr/>
        </p:nvSpPr>
        <p:spPr>
          <a:xfrm>
            <a:off x="9966960" y="2697480"/>
            <a:ext cx="64008" cy="64008"/>
          </a:xfrm>
          <a:prstGeom prst="rect">
            <a:avLst/>
          </a:prstGeom>
          <a:solidFill>
            <a:srgbClr val="FAFAF8">
              <a:alpha val="37000"/>
            </a:srgbClr>
          </a:solidFill>
          <a:ln/>
        </p:spPr>
      </p:sp>
      <p:sp>
        <p:nvSpPr>
          <p:cNvPr id="38" name="Shape 36"/>
          <p:cNvSpPr/>
          <p:nvPr/>
        </p:nvSpPr>
        <p:spPr>
          <a:xfrm>
            <a:off x="10104120" y="2697480"/>
            <a:ext cx="64008" cy="64008"/>
          </a:xfrm>
          <a:prstGeom prst="rect">
            <a:avLst/>
          </a:prstGeom>
          <a:solidFill>
            <a:srgbClr val="FAFAF8">
              <a:alpha val="48000"/>
            </a:srgbClr>
          </a:solidFill>
          <a:ln/>
        </p:spPr>
      </p:sp>
      <p:sp>
        <p:nvSpPr>
          <p:cNvPr id="39" name="Shape 37"/>
          <p:cNvSpPr/>
          <p:nvPr/>
        </p:nvSpPr>
        <p:spPr>
          <a:xfrm>
            <a:off x="10241280" y="2697480"/>
            <a:ext cx="64008" cy="64008"/>
          </a:xfrm>
          <a:prstGeom prst="rect">
            <a:avLst/>
          </a:prstGeom>
          <a:solidFill>
            <a:srgbClr val="FAFAF8">
              <a:alpha val="24000"/>
            </a:srgbClr>
          </a:solidFill>
          <a:ln/>
        </p:spPr>
      </p:sp>
      <p:sp>
        <p:nvSpPr>
          <p:cNvPr id="40" name="Shape 38"/>
          <p:cNvSpPr/>
          <p:nvPr/>
        </p:nvSpPr>
        <p:spPr>
          <a:xfrm>
            <a:off x="10378440" y="2697480"/>
            <a:ext cx="64008" cy="64008"/>
          </a:xfrm>
          <a:prstGeom prst="rect">
            <a:avLst/>
          </a:prstGeom>
          <a:solidFill>
            <a:srgbClr val="FAFAF8">
              <a:alpha val="8000"/>
            </a:srgbClr>
          </a:solidFill>
          <a:ln/>
        </p:spPr>
      </p:sp>
      <p:sp>
        <p:nvSpPr>
          <p:cNvPr id="41" name="Shape 39"/>
          <p:cNvSpPr/>
          <p:nvPr/>
        </p:nvSpPr>
        <p:spPr>
          <a:xfrm>
            <a:off x="10515600" y="2697480"/>
            <a:ext cx="64008" cy="64008"/>
          </a:xfrm>
          <a:prstGeom prst="rect">
            <a:avLst/>
          </a:prstGeom>
          <a:solidFill>
            <a:srgbClr val="FAFAF8">
              <a:alpha val="7000"/>
            </a:srgbClr>
          </a:solidFill>
          <a:ln/>
        </p:spPr>
      </p:sp>
      <p:sp>
        <p:nvSpPr>
          <p:cNvPr id="42" name="Shape 40"/>
          <p:cNvSpPr/>
          <p:nvPr/>
        </p:nvSpPr>
        <p:spPr>
          <a:xfrm>
            <a:off x="10652760" y="2697480"/>
            <a:ext cx="64008" cy="64008"/>
          </a:xfrm>
          <a:prstGeom prst="rect">
            <a:avLst/>
          </a:prstGeom>
          <a:solidFill>
            <a:srgbClr val="FAFAF8">
              <a:alpha val="21000"/>
            </a:srgbClr>
          </a:solidFill>
          <a:ln/>
        </p:spPr>
      </p:sp>
      <p:sp>
        <p:nvSpPr>
          <p:cNvPr id="43" name="Shape 41"/>
          <p:cNvSpPr/>
          <p:nvPr/>
        </p:nvSpPr>
        <p:spPr>
          <a:xfrm>
            <a:off x="10789920" y="2697480"/>
            <a:ext cx="64008" cy="64008"/>
          </a:xfrm>
          <a:prstGeom prst="rect">
            <a:avLst/>
          </a:prstGeom>
          <a:solidFill>
            <a:srgbClr val="FAFAF8">
              <a:alpha val="13000"/>
            </a:srgbClr>
          </a:solidFill>
          <a:ln/>
        </p:spPr>
      </p:sp>
      <p:sp>
        <p:nvSpPr>
          <p:cNvPr id="44" name="Shape 42"/>
          <p:cNvSpPr/>
          <p:nvPr/>
        </p:nvSpPr>
        <p:spPr>
          <a:xfrm>
            <a:off x="10927080" y="2697480"/>
            <a:ext cx="64008" cy="64008"/>
          </a:xfrm>
          <a:prstGeom prst="rect">
            <a:avLst/>
          </a:prstGeom>
          <a:solidFill>
            <a:srgbClr val="FAFAF8">
              <a:alpha val="33000"/>
            </a:srgbClr>
          </a:solidFill>
          <a:ln/>
        </p:spPr>
      </p:sp>
      <p:sp>
        <p:nvSpPr>
          <p:cNvPr id="45" name="Shape 43"/>
          <p:cNvSpPr/>
          <p:nvPr/>
        </p:nvSpPr>
        <p:spPr>
          <a:xfrm>
            <a:off x="11064240" y="2697480"/>
            <a:ext cx="64008" cy="64008"/>
          </a:xfrm>
          <a:prstGeom prst="rect">
            <a:avLst/>
          </a:prstGeom>
          <a:solidFill>
            <a:srgbClr val="FAFAF8">
              <a:alpha val="61000"/>
            </a:srgbClr>
          </a:solidFill>
          <a:ln/>
        </p:spPr>
      </p:sp>
      <p:sp>
        <p:nvSpPr>
          <p:cNvPr id="46" name="Shape 44"/>
          <p:cNvSpPr/>
          <p:nvPr/>
        </p:nvSpPr>
        <p:spPr>
          <a:xfrm>
            <a:off x="11201400" y="2697480"/>
            <a:ext cx="64008" cy="64008"/>
          </a:xfrm>
          <a:prstGeom prst="rect">
            <a:avLst/>
          </a:prstGeom>
          <a:solidFill>
            <a:srgbClr val="FAFAF8">
              <a:alpha val="45000"/>
            </a:srgbClr>
          </a:solidFill>
          <a:ln/>
        </p:spPr>
      </p:sp>
      <p:sp>
        <p:nvSpPr>
          <p:cNvPr id="47" name="Shape 45"/>
          <p:cNvSpPr/>
          <p:nvPr/>
        </p:nvSpPr>
        <p:spPr>
          <a:xfrm>
            <a:off x="9966960" y="2834640"/>
            <a:ext cx="64008" cy="64008"/>
          </a:xfrm>
          <a:prstGeom prst="rect">
            <a:avLst/>
          </a:prstGeom>
          <a:solidFill>
            <a:srgbClr val="FAFAF8">
              <a:alpha val="27000"/>
            </a:srgbClr>
          </a:solidFill>
          <a:ln/>
        </p:spPr>
      </p:sp>
      <p:sp>
        <p:nvSpPr>
          <p:cNvPr id="48" name="Shape 46"/>
          <p:cNvSpPr/>
          <p:nvPr/>
        </p:nvSpPr>
        <p:spPr>
          <a:xfrm>
            <a:off x="10104120" y="2834640"/>
            <a:ext cx="64008" cy="64008"/>
          </a:xfrm>
          <a:prstGeom prst="rect">
            <a:avLst/>
          </a:prstGeom>
          <a:solidFill>
            <a:srgbClr val="FAFAF8">
              <a:alpha val="12000"/>
            </a:srgbClr>
          </a:solidFill>
          <a:ln/>
        </p:spPr>
      </p:sp>
      <p:sp>
        <p:nvSpPr>
          <p:cNvPr id="49" name="Shape 47"/>
          <p:cNvSpPr/>
          <p:nvPr/>
        </p:nvSpPr>
        <p:spPr>
          <a:xfrm>
            <a:off x="10241280" y="2834640"/>
            <a:ext cx="64008" cy="64008"/>
          </a:xfrm>
          <a:prstGeom prst="rect">
            <a:avLst/>
          </a:prstGeom>
          <a:solidFill>
            <a:srgbClr val="FAFAF8">
              <a:alpha val="6000"/>
            </a:srgbClr>
          </a:solidFill>
          <a:ln/>
        </p:spPr>
      </p:sp>
      <p:sp>
        <p:nvSpPr>
          <p:cNvPr id="50" name="Shape 48"/>
          <p:cNvSpPr/>
          <p:nvPr/>
        </p:nvSpPr>
        <p:spPr>
          <a:xfrm>
            <a:off x="10378440" y="2834640"/>
            <a:ext cx="64008" cy="64008"/>
          </a:xfrm>
          <a:prstGeom prst="rect">
            <a:avLst/>
          </a:prstGeom>
          <a:solidFill>
            <a:srgbClr val="FAFAF8">
              <a:alpha val="23000"/>
            </a:srgbClr>
          </a:solidFill>
          <a:ln/>
        </p:spPr>
      </p:sp>
      <p:sp>
        <p:nvSpPr>
          <p:cNvPr id="51" name="Shape 49"/>
          <p:cNvSpPr/>
          <p:nvPr/>
        </p:nvSpPr>
        <p:spPr>
          <a:xfrm>
            <a:off x="10515600" y="2834640"/>
            <a:ext cx="64008" cy="64008"/>
          </a:xfrm>
          <a:prstGeom prst="rect">
            <a:avLst/>
          </a:prstGeom>
          <a:solidFill>
            <a:srgbClr val="FAFAF8">
              <a:alpha val="43000"/>
            </a:srgbClr>
          </a:solidFill>
          <a:ln/>
        </p:spPr>
      </p:sp>
      <p:sp>
        <p:nvSpPr>
          <p:cNvPr id="52" name="Shape 50"/>
          <p:cNvSpPr/>
          <p:nvPr/>
        </p:nvSpPr>
        <p:spPr>
          <a:xfrm>
            <a:off x="10652760" y="2834640"/>
            <a:ext cx="64008" cy="64008"/>
          </a:xfrm>
          <a:prstGeom prst="rect">
            <a:avLst/>
          </a:prstGeom>
          <a:solidFill>
            <a:srgbClr val="FAFAF8">
              <a:alpha val="30000"/>
            </a:srgbClr>
          </a:solidFill>
          <a:ln/>
        </p:spPr>
      </p:sp>
      <p:sp>
        <p:nvSpPr>
          <p:cNvPr id="53" name="Shape 51"/>
          <p:cNvSpPr/>
          <p:nvPr/>
        </p:nvSpPr>
        <p:spPr>
          <a:xfrm>
            <a:off x="10789920" y="2834640"/>
            <a:ext cx="64008" cy="64008"/>
          </a:xfrm>
          <a:prstGeom prst="rect">
            <a:avLst/>
          </a:prstGeom>
          <a:solidFill>
            <a:srgbClr val="FAFAF8">
              <a:alpha val="27000"/>
            </a:srgbClr>
          </a:solidFill>
          <a:ln/>
        </p:spPr>
      </p:sp>
      <p:sp>
        <p:nvSpPr>
          <p:cNvPr id="54" name="Shape 52"/>
          <p:cNvSpPr/>
          <p:nvPr/>
        </p:nvSpPr>
        <p:spPr>
          <a:xfrm>
            <a:off x="10927080" y="2834640"/>
            <a:ext cx="64008" cy="64008"/>
          </a:xfrm>
          <a:prstGeom prst="rect">
            <a:avLst/>
          </a:prstGeom>
          <a:solidFill>
            <a:srgbClr val="FAFAF8">
              <a:alpha val="66000"/>
            </a:srgbClr>
          </a:solidFill>
          <a:ln/>
        </p:spPr>
      </p:sp>
      <p:sp>
        <p:nvSpPr>
          <p:cNvPr id="55" name="Shape 53"/>
          <p:cNvSpPr/>
          <p:nvPr/>
        </p:nvSpPr>
        <p:spPr>
          <a:xfrm>
            <a:off x="11064240" y="2834640"/>
            <a:ext cx="64008" cy="64008"/>
          </a:xfrm>
          <a:prstGeom prst="rect">
            <a:avLst/>
          </a:prstGeom>
          <a:solidFill>
            <a:srgbClr val="FAFAF8">
              <a:alpha val="58000"/>
            </a:srgbClr>
          </a:solidFill>
          <a:ln/>
        </p:spPr>
      </p:sp>
      <p:sp>
        <p:nvSpPr>
          <p:cNvPr id="56" name="Shape 54"/>
          <p:cNvSpPr/>
          <p:nvPr/>
        </p:nvSpPr>
        <p:spPr>
          <a:xfrm>
            <a:off x="11201400" y="2834640"/>
            <a:ext cx="64008" cy="64008"/>
          </a:xfrm>
          <a:prstGeom prst="rect">
            <a:avLst/>
          </a:prstGeom>
          <a:solidFill>
            <a:srgbClr val="FAFAF8">
              <a:alpha val="9000"/>
            </a:srgbClr>
          </a:solidFill>
          <a:ln/>
        </p:spPr>
      </p:sp>
      <p:sp>
        <p:nvSpPr>
          <p:cNvPr id="57" name="Shape 55"/>
          <p:cNvSpPr/>
          <p:nvPr/>
        </p:nvSpPr>
        <p:spPr>
          <a:xfrm>
            <a:off x="9966960" y="2971800"/>
            <a:ext cx="64008" cy="64008"/>
          </a:xfrm>
          <a:prstGeom prst="rect">
            <a:avLst/>
          </a:prstGeom>
          <a:solidFill>
            <a:srgbClr val="FAFAF8">
              <a:alpha val="19000"/>
            </a:srgbClr>
          </a:solidFill>
          <a:ln/>
        </p:spPr>
      </p:sp>
      <p:sp>
        <p:nvSpPr>
          <p:cNvPr id="58" name="Shape 56"/>
          <p:cNvSpPr/>
          <p:nvPr/>
        </p:nvSpPr>
        <p:spPr>
          <a:xfrm>
            <a:off x="10104120" y="2971800"/>
            <a:ext cx="64008" cy="64008"/>
          </a:xfrm>
          <a:prstGeom prst="rect">
            <a:avLst/>
          </a:prstGeom>
          <a:solidFill>
            <a:srgbClr val="FAFAF8">
              <a:alpha val="15000"/>
            </a:srgbClr>
          </a:solidFill>
          <a:ln/>
        </p:spPr>
      </p:sp>
      <p:sp>
        <p:nvSpPr>
          <p:cNvPr id="59" name="Shape 57"/>
          <p:cNvSpPr/>
          <p:nvPr/>
        </p:nvSpPr>
        <p:spPr>
          <a:xfrm>
            <a:off x="10241280" y="2971800"/>
            <a:ext cx="64008" cy="64008"/>
          </a:xfrm>
          <a:prstGeom prst="rect">
            <a:avLst/>
          </a:prstGeom>
          <a:solidFill>
            <a:srgbClr val="FAFAF8">
              <a:alpha val="28000"/>
            </a:srgbClr>
          </a:solidFill>
          <a:ln/>
        </p:spPr>
      </p:sp>
      <p:sp>
        <p:nvSpPr>
          <p:cNvPr id="60" name="Shape 58"/>
          <p:cNvSpPr/>
          <p:nvPr/>
        </p:nvSpPr>
        <p:spPr>
          <a:xfrm>
            <a:off x="10378440" y="2971800"/>
            <a:ext cx="64008" cy="64008"/>
          </a:xfrm>
          <a:prstGeom prst="rect">
            <a:avLst/>
          </a:prstGeom>
          <a:solidFill>
            <a:srgbClr val="FAFAF8">
              <a:alpha val="59000"/>
            </a:srgbClr>
          </a:solidFill>
          <a:ln/>
        </p:spPr>
      </p:sp>
      <p:sp>
        <p:nvSpPr>
          <p:cNvPr id="61" name="Shape 59"/>
          <p:cNvSpPr/>
          <p:nvPr/>
        </p:nvSpPr>
        <p:spPr>
          <a:xfrm>
            <a:off x="10515600" y="2971800"/>
            <a:ext cx="64008" cy="64008"/>
          </a:xfrm>
          <a:prstGeom prst="rect">
            <a:avLst/>
          </a:prstGeom>
          <a:solidFill>
            <a:srgbClr val="FAFAF8">
              <a:alpha val="49000"/>
            </a:srgbClr>
          </a:solidFill>
          <a:ln/>
        </p:spPr>
      </p:sp>
      <p:sp>
        <p:nvSpPr>
          <p:cNvPr id="62" name="Shape 60"/>
          <p:cNvSpPr/>
          <p:nvPr/>
        </p:nvSpPr>
        <p:spPr>
          <a:xfrm>
            <a:off x="10652760" y="2971800"/>
            <a:ext cx="64008" cy="64008"/>
          </a:xfrm>
          <a:prstGeom prst="rect">
            <a:avLst/>
          </a:prstGeom>
          <a:solidFill>
            <a:srgbClr val="FAFAF8">
              <a:alpha val="12000"/>
            </a:srgbClr>
          </a:solidFill>
          <a:ln/>
        </p:spPr>
      </p:sp>
      <p:sp>
        <p:nvSpPr>
          <p:cNvPr id="63" name="Shape 61"/>
          <p:cNvSpPr/>
          <p:nvPr/>
        </p:nvSpPr>
        <p:spPr>
          <a:xfrm>
            <a:off x="10789920" y="2971800"/>
            <a:ext cx="64008" cy="64008"/>
          </a:xfrm>
          <a:prstGeom prst="rect">
            <a:avLst/>
          </a:prstGeom>
          <a:solidFill>
            <a:srgbClr val="FAFAF8">
              <a:alpha val="59000"/>
            </a:srgbClr>
          </a:solidFill>
          <a:ln/>
        </p:spPr>
      </p:sp>
      <p:sp>
        <p:nvSpPr>
          <p:cNvPr id="64" name="Shape 62"/>
          <p:cNvSpPr/>
          <p:nvPr/>
        </p:nvSpPr>
        <p:spPr>
          <a:xfrm>
            <a:off x="10927080" y="2971800"/>
            <a:ext cx="64008" cy="64008"/>
          </a:xfrm>
          <a:prstGeom prst="rect">
            <a:avLst/>
          </a:prstGeom>
          <a:solidFill>
            <a:srgbClr val="FAFAF8">
              <a:alpha val="61000"/>
            </a:srgbClr>
          </a:solidFill>
          <a:ln/>
        </p:spPr>
      </p:sp>
      <p:sp>
        <p:nvSpPr>
          <p:cNvPr id="65" name="Shape 63"/>
          <p:cNvSpPr/>
          <p:nvPr/>
        </p:nvSpPr>
        <p:spPr>
          <a:xfrm>
            <a:off x="11064240" y="2971800"/>
            <a:ext cx="64008" cy="64008"/>
          </a:xfrm>
          <a:prstGeom prst="rect">
            <a:avLst/>
          </a:prstGeom>
          <a:solidFill>
            <a:srgbClr val="FAFAF8">
              <a:alpha val="22000"/>
            </a:srgbClr>
          </a:solidFill>
          <a:ln/>
        </p:spPr>
      </p:sp>
      <p:sp>
        <p:nvSpPr>
          <p:cNvPr id="66" name="Shape 64"/>
          <p:cNvSpPr/>
          <p:nvPr/>
        </p:nvSpPr>
        <p:spPr>
          <a:xfrm>
            <a:off x="11201400" y="2971800"/>
            <a:ext cx="64008" cy="64008"/>
          </a:xfrm>
          <a:prstGeom prst="rect">
            <a:avLst/>
          </a:prstGeom>
          <a:solidFill>
            <a:srgbClr val="FAFAF8">
              <a:alpha val="26000"/>
            </a:srgbClr>
          </a:solidFill>
          <a:ln/>
        </p:spPr>
      </p:sp>
      <p:sp>
        <p:nvSpPr>
          <p:cNvPr id="67" name="Text 65"/>
          <p:cNvSpPr txBox="1"/>
          <p:nvPr/>
        </p:nvSpPr>
        <p:spPr>
          <a:xfrm>
            <a:off x="6903720" y="5532120"/>
            <a:ext cx="4114800" cy="274320"/>
          </a:xfrm>
          <a:prstGeom prst="rect">
            <a:avLst/>
          </a:prstGeom>
          <a:noFill/>
          <a:ln/>
        </p:spPr>
        <p:txBody>
          <a:bodyPr wrap="square" lIns="0" tIns="0" rIns="0" bIns="0" rtlCol="0" anchor="t"/>
          <a:lstStyle/>
          <a:p>
            <a:pPr indent="0" marL="0">
              <a:buNone/>
            </a:pPr>
            <a:r>
              <a:rPr lang="en-US" sz="1400" dirty="0">
                <a:solidFill>
                  <a:srgbClr val="0A0A0A"/>
                </a:solidFill>
                <a:highlight>
                  <a:srgbClr val="FFE36E"/>
                </a:highlight>
                <a:latin typeface="Consolas" pitchFamily="34" charset="0"/>
                <a:ea typeface="Consolas" pitchFamily="34" charset="-122"/>
                <a:cs typeface="Consolas" pitchFamily="34" charset="-120"/>
              </a:rPr>
              <a:t>[Live screen / 60-second video]</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JUDGING A LIMS</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S12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№12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№12 · HOW A LAB SHOULD JUDGE ANY LIMS</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Five questions every lab should ask</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its software vendor.</a:t>
            </a:r>
            <a:endParaRPr lang="en-US" sz="4000" dirty="0"/>
          </a:p>
        </p:txBody>
      </p:sp>
      <p:sp>
        <p:nvSpPr>
          <p:cNvPr id="10" name="Text 8"/>
          <p:cNvSpPr txBox="1"/>
          <p:nvPr/>
        </p:nvSpPr>
        <p:spPr>
          <a:xfrm>
            <a:off x="548640" y="2514600"/>
            <a:ext cx="274320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QUESTION</a:t>
            </a:r>
            <a:endParaRPr lang="en-US" sz="1000" dirty="0"/>
          </a:p>
        </p:txBody>
      </p:sp>
      <p:sp>
        <p:nvSpPr>
          <p:cNvPr id="11" name="Text 9"/>
          <p:cNvSpPr txBox="1"/>
          <p:nvPr/>
        </p:nvSpPr>
        <p:spPr>
          <a:xfrm>
            <a:off x="7040880" y="2514600"/>
            <a:ext cx="2743200" cy="228600"/>
          </a:xfrm>
          <a:prstGeom prst="rect">
            <a:avLst/>
          </a:prstGeom>
          <a:noFill/>
          <a:ln/>
        </p:spPr>
        <p:txBody>
          <a:bodyPr wrap="square" lIns="0" tIns="0" rIns="0" bIns="0" rtlCol="0" anchor="t"/>
          <a:lstStyle/>
          <a:p>
            <a:pPr indent="0" marL="0">
              <a:buNone/>
            </a:pPr>
            <a:r>
              <a:rPr lang="en-US" sz="1000" spc="200" kern="0" dirty="0">
                <a:solidFill>
                  <a:srgbClr val="6B6B6B"/>
                </a:solidFill>
                <a:latin typeface="Consolas" pitchFamily="34" charset="0"/>
                <a:ea typeface="Consolas" pitchFamily="34" charset="-122"/>
                <a:cs typeface="Consolas" pitchFamily="34" charset="-120"/>
              </a:rPr>
              <a:t>TRACECORE</a:t>
            </a:r>
            <a:endParaRPr lang="en-US" sz="1000" dirty="0"/>
          </a:p>
        </p:txBody>
      </p:sp>
      <p:sp>
        <p:nvSpPr>
          <p:cNvPr id="12" name="Shape 10"/>
          <p:cNvSpPr/>
          <p:nvPr/>
        </p:nvSpPr>
        <p:spPr>
          <a:xfrm>
            <a:off x="548640" y="2788920"/>
            <a:ext cx="11094415" cy="0"/>
          </a:xfrm>
          <a:prstGeom prst="line">
            <a:avLst/>
          </a:prstGeom>
          <a:noFill/>
          <a:ln w="15875">
            <a:solidFill>
              <a:srgbClr val="0A0A0A"/>
            </a:solidFill>
            <a:prstDash val="solid"/>
          </a:ln>
        </p:spPr>
      </p:sp>
      <p:sp>
        <p:nvSpPr>
          <p:cNvPr id="13" name="Text 11"/>
          <p:cNvSpPr txBox="1"/>
          <p:nvPr/>
        </p:nvSpPr>
        <p:spPr>
          <a:xfrm>
            <a:off x="548640" y="2953512"/>
            <a:ext cx="6309360" cy="41148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Can every record be traced from sample to archive?</a:t>
            </a:r>
            <a:endParaRPr lang="en-US" sz="1700" dirty="0"/>
          </a:p>
        </p:txBody>
      </p:sp>
      <p:sp>
        <p:nvSpPr>
          <p:cNvPr id="14" name="Text 12"/>
          <p:cNvSpPr txBox="1"/>
          <p:nvPr/>
        </p:nvSpPr>
        <p:spPr>
          <a:xfrm>
            <a:off x="7040880" y="2953512"/>
            <a:ext cx="4572000" cy="411480"/>
          </a:xfrm>
          <a:prstGeom prst="rect">
            <a:avLst/>
          </a:prstGeom>
          <a:noFill/>
          <a:ln/>
        </p:spPr>
        <p:txBody>
          <a:bodyPr wrap="square" lIns="0" tIns="0" rIns="0" bIns="0" rtlCol="0" anchor="t"/>
          <a:lstStyle/>
          <a:p>
            <a:pPr indent="0" marL="0">
              <a:buNone/>
            </a:pPr>
            <a:r>
              <a:rPr lang="en-US" sz="1700" b="1" dirty="0">
                <a:solidFill>
                  <a:srgbClr val="0A0A0A"/>
                </a:solidFill>
                <a:latin typeface="Inter" pitchFamily="34" charset="0"/>
                <a:ea typeface="Inter" pitchFamily="34" charset="-122"/>
                <a:cs typeface="Inter" pitchFamily="34" charset="-120"/>
              </a:rPr>
              <a:t>Yes, linked end to end</a:t>
            </a:r>
            <a:endParaRPr lang="en-US" sz="1600" dirty="0"/>
          </a:p>
        </p:txBody>
      </p:sp>
      <p:sp>
        <p:nvSpPr>
          <p:cNvPr id="15" name="Shape 13"/>
          <p:cNvSpPr/>
          <p:nvPr/>
        </p:nvSpPr>
        <p:spPr>
          <a:xfrm>
            <a:off x="548640" y="3410712"/>
            <a:ext cx="11094415" cy="0"/>
          </a:xfrm>
          <a:prstGeom prst="line">
            <a:avLst/>
          </a:prstGeom>
          <a:noFill/>
          <a:ln w="9525">
            <a:solidFill>
              <a:srgbClr val="C9C9C4"/>
            </a:solidFill>
            <a:prstDash val="solid"/>
          </a:ln>
        </p:spPr>
      </p:sp>
      <p:sp>
        <p:nvSpPr>
          <p:cNvPr id="16" name="Text 14"/>
          <p:cNvSpPr txBox="1"/>
          <p:nvPr/>
        </p:nvSpPr>
        <p:spPr>
          <a:xfrm>
            <a:off x="548640" y="3575304"/>
            <a:ext cx="6309360" cy="41148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Can I see who changed what, why, and who approved it?</a:t>
            </a:r>
            <a:endParaRPr lang="en-US" sz="1700" dirty="0"/>
          </a:p>
        </p:txBody>
      </p:sp>
      <p:sp>
        <p:nvSpPr>
          <p:cNvPr id="17" name="Text 15"/>
          <p:cNvSpPr txBox="1"/>
          <p:nvPr/>
        </p:nvSpPr>
        <p:spPr>
          <a:xfrm>
            <a:off x="7040880" y="3575304"/>
            <a:ext cx="4572000" cy="411480"/>
          </a:xfrm>
          <a:prstGeom prst="rect">
            <a:avLst/>
          </a:prstGeom>
          <a:noFill/>
          <a:ln/>
        </p:spPr>
        <p:txBody>
          <a:bodyPr wrap="square" lIns="0" tIns="0" rIns="0" bIns="0" rtlCol="0" anchor="t"/>
          <a:lstStyle/>
          <a:p>
            <a:pPr indent="0" marL="0">
              <a:buNone/>
            </a:pPr>
            <a:r>
              <a:rPr lang="en-US" sz="1700" b="1" dirty="0">
                <a:solidFill>
                  <a:srgbClr val="0A0A0A"/>
                </a:solidFill>
                <a:latin typeface="Inter" pitchFamily="34" charset="0"/>
                <a:ea typeface="Inter" pitchFamily="34" charset="-122"/>
                <a:cs typeface="Inter" pitchFamily="34" charset="-120"/>
              </a:rPr>
              <a:t>Yes, full audit trail</a:t>
            </a:r>
            <a:endParaRPr lang="en-US" sz="1600" dirty="0"/>
          </a:p>
        </p:txBody>
      </p:sp>
      <p:sp>
        <p:nvSpPr>
          <p:cNvPr id="18" name="Shape 16"/>
          <p:cNvSpPr/>
          <p:nvPr/>
        </p:nvSpPr>
        <p:spPr>
          <a:xfrm>
            <a:off x="548640" y="4032504"/>
            <a:ext cx="11094415" cy="0"/>
          </a:xfrm>
          <a:prstGeom prst="line">
            <a:avLst/>
          </a:prstGeom>
          <a:noFill/>
          <a:ln w="9525">
            <a:solidFill>
              <a:srgbClr val="C9C9C4"/>
            </a:solidFill>
            <a:prstDash val="solid"/>
          </a:ln>
        </p:spPr>
      </p:sp>
      <p:sp>
        <p:nvSpPr>
          <p:cNvPr id="19" name="Text 17"/>
          <p:cNvSpPr txBox="1"/>
          <p:nvPr/>
        </p:nvSpPr>
        <p:spPr>
          <a:xfrm>
            <a:off x="548640" y="4197096"/>
            <a:ext cx="6309360" cy="41148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Are roles and duties separated?</a:t>
            </a:r>
            <a:endParaRPr lang="en-US" sz="1700" dirty="0"/>
          </a:p>
        </p:txBody>
      </p:sp>
      <p:sp>
        <p:nvSpPr>
          <p:cNvPr id="20" name="Text 18"/>
          <p:cNvSpPr txBox="1"/>
          <p:nvPr/>
        </p:nvSpPr>
        <p:spPr>
          <a:xfrm>
            <a:off x="7040880" y="4197096"/>
            <a:ext cx="4572000" cy="411480"/>
          </a:xfrm>
          <a:prstGeom prst="rect">
            <a:avLst/>
          </a:prstGeom>
          <a:noFill/>
          <a:ln/>
        </p:spPr>
        <p:txBody>
          <a:bodyPr wrap="square" lIns="0" tIns="0" rIns="0" bIns="0" rtlCol="0" anchor="t"/>
          <a:lstStyle/>
          <a:p>
            <a:pPr indent="0" marL="0">
              <a:buNone/>
            </a:pPr>
            <a:r>
              <a:rPr lang="en-US" sz="1700" b="1" dirty="0">
                <a:solidFill>
                  <a:srgbClr val="0A0A0A"/>
                </a:solidFill>
                <a:latin typeface="Inter" pitchFamily="34" charset="0"/>
                <a:ea typeface="Inter" pitchFamily="34" charset="-122"/>
                <a:cs typeface="Inter" pitchFamily="34" charset="-120"/>
              </a:rPr>
              <a:t>Yes, role-based access</a:t>
            </a:r>
            <a:endParaRPr lang="en-US" sz="1600" dirty="0"/>
          </a:p>
        </p:txBody>
      </p:sp>
      <p:sp>
        <p:nvSpPr>
          <p:cNvPr id="21" name="Shape 19"/>
          <p:cNvSpPr/>
          <p:nvPr/>
        </p:nvSpPr>
        <p:spPr>
          <a:xfrm>
            <a:off x="548640" y="4654296"/>
            <a:ext cx="11094415" cy="0"/>
          </a:xfrm>
          <a:prstGeom prst="line">
            <a:avLst/>
          </a:prstGeom>
          <a:noFill/>
          <a:ln w="9525">
            <a:solidFill>
              <a:srgbClr val="C9C9C4"/>
            </a:solidFill>
            <a:prstDash val="solid"/>
          </a:ln>
        </p:spPr>
      </p:sp>
      <p:sp>
        <p:nvSpPr>
          <p:cNvPr id="22" name="Text 20"/>
          <p:cNvSpPr txBox="1"/>
          <p:nvPr/>
        </p:nvSpPr>
        <p:spPr>
          <a:xfrm>
            <a:off x="548640" y="4818888"/>
            <a:ext cx="6309360" cy="41148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Where does my data live, and who holds the keys?</a:t>
            </a:r>
            <a:endParaRPr lang="en-US" sz="1700" dirty="0"/>
          </a:p>
        </p:txBody>
      </p:sp>
      <p:sp>
        <p:nvSpPr>
          <p:cNvPr id="23" name="Text 21"/>
          <p:cNvSpPr txBox="1"/>
          <p:nvPr/>
        </p:nvSpPr>
        <p:spPr>
          <a:xfrm>
            <a:off x="7040880" y="4818888"/>
            <a:ext cx="4572000" cy="411480"/>
          </a:xfrm>
          <a:prstGeom prst="rect">
            <a:avLst/>
          </a:prstGeom>
          <a:noFill/>
          <a:ln/>
        </p:spPr>
        <p:txBody>
          <a:bodyPr wrap="square" lIns="0" tIns="0" rIns="0" bIns="0" rtlCol="0" anchor="t"/>
          <a:lstStyle/>
          <a:p>
            <a:pPr indent="0" marL="0">
              <a:buNone/>
            </a:pPr>
            <a:r>
              <a:rPr lang="en-US" sz="1700" b="1" dirty="0">
                <a:solidFill>
                  <a:srgbClr val="0A0A0A"/>
                </a:solidFill>
                <a:latin typeface="Inter" pitchFamily="34" charset="0"/>
                <a:ea typeface="Inter" pitchFamily="34" charset="-122"/>
                <a:cs typeface="Inter" pitchFamily="34" charset="-120"/>
              </a:rPr>
              <a:t>On the lab's servers </a:t>
            </a:r>
            <a:pPr indent="0" marL="0">
              <a:buNone/>
            </a:pPr>
            <a:r>
              <a:rPr lang="en-US" sz="1700" b="1" dirty="0">
                <a:solidFill>
                  <a:srgbClr val="0A0A0A"/>
                </a:solidFill>
                <a:highlight>
                  <a:srgbClr val="FFE36E"/>
                </a:highlight>
                <a:latin typeface="Consolas" pitchFamily="34" charset="0"/>
                <a:ea typeface="Consolas" pitchFamily="34" charset="-122"/>
                <a:cs typeface="Consolas" pitchFamily="34" charset="-120"/>
              </a:rPr>
              <a:t>[CONFIRM]</a:t>
            </a:r>
            <a:endParaRPr lang="en-US" sz="1600" dirty="0"/>
          </a:p>
        </p:txBody>
      </p:sp>
      <p:sp>
        <p:nvSpPr>
          <p:cNvPr id="24" name="Shape 22"/>
          <p:cNvSpPr/>
          <p:nvPr/>
        </p:nvSpPr>
        <p:spPr>
          <a:xfrm>
            <a:off x="548640" y="5276088"/>
            <a:ext cx="11094415" cy="0"/>
          </a:xfrm>
          <a:prstGeom prst="line">
            <a:avLst/>
          </a:prstGeom>
          <a:noFill/>
          <a:ln w="15875">
            <a:solidFill>
              <a:srgbClr val="002FA7"/>
            </a:solidFill>
            <a:prstDash val="solid"/>
          </a:ln>
        </p:spPr>
      </p:sp>
      <p:sp>
        <p:nvSpPr>
          <p:cNvPr id="25" name="Text 23"/>
          <p:cNvSpPr txBox="1"/>
          <p:nvPr/>
        </p:nvSpPr>
        <p:spPr>
          <a:xfrm>
            <a:off x="548640" y="5440680"/>
            <a:ext cx="6309360" cy="411480"/>
          </a:xfrm>
          <a:prstGeom prst="rect">
            <a:avLst/>
          </a:prstGeom>
          <a:noFill/>
          <a:ln/>
        </p:spPr>
        <p:txBody>
          <a:bodyPr wrap="square" lIns="0" tIns="0" rIns="0" bIns="0" rtlCol="0" anchor="t"/>
          <a:lstStyle/>
          <a:p>
            <a:pPr indent="0" marL="0">
              <a:buNone/>
            </a:pPr>
            <a:r>
              <a:rPr lang="en-US" sz="1700" b="1" dirty="0">
                <a:solidFill>
                  <a:srgbClr val="002FA7"/>
                </a:solidFill>
                <a:latin typeface="Inter" pitchFamily="34" charset="0"/>
                <a:ea typeface="Inter" pitchFamily="34" charset="-122"/>
                <a:cs typeface="Inter" pitchFamily="34" charset="-120"/>
              </a:rPr>
              <a:t>How will the system move to post-quantum cryptography?</a:t>
            </a:r>
            <a:endParaRPr lang="en-US" sz="1700" dirty="0"/>
          </a:p>
        </p:txBody>
      </p:sp>
      <p:sp>
        <p:nvSpPr>
          <p:cNvPr id="26" name="Text 24"/>
          <p:cNvSpPr txBox="1"/>
          <p:nvPr/>
        </p:nvSpPr>
        <p:spPr>
          <a:xfrm>
            <a:off x="7040880" y="5440680"/>
            <a:ext cx="4572000" cy="411480"/>
          </a:xfrm>
          <a:prstGeom prst="rect">
            <a:avLst/>
          </a:prstGeom>
          <a:noFill/>
          <a:ln/>
        </p:spPr>
        <p:txBody>
          <a:bodyPr wrap="square" lIns="0" tIns="0" rIns="0" bIns="0" rtlCol="0" anchor="t"/>
          <a:lstStyle/>
          <a:p>
            <a:pPr indent="0" marL="0">
              <a:buNone/>
            </a:pPr>
            <a:r>
              <a:rPr lang="en-US" sz="1700" b="1" dirty="0">
                <a:solidFill>
                  <a:srgbClr val="002FA7"/>
                </a:solidFill>
                <a:latin typeface="Inter" pitchFamily="34" charset="0"/>
                <a:ea typeface="Inter" pitchFamily="34" charset="-122"/>
                <a:cs typeface="Inter" pitchFamily="34" charset="-120"/>
              </a:rPr>
              <a:t>Built in </a:t>
            </a:r>
            <a:pPr indent="0" marL="0">
              <a:buNone/>
            </a:pPr>
            <a:r>
              <a:rPr lang="en-US" sz="1700" b="1" dirty="0">
                <a:solidFill>
                  <a:srgbClr val="0A0A0A"/>
                </a:solidFill>
                <a:highlight>
                  <a:srgbClr val="FFE36E"/>
                </a:highlight>
                <a:latin typeface="Consolas" pitchFamily="34" charset="0"/>
                <a:ea typeface="Consolas" pitchFamily="34" charset="-122"/>
                <a:cs typeface="Consolas" pitchFamily="34" charset="-120"/>
              </a:rPr>
              <a:t>[CONFIRM status]</a:t>
            </a:r>
            <a:endParaRPr lang="en-US" sz="1600" dirty="0"/>
          </a:p>
        </p:txBody>
      </p:sp>
      <p:sp>
        <p:nvSpPr>
          <p:cNvPr id="27" name="Shape 25"/>
          <p:cNvSpPr/>
          <p:nvPr/>
        </p:nvSpPr>
        <p:spPr>
          <a:xfrm>
            <a:off x="548640" y="5897880"/>
            <a:ext cx="11094415" cy="0"/>
          </a:xfrm>
          <a:prstGeom prst="line">
            <a:avLst/>
          </a:prstGeom>
          <a:noFill/>
          <a:ln w="9525">
            <a:solidFill>
              <a:srgbClr val="C9C9C4"/>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WHERE WE START</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S13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SOURCE — DST GLP LIST, CDSCO REGISTER, NABL PORTAL, READ 1 OCT 2026; PHARMA UNITS: INDUSTRY ESTIMATE</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№13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№13 · WHERE WE START</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We start where data must stay protected</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the longest.</a:t>
            </a:r>
            <a:endParaRPr lang="en-US" sz="4000" dirty="0"/>
          </a:p>
        </p:txBody>
      </p:sp>
      <p:sp>
        <p:nvSpPr>
          <p:cNvPr id="10" name="Shape 8"/>
          <p:cNvSpPr/>
          <p:nvPr/>
        </p:nvSpPr>
        <p:spPr>
          <a:xfrm>
            <a:off x="548640" y="2560320"/>
            <a:ext cx="6035040" cy="0"/>
          </a:xfrm>
          <a:prstGeom prst="line">
            <a:avLst/>
          </a:prstGeom>
          <a:noFill/>
          <a:ln w="15875">
            <a:solidFill>
              <a:srgbClr val="002FA7"/>
            </a:solidFill>
            <a:prstDash val="solid"/>
          </a:ln>
        </p:spPr>
      </p:sp>
      <p:sp>
        <p:nvSpPr>
          <p:cNvPr id="11" name="Text 9"/>
          <p:cNvSpPr txBox="1"/>
          <p:nvPr/>
        </p:nvSpPr>
        <p:spPr>
          <a:xfrm>
            <a:off x="548640" y="2633472"/>
            <a:ext cx="2194560" cy="594360"/>
          </a:xfrm>
          <a:prstGeom prst="rect">
            <a:avLst/>
          </a:prstGeom>
          <a:noFill/>
          <a:ln/>
        </p:spPr>
        <p:txBody>
          <a:bodyPr wrap="square" lIns="0" tIns="0" rIns="0" bIns="0" rtlCol="0" anchor="t"/>
          <a:lstStyle/>
          <a:p>
            <a:pPr indent="0" marL="0">
              <a:buNone/>
            </a:pPr>
            <a:r>
              <a:rPr lang="en-US" sz="3000" dirty="0">
                <a:solidFill>
                  <a:srgbClr val="002FA7"/>
                </a:solidFill>
                <a:latin typeface="Inter Black" pitchFamily="34" charset="0"/>
                <a:ea typeface="Inter Black" pitchFamily="34" charset="-122"/>
                <a:cs typeface="Inter Black" pitchFamily="34" charset="-120"/>
              </a:rPr>
              <a:t>61</a:t>
            </a:r>
            <a:endParaRPr lang="en-US" sz="3000" dirty="0"/>
          </a:p>
        </p:txBody>
      </p:sp>
      <p:sp>
        <p:nvSpPr>
          <p:cNvPr id="12" name="Text 10"/>
          <p:cNvSpPr txBox="1"/>
          <p:nvPr/>
        </p:nvSpPr>
        <p:spPr>
          <a:xfrm>
            <a:off x="2834640" y="2761488"/>
            <a:ext cx="3749040" cy="45720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certified GLP pre-clinical facilities</a:t>
            </a:r>
            <a:endParaRPr lang="en-US" sz="1500" dirty="0"/>
          </a:p>
        </p:txBody>
      </p:sp>
      <p:sp>
        <p:nvSpPr>
          <p:cNvPr id="13" name="Shape 11"/>
          <p:cNvSpPr/>
          <p:nvPr/>
        </p:nvSpPr>
        <p:spPr>
          <a:xfrm>
            <a:off x="548640" y="3273552"/>
            <a:ext cx="6035040" cy="0"/>
          </a:xfrm>
          <a:prstGeom prst="line">
            <a:avLst/>
          </a:prstGeom>
          <a:noFill/>
          <a:ln w="15875">
            <a:solidFill>
              <a:srgbClr val="002FA7"/>
            </a:solidFill>
            <a:prstDash val="solid"/>
          </a:ln>
        </p:spPr>
      </p:sp>
      <p:sp>
        <p:nvSpPr>
          <p:cNvPr id="14" name="Text 12"/>
          <p:cNvSpPr txBox="1"/>
          <p:nvPr/>
        </p:nvSpPr>
        <p:spPr>
          <a:xfrm>
            <a:off x="548640" y="3346704"/>
            <a:ext cx="2194560" cy="594360"/>
          </a:xfrm>
          <a:prstGeom prst="rect">
            <a:avLst/>
          </a:prstGeom>
          <a:noFill/>
          <a:ln/>
        </p:spPr>
        <p:txBody>
          <a:bodyPr wrap="square" lIns="0" tIns="0" rIns="0" bIns="0" rtlCol="0" anchor="t"/>
          <a:lstStyle/>
          <a:p>
            <a:pPr indent="0" marL="0">
              <a:buNone/>
            </a:pPr>
            <a:r>
              <a:rPr lang="en-US" sz="3000" dirty="0">
                <a:solidFill>
                  <a:srgbClr val="002FA7"/>
                </a:solidFill>
                <a:latin typeface="Inter Black" pitchFamily="34" charset="0"/>
                <a:ea typeface="Inter Black" pitchFamily="34" charset="-122"/>
                <a:cs typeface="Inter Black" pitchFamily="34" charset="-120"/>
              </a:rPr>
              <a:t>~89</a:t>
            </a:r>
            <a:endParaRPr lang="en-US" sz="3000" dirty="0"/>
          </a:p>
        </p:txBody>
      </p:sp>
      <p:sp>
        <p:nvSpPr>
          <p:cNvPr id="15" name="Text 13"/>
          <p:cNvSpPr txBox="1"/>
          <p:nvPr/>
        </p:nvSpPr>
        <p:spPr>
          <a:xfrm>
            <a:off x="2834640" y="3474720"/>
            <a:ext cx="3749040" cy="45720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medical device testing labs (CDSCO)</a:t>
            </a:r>
            <a:endParaRPr lang="en-US" sz="1500" dirty="0"/>
          </a:p>
        </p:txBody>
      </p:sp>
      <p:sp>
        <p:nvSpPr>
          <p:cNvPr id="16" name="Shape 14"/>
          <p:cNvSpPr/>
          <p:nvPr/>
        </p:nvSpPr>
        <p:spPr>
          <a:xfrm>
            <a:off x="548640" y="3986784"/>
            <a:ext cx="6035040" cy="0"/>
          </a:xfrm>
          <a:prstGeom prst="line">
            <a:avLst/>
          </a:prstGeom>
          <a:noFill/>
          <a:ln w="9525">
            <a:solidFill>
              <a:srgbClr val="C9C9C4"/>
            </a:solidFill>
            <a:prstDash val="solid"/>
          </a:ln>
        </p:spPr>
      </p:sp>
      <p:sp>
        <p:nvSpPr>
          <p:cNvPr id="17" name="Text 15"/>
          <p:cNvSpPr txBox="1"/>
          <p:nvPr/>
        </p:nvSpPr>
        <p:spPr>
          <a:xfrm>
            <a:off x="548640" y="4059936"/>
            <a:ext cx="2194560" cy="594360"/>
          </a:xfrm>
          <a:prstGeom prst="rect">
            <a:avLst/>
          </a:prstGeom>
          <a:noFill/>
          <a:ln/>
        </p:spPr>
        <p:txBody>
          <a:bodyPr wrap="square" lIns="0" tIns="0" rIns="0" bIns="0" rtlCol="0" anchor="t"/>
          <a:lstStyle/>
          <a:p>
            <a:pPr indent="0" marL="0">
              <a:buNone/>
            </a:pPr>
            <a:r>
              <a:rPr lang="en-US" sz="3000" dirty="0">
                <a:solidFill>
                  <a:srgbClr val="0A0A0A"/>
                </a:solidFill>
                <a:latin typeface="Inter Black" pitchFamily="34" charset="0"/>
                <a:ea typeface="Inter Black" pitchFamily="34" charset="-122"/>
                <a:cs typeface="Inter Black" pitchFamily="34" charset="-120"/>
              </a:rPr>
              <a:t>~10,500</a:t>
            </a:r>
            <a:endParaRPr lang="en-US" sz="3000" dirty="0"/>
          </a:p>
        </p:txBody>
      </p:sp>
      <p:sp>
        <p:nvSpPr>
          <p:cNvPr id="18" name="Text 16"/>
          <p:cNvSpPr txBox="1"/>
          <p:nvPr/>
        </p:nvSpPr>
        <p:spPr>
          <a:xfrm>
            <a:off x="2834640" y="4187952"/>
            <a:ext cx="3749040" cy="45720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pharma units, each with a QC lab</a:t>
            </a:r>
            <a:endParaRPr lang="en-US" sz="1500" dirty="0"/>
          </a:p>
        </p:txBody>
      </p:sp>
      <p:sp>
        <p:nvSpPr>
          <p:cNvPr id="19" name="Shape 17"/>
          <p:cNvSpPr/>
          <p:nvPr/>
        </p:nvSpPr>
        <p:spPr>
          <a:xfrm>
            <a:off x="548640" y="4700016"/>
            <a:ext cx="6035040" cy="0"/>
          </a:xfrm>
          <a:prstGeom prst="line">
            <a:avLst/>
          </a:prstGeom>
          <a:noFill/>
          <a:ln w="9525">
            <a:solidFill>
              <a:srgbClr val="C9C9C4"/>
            </a:solidFill>
            <a:prstDash val="solid"/>
          </a:ln>
        </p:spPr>
      </p:sp>
      <p:sp>
        <p:nvSpPr>
          <p:cNvPr id="20" name="Text 18"/>
          <p:cNvSpPr txBox="1"/>
          <p:nvPr/>
        </p:nvSpPr>
        <p:spPr>
          <a:xfrm>
            <a:off x="548640" y="4773168"/>
            <a:ext cx="2194560" cy="594360"/>
          </a:xfrm>
          <a:prstGeom prst="rect">
            <a:avLst/>
          </a:prstGeom>
          <a:noFill/>
          <a:ln/>
        </p:spPr>
        <p:txBody>
          <a:bodyPr wrap="square" lIns="0" tIns="0" rIns="0" bIns="0" rtlCol="0" anchor="t"/>
          <a:lstStyle/>
          <a:p>
            <a:pPr indent="0" marL="0">
              <a:buNone/>
            </a:pPr>
            <a:r>
              <a:rPr lang="en-US" sz="3000" dirty="0">
                <a:solidFill>
                  <a:srgbClr val="0A0A0A"/>
                </a:solidFill>
                <a:latin typeface="Inter Black" pitchFamily="34" charset="0"/>
                <a:ea typeface="Inter Black" pitchFamily="34" charset="-122"/>
                <a:cs typeface="Inter Black" pitchFamily="34" charset="-120"/>
              </a:rPr>
              <a:t>6,815</a:t>
            </a:r>
            <a:endParaRPr lang="en-US" sz="3000" dirty="0"/>
          </a:p>
        </p:txBody>
      </p:sp>
      <p:sp>
        <p:nvSpPr>
          <p:cNvPr id="21" name="Text 19"/>
          <p:cNvSpPr txBox="1"/>
          <p:nvPr/>
        </p:nvSpPr>
        <p:spPr>
          <a:xfrm>
            <a:off x="2834640" y="4901184"/>
            <a:ext cx="3749040" cy="45720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NABL-accredited testing labs, next</a:t>
            </a:r>
            <a:endParaRPr lang="en-US" sz="1500" dirty="0"/>
          </a:p>
        </p:txBody>
      </p:sp>
      <p:sp>
        <p:nvSpPr>
          <p:cNvPr id="22" name="Text 20"/>
          <p:cNvSpPr txBox="1"/>
          <p:nvPr/>
        </p:nvSpPr>
        <p:spPr>
          <a:xfrm>
            <a:off x="548640" y="5486400"/>
            <a:ext cx="6035040" cy="320040"/>
          </a:xfrm>
          <a:prstGeom prst="rect">
            <a:avLst/>
          </a:prstGeom>
          <a:noFill/>
          <a:ln/>
        </p:spPr>
        <p:txBody>
          <a:bodyPr wrap="square" lIns="0" tIns="0" rIns="0" bIns="0" rtlCol="0" anchor="t"/>
          <a:lstStyle/>
          <a:p>
            <a:pPr indent="0" marL="0">
              <a:buNone/>
            </a:pPr>
            <a:r>
              <a:rPr lang="en-US" sz="1400" b="1" dirty="0">
                <a:solidFill>
                  <a:srgbClr val="0A0A0A"/>
                </a:solidFill>
                <a:latin typeface="Inter" pitchFamily="34" charset="0"/>
                <a:ea typeface="Inter" pitchFamily="34" charset="-122"/>
                <a:cs typeface="Inter" pitchFamily="34" charset="-120"/>
              </a:rPr>
              <a:t>First deployment: </a:t>
            </a:r>
            <a:pPr indent="0" marL="0">
              <a:buNone/>
            </a:pPr>
            <a:r>
              <a:rPr lang="en-US" sz="1400" b="1" dirty="0">
                <a:solidFill>
                  <a:srgbClr val="0A0A0A"/>
                </a:solidFill>
                <a:highlight>
                  <a:srgbClr val="FFE36E"/>
                </a:highlight>
                <a:latin typeface="Consolas" pitchFamily="34" charset="0"/>
                <a:ea typeface="Consolas" pitchFamily="34" charset="-122"/>
                <a:cs typeface="Consolas" pitchFamily="34" charset="-120"/>
              </a:rPr>
              <a:t>[MDR, if naming is cleared]</a:t>
            </a:r>
            <a:endParaRPr lang="en-US" sz="1600" dirty="0"/>
          </a:p>
        </p:txBody>
      </p:sp>
      <p:sp>
        <p:nvSpPr>
          <p:cNvPr id="23" name="Shape 21"/>
          <p:cNvSpPr/>
          <p:nvPr/>
        </p:nvSpPr>
        <p:spPr>
          <a:xfrm>
            <a:off x="7543800" y="2331720"/>
            <a:ext cx="3657600" cy="3657600"/>
          </a:xfrm>
          <a:prstGeom prst="ellipse">
            <a:avLst/>
          </a:prstGeom>
          <a:ln w="9525">
            <a:solidFill>
              <a:srgbClr val="0A0A0A"/>
            </a:solidFill>
            <a:prstDash val="solid"/>
          </a:ln>
        </p:spPr>
      </p:sp>
      <p:sp>
        <p:nvSpPr>
          <p:cNvPr id="24" name="Text 22"/>
          <p:cNvSpPr txBox="1"/>
          <p:nvPr/>
        </p:nvSpPr>
        <p:spPr>
          <a:xfrm>
            <a:off x="8458200" y="2496312"/>
            <a:ext cx="1828800" cy="228600"/>
          </a:xfrm>
          <a:prstGeom prst="rect">
            <a:avLst/>
          </a:prstGeom>
          <a:noFill/>
          <a:ln/>
        </p:spPr>
        <p:txBody>
          <a:bodyPr wrap="square" lIns="0" tIns="0" rIns="0" bIns="0" rtlCol="0" anchor="t"/>
          <a:lstStyle/>
          <a:p>
            <a:pPr algn="ctr" indent="0" marL="0">
              <a:buNone/>
            </a:pPr>
            <a:r>
              <a:rPr lang="en-US" sz="700" spc="100" kern="0" dirty="0">
                <a:solidFill>
                  <a:srgbClr val="0A0A0A"/>
                </a:solidFill>
                <a:latin typeface="Consolas" pitchFamily="34" charset="0"/>
                <a:ea typeface="Consolas" pitchFamily="34" charset="-122"/>
                <a:cs typeface="Consolas" pitchFamily="34" charset="-120"/>
              </a:rPr>
              <a:t>NABL LABS</a:t>
            </a:r>
            <a:endParaRPr lang="en-US" sz="700" dirty="0"/>
          </a:p>
        </p:txBody>
      </p:sp>
      <p:sp>
        <p:nvSpPr>
          <p:cNvPr id="25" name="Shape 23"/>
          <p:cNvSpPr/>
          <p:nvPr/>
        </p:nvSpPr>
        <p:spPr>
          <a:xfrm>
            <a:off x="8092440" y="2880360"/>
            <a:ext cx="2560320" cy="2560320"/>
          </a:xfrm>
          <a:prstGeom prst="ellipse">
            <a:avLst/>
          </a:prstGeom>
          <a:ln w="9525">
            <a:solidFill>
              <a:srgbClr val="0A0A0A"/>
            </a:solidFill>
            <a:prstDash val="solid"/>
          </a:ln>
        </p:spPr>
      </p:sp>
      <p:sp>
        <p:nvSpPr>
          <p:cNvPr id="26" name="Text 24"/>
          <p:cNvSpPr txBox="1"/>
          <p:nvPr/>
        </p:nvSpPr>
        <p:spPr>
          <a:xfrm>
            <a:off x="8458200" y="3044952"/>
            <a:ext cx="1828800" cy="228600"/>
          </a:xfrm>
          <a:prstGeom prst="rect">
            <a:avLst/>
          </a:prstGeom>
          <a:noFill/>
          <a:ln/>
        </p:spPr>
        <p:txBody>
          <a:bodyPr wrap="square" lIns="0" tIns="0" rIns="0" bIns="0" rtlCol="0" anchor="t"/>
          <a:lstStyle/>
          <a:p>
            <a:pPr algn="ctr" indent="0" marL="0">
              <a:buNone/>
            </a:pPr>
            <a:r>
              <a:rPr lang="en-US" sz="700" spc="100" kern="0" dirty="0">
                <a:solidFill>
                  <a:srgbClr val="0A0A0A"/>
                </a:solidFill>
                <a:latin typeface="Consolas" pitchFamily="34" charset="0"/>
                <a:ea typeface="Consolas" pitchFamily="34" charset="-122"/>
                <a:cs typeface="Consolas" pitchFamily="34" charset="-120"/>
              </a:rPr>
              <a:t>PHARMA QC</a:t>
            </a:r>
            <a:endParaRPr lang="en-US" sz="700" dirty="0"/>
          </a:p>
        </p:txBody>
      </p:sp>
      <p:sp>
        <p:nvSpPr>
          <p:cNvPr id="27" name="Shape 25"/>
          <p:cNvSpPr/>
          <p:nvPr/>
        </p:nvSpPr>
        <p:spPr>
          <a:xfrm>
            <a:off x="8595360" y="3383280"/>
            <a:ext cx="1554480" cy="1554480"/>
          </a:xfrm>
          <a:prstGeom prst="ellipse">
            <a:avLst/>
          </a:prstGeom>
          <a:ln w="9525">
            <a:solidFill>
              <a:srgbClr val="0A0A0A"/>
            </a:solidFill>
            <a:prstDash val="solid"/>
          </a:ln>
        </p:spPr>
      </p:sp>
      <p:sp>
        <p:nvSpPr>
          <p:cNvPr id="28" name="Text 26"/>
          <p:cNvSpPr txBox="1"/>
          <p:nvPr/>
        </p:nvSpPr>
        <p:spPr>
          <a:xfrm>
            <a:off x="8458200" y="3547872"/>
            <a:ext cx="1828800" cy="228600"/>
          </a:xfrm>
          <a:prstGeom prst="rect">
            <a:avLst/>
          </a:prstGeom>
          <a:noFill/>
          <a:ln/>
        </p:spPr>
        <p:txBody>
          <a:bodyPr wrap="square" lIns="0" tIns="0" rIns="0" bIns="0" rtlCol="0" anchor="t"/>
          <a:lstStyle/>
          <a:p>
            <a:pPr algn="ctr" indent="0" marL="0">
              <a:buNone/>
            </a:pPr>
            <a:r>
              <a:rPr lang="en-US" sz="700" spc="100" kern="0" dirty="0">
                <a:solidFill>
                  <a:srgbClr val="0A0A0A"/>
                </a:solidFill>
                <a:latin typeface="Consolas" pitchFamily="34" charset="0"/>
                <a:ea typeface="Consolas" pitchFamily="34" charset="-122"/>
                <a:cs typeface="Consolas" pitchFamily="34" charset="-120"/>
              </a:rPr>
              <a:t>GLP + DEVICE</a:t>
            </a:r>
            <a:endParaRPr lang="en-US" sz="700" dirty="0"/>
          </a:p>
        </p:txBody>
      </p:sp>
      <p:sp>
        <p:nvSpPr>
          <p:cNvPr id="29" name="Shape 27"/>
          <p:cNvSpPr/>
          <p:nvPr/>
        </p:nvSpPr>
        <p:spPr>
          <a:xfrm>
            <a:off x="8988552" y="3867912"/>
            <a:ext cx="768096" cy="768096"/>
          </a:xfrm>
          <a:prstGeom prst="ellipse">
            <a:avLst/>
          </a:prstGeom>
          <a:solidFill>
            <a:srgbClr val="002FA7"/>
          </a:solidFill>
          <a:ln/>
        </p:spPr>
      </p:sp>
      <p:sp>
        <p:nvSpPr>
          <p:cNvPr id="30" name="Text 28"/>
          <p:cNvSpPr txBox="1"/>
          <p:nvPr/>
        </p:nvSpPr>
        <p:spPr>
          <a:xfrm>
            <a:off x="8988552" y="4133088"/>
            <a:ext cx="768096" cy="228600"/>
          </a:xfrm>
          <a:prstGeom prst="rect">
            <a:avLst/>
          </a:prstGeom>
          <a:noFill/>
          <a:ln/>
        </p:spPr>
        <p:txBody>
          <a:bodyPr wrap="square" lIns="0" tIns="0" rIns="0" bIns="0" rtlCol="0" anchor="t"/>
          <a:lstStyle/>
          <a:p>
            <a:pPr algn="ctr" indent="0" marL="0">
              <a:buNone/>
            </a:pPr>
            <a:r>
              <a:rPr lang="en-US" sz="900" spc="200" kern="0" dirty="0">
                <a:solidFill>
                  <a:srgbClr val="FAFAF8"/>
                </a:solidFill>
                <a:latin typeface="Consolas" pitchFamily="34" charset="0"/>
                <a:ea typeface="Consolas" pitchFamily="34" charset="-122"/>
                <a:cs typeface="Consolas" pitchFamily="34" charset="-120"/>
              </a:rPr>
              <a:t>START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QUANTUM VALLEY</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S14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№14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№14 · WHY THIS BELONGS IN QUANTUM VALLEY</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Quantum Valley builds the compute.</a:t>
            </a:r>
            <a:endParaRPr lang="en-US" sz="4000" dirty="0"/>
          </a:p>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We protect the data it could expose.</a:t>
            </a:r>
            <a:endParaRPr lang="en-US" sz="4000" dirty="0"/>
          </a:p>
        </p:txBody>
      </p:sp>
      <p:sp>
        <p:nvSpPr>
          <p:cNvPr id="10" name="Shape 8"/>
          <p:cNvSpPr/>
          <p:nvPr/>
        </p:nvSpPr>
        <p:spPr>
          <a:xfrm>
            <a:off x="548640" y="2606040"/>
            <a:ext cx="3515258" cy="0"/>
          </a:xfrm>
          <a:prstGeom prst="line">
            <a:avLst/>
          </a:prstGeom>
          <a:noFill/>
          <a:ln w="12700">
            <a:solidFill>
              <a:srgbClr val="0A0A0A"/>
            </a:solidFill>
            <a:prstDash val="solid"/>
          </a:ln>
        </p:spPr>
      </p:sp>
      <p:sp>
        <p:nvSpPr>
          <p:cNvPr id="11" name="Text 9"/>
          <p:cNvSpPr txBox="1"/>
          <p:nvPr/>
        </p:nvSpPr>
        <p:spPr>
          <a:xfrm>
            <a:off x="548640" y="2743200"/>
            <a:ext cx="3515258"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COMPUTE</a:t>
            </a:r>
            <a:endParaRPr lang="en-US" sz="1000" dirty="0"/>
          </a:p>
        </p:txBody>
      </p:sp>
      <p:sp>
        <p:nvSpPr>
          <p:cNvPr id="12" name="Text 10"/>
          <p:cNvSpPr txBox="1"/>
          <p:nvPr/>
        </p:nvSpPr>
        <p:spPr>
          <a:xfrm>
            <a:off x="548640" y="3063240"/>
            <a:ext cx="3332378" cy="914400"/>
          </a:xfrm>
          <a:prstGeom prst="rect">
            <a:avLst/>
          </a:prstGeom>
          <a:noFill/>
          <a:ln/>
        </p:spPr>
        <p:txBody>
          <a:bodyPr wrap="square" lIns="0" tIns="0" rIns="0" bIns="0" rtlCol="0" anchor="t"/>
          <a:lstStyle/>
          <a:p>
            <a:pPr indent="0" marL="0">
              <a:buNone/>
            </a:pPr>
            <a:r>
              <a:rPr lang="en-US" sz="1900" b="1" dirty="0">
                <a:solidFill>
                  <a:srgbClr val="0A0A0A"/>
                </a:solidFill>
                <a:latin typeface="Inter" pitchFamily="34" charset="0"/>
                <a:ea typeface="Inter" pitchFamily="34" charset="-122"/>
                <a:cs typeface="Inter" pitchFamily="34" charset="-120"/>
              </a:rPr>
              <a:t>Amaravati will host an IBM Quantum System Two</a:t>
            </a:r>
            <a:endParaRPr lang="en-US" sz="1900" dirty="0"/>
          </a:p>
        </p:txBody>
      </p:sp>
      <p:sp>
        <p:nvSpPr>
          <p:cNvPr id="13" name="Text 11"/>
          <p:cNvSpPr txBox="1"/>
          <p:nvPr/>
        </p:nvSpPr>
        <p:spPr>
          <a:xfrm>
            <a:off x="548640" y="3977640"/>
            <a:ext cx="3332378" cy="64008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Pharma is among its target applications.</a:t>
            </a:r>
            <a:endParaRPr lang="en-US" sz="1400" dirty="0"/>
          </a:p>
        </p:txBody>
      </p:sp>
      <p:sp>
        <p:nvSpPr>
          <p:cNvPr id="14" name="Text 12"/>
          <p:cNvSpPr txBox="1"/>
          <p:nvPr/>
        </p:nvSpPr>
        <p:spPr>
          <a:xfrm>
            <a:off x="548640" y="4709160"/>
            <a:ext cx="3515258" cy="731520"/>
          </a:xfrm>
          <a:prstGeom prst="rect">
            <a:avLst/>
          </a:prstGeom>
          <a:noFill/>
          <a:ln/>
        </p:spPr>
        <p:txBody>
          <a:bodyPr wrap="square" lIns="0" tIns="0" rIns="0" bIns="0" rtlCol="0" anchor="t"/>
          <a:lstStyle/>
          <a:p>
            <a:pPr indent="0" marL="0">
              <a:buNone/>
            </a:pPr>
            <a:r>
              <a:rPr lang="en-US" sz="4000" spc="-100" kern="0" dirty="0">
                <a:solidFill>
                  <a:srgbClr val="0A0A0A"/>
                </a:solidFill>
                <a:latin typeface="Inter Black" pitchFamily="34" charset="0"/>
                <a:ea typeface="Inter Black" pitchFamily="34" charset="-122"/>
                <a:cs typeface="Inter Black" pitchFamily="34" charset="-120"/>
              </a:rPr>
              <a:t>156</a:t>
            </a:r>
            <a:endParaRPr lang="en-US" sz="4000" dirty="0"/>
          </a:p>
        </p:txBody>
      </p:sp>
      <p:sp>
        <p:nvSpPr>
          <p:cNvPr id="15" name="Text 13"/>
          <p:cNvSpPr txBox="1"/>
          <p:nvPr/>
        </p:nvSpPr>
        <p:spPr>
          <a:xfrm>
            <a:off x="548640" y="5440680"/>
            <a:ext cx="3515258" cy="228600"/>
          </a:xfrm>
          <a:prstGeom prst="rect">
            <a:avLst/>
          </a:prstGeom>
          <a:noFill/>
          <a:ln/>
        </p:spPr>
        <p:txBody>
          <a:bodyPr wrap="square" lIns="0" tIns="0" rIns="0" bIns="0" rtlCol="0" anchor="t"/>
          <a:lstStyle/>
          <a:p>
            <a:pPr indent="0" marL="0">
              <a:buNone/>
            </a:pPr>
            <a:r>
              <a:rPr lang="en-US" sz="900" spc="200" kern="0" dirty="0">
                <a:solidFill>
                  <a:srgbClr val="6B6B6B"/>
                </a:solidFill>
                <a:latin typeface="Consolas" pitchFamily="34" charset="0"/>
                <a:ea typeface="Consolas" pitchFamily="34" charset="-122"/>
                <a:cs typeface="Consolas" pitchFamily="34" charset="-120"/>
              </a:rPr>
              <a:t>QUBITS · HERON PROCESSOR</a:t>
            </a:r>
            <a:endParaRPr lang="en-US" sz="900" dirty="0"/>
          </a:p>
        </p:txBody>
      </p:sp>
      <p:sp>
        <p:nvSpPr>
          <p:cNvPr id="16" name="Shape 14"/>
          <p:cNvSpPr/>
          <p:nvPr/>
        </p:nvSpPr>
        <p:spPr>
          <a:xfrm>
            <a:off x="4338218" y="2606040"/>
            <a:ext cx="3515258" cy="0"/>
          </a:xfrm>
          <a:prstGeom prst="line">
            <a:avLst/>
          </a:prstGeom>
          <a:noFill/>
          <a:ln w="12700">
            <a:solidFill>
              <a:srgbClr val="0A0A0A"/>
            </a:solidFill>
            <a:prstDash val="solid"/>
          </a:ln>
        </p:spPr>
      </p:sp>
      <p:sp>
        <p:nvSpPr>
          <p:cNvPr id="17" name="Text 15"/>
          <p:cNvSpPr txBox="1"/>
          <p:nvPr/>
        </p:nvSpPr>
        <p:spPr>
          <a:xfrm>
            <a:off x="4338218" y="2743200"/>
            <a:ext cx="3515258"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EXPOSURE</a:t>
            </a:r>
            <a:endParaRPr lang="en-US" sz="1000" dirty="0"/>
          </a:p>
        </p:txBody>
      </p:sp>
      <p:sp>
        <p:nvSpPr>
          <p:cNvPr id="18" name="Text 16"/>
          <p:cNvSpPr txBox="1"/>
          <p:nvPr/>
        </p:nvSpPr>
        <p:spPr>
          <a:xfrm>
            <a:off x="4338218" y="3063240"/>
            <a:ext cx="3332378" cy="914400"/>
          </a:xfrm>
          <a:prstGeom prst="rect">
            <a:avLst/>
          </a:prstGeom>
          <a:noFill/>
          <a:ln/>
        </p:spPr>
        <p:txBody>
          <a:bodyPr wrap="square" lIns="0" tIns="0" rIns="0" bIns="0" rtlCol="0" anchor="t"/>
          <a:lstStyle/>
          <a:p>
            <a:pPr indent="0" marL="0">
              <a:buNone/>
            </a:pPr>
            <a:r>
              <a:rPr lang="en-US" sz="1900" b="1" dirty="0">
                <a:solidFill>
                  <a:srgbClr val="0A0A0A"/>
                </a:solidFill>
                <a:latin typeface="Inter" pitchFamily="34" charset="0"/>
                <a:ea typeface="Inter" pitchFamily="34" charset="-122"/>
                <a:cs typeface="Inter" pitchFamily="34" charset="-120"/>
              </a:rPr>
              <a:t>The same sector holds the data quantum could expose</a:t>
            </a:r>
            <a:endParaRPr lang="en-US" sz="1900" dirty="0"/>
          </a:p>
        </p:txBody>
      </p:sp>
      <p:sp>
        <p:nvSpPr>
          <p:cNvPr id="19" name="Text 17"/>
          <p:cNvSpPr txBox="1"/>
          <p:nvPr/>
        </p:nvSpPr>
        <p:spPr>
          <a:xfrm>
            <a:off x="4338218" y="3977640"/>
            <a:ext cx="3332378" cy="64008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Pharma and device labs keep records for decades.</a:t>
            </a:r>
            <a:endParaRPr lang="en-US" sz="1400" dirty="0"/>
          </a:p>
        </p:txBody>
      </p:sp>
      <p:sp>
        <p:nvSpPr>
          <p:cNvPr id="20" name="Text 18"/>
          <p:cNvSpPr txBox="1"/>
          <p:nvPr/>
        </p:nvSpPr>
        <p:spPr>
          <a:xfrm>
            <a:off x="4338218" y="4709160"/>
            <a:ext cx="3515258" cy="731520"/>
          </a:xfrm>
          <a:prstGeom prst="rect">
            <a:avLst/>
          </a:prstGeom>
          <a:noFill/>
          <a:ln/>
        </p:spPr>
        <p:txBody>
          <a:bodyPr wrap="square" lIns="0" tIns="0" rIns="0" bIns="0" rtlCol="0" anchor="t"/>
          <a:lstStyle/>
          <a:p>
            <a:pPr indent="0" marL="0">
              <a:buNone/>
            </a:pPr>
            <a:r>
              <a:rPr lang="en-US" sz="4000" spc="-100" kern="0" dirty="0">
                <a:solidFill>
                  <a:srgbClr val="0A0A0A"/>
                </a:solidFill>
                <a:latin typeface="Inter Black" pitchFamily="34" charset="0"/>
                <a:ea typeface="Inter Black" pitchFamily="34" charset="-122"/>
                <a:cs typeface="Inter Black" pitchFamily="34" charset="-120"/>
              </a:rPr>
              <a:t>15 yrs</a:t>
            </a:r>
            <a:endParaRPr lang="en-US" sz="4000" dirty="0"/>
          </a:p>
        </p:txBody>
      </p:sp>
      <p:sp>
        <p:nvSpPr>
          <p:cNvPr id="21" name="Text 19"/>
          <p:cNvSpPr txBox="1"/>
          <p:nvPr/>
        </p:nvSpPr>
        <p:spPr>
          <a:xfrm>
            <a:off x="4338218" y="5440680"/>
            <a:ext cx="3515258" cy="228600"/>
          </a:xfrm>
          <a:prstGeom prst="rect">
            <a:avLst/>
          </a:prstGeom>
          <a:noFill/>
          <a:ln/>
        </p:spPr>
        <p:txBody>
          <a:bodyPr wrap="square" lIns="0" tIns="0" rIns="0" bIns="0" rtlCol="0" anchor="t"/>
          <a:lstStyle/>
          <a:p>
            <a:pPr indent="0" marL="0">
              <a:buNone/>
            </a:pPr>
            <a:r>
              <a:rPr lang="en-US" sz="900" spc="200" kern="0" dirty="0">
                <a:solidFill>
                  <a:srgbClr val="6B6B6B"/>
                </a:solidFill>
                <a:latin typeface="Consolas" pitchFamily="34" charset="0"/>
                <a:ea typeface="Consolas" pitchFamily="34" charset="-122"/>
                <a:cs typeface="Consolas" pitchFamily="34" charset="-120"/>
              </a:rPr>
              <a:t>LIFE OF A PRODUCT'S DATA</a:t>
            </a:r>
            <a:endParaRPr lang="en-US" sz="900" dirty="0"/>
          </a:p>
        </p:txBody>
      </p:sp>
      <p:sp>
        <p:nvSpPr>
          <p:cNvPr id="22" name="Shape 20"/>
          <p:cNvSpPr/>
          <p:nvPr/>
        </p:nvSpPr>
        <p:spPr>
          <a:xfrm>
            <a:off x="8127797" y="2606040"/>
            <a:ext cx="3515258" cy="0"/>
          </a:xfrm>
          <a:prstGeom prst="line">
            <a:avLst/>
          </a:prstGeom>
          <a:noFill/>
          <a:ln w="25400">
            <a:solidFill>
              <a:srgbClr val="002FA7"/>
            </a:solidFill>
            <a:prstDash val="solid"/>
          </a:ln>
        </p:spPr>
      </p:sp>
      <p:sp>
        <p:nvSpPr>
          <p:cNvPr id="23" name="Text 21"/>
          <p:cNvSpPr txBox="1"/>
          <p:nvPr/>
        </p:nvSpPr>
        <p:spPr>
          <a:xfrm>
            <a:off x="8127797" y="2743200"/>
            <a:ext cx="3515258" cy="228600"/>
          </a:xfrm>
          <a:prstGeom prst="rect">
            <a:avLst/>
          </a:prstGeom>
          <a:noFill/>
          <a:ln/>
        </p:spPr>
        <p:txBody>
          <a:bodyPr wrap="square" lIns="0" tIns="0" rIns="0" bIns="0" rtlCol="0" anchor="t"/>
          <a:lstStyle/>
          <a:p>
            <a:pPr indent="0" marL="0">
              <a:buNone/>
            </a:pPr>
            <a:r>
              <a:rPr lang="en-US" sz="1000" spc="200" kern="0" dirty="0">
                <a:solidFill>
                  <a:srgbClr val="002FA7"/>
                </a:solidFill>
                <a:latin typeface="Consolas" pitchFamily="34" charset="0"/>
                <a:ea typeface="Consolas" pitchFamily="34" charset="-122"/>
                <a:cs typeface="Consolas" pitchFamily="34" charset="-120"/>
              </a:rPr>
              <a:t>PROCUREMENT</a:t>
            </a:r>
            <a:endParaRPr lang="en-US" sz="1000" dirty="0"/>
          </a:p>
        </p:txBody>
      </p:sp>
      <p:sp>
        <p:nvSpPr>
          <p:cNvPr id="24" name="Text 22"/>
          <p:cNvSpPr txBox="1"/>
          <p:nvPr/>
        </p:nvSpPr>
        <p:spPr>
          <a:xfrm>
            <a:off x="8127797" y="3063240"/>
            <a:ext cx="3332378" cy="914400"/>
          </a:xfrm>
          <a:prstGeom prst="rect">
            <a:avLst/>
          </a:prstGeom>
          <a:noFill/>
          <a:ln/>
        </p:spPr>
        <p:txBody>
          <a:bodyPr wrap="square" lIns="0" tIns="0" rIns="0" bIns="0" rtlCol="0" anchor="t"/>
          <a:lstStyle/>
          <a:p>
            <a:pPr indent="0" marL="0">
              <a:buNone/>
            </a:pPr>
            <a:r>
              <a:rPr lang="en-US" sz="1900" b="1" dirty="0">
                <a:solidFill>
                  <a:srgbClr val="002FA7"/>
                </a:solidFill>
                <a:latin typeface="Inter" pitchFamily="34" charset="0"/>
                <a:ea typeface="Inter" pitchFamily="34" charset="-122"/>
                <a:cs typeface="Inter" pitchFamily="34" charset="-120"/>
              </a:rPr>
              <a:t>India will require quantum-safe procurement</a:t>
            </a:r>
            <a:endParaRPr lang="en-US" sz="1900" dirty="0"/>
          </a:p>
        </p:txBody>
      </p:sp>
      <p:sp>
        <p:nvSpPr>
          <p:cNvPr id="25" name="Text 23"/>
          <p:cNvSpPr txBox="1"/>
          <p:nvPr/>
        </p:nvSpPr>
        <p:spPr>
          <a:xfrm>
            <a:off x="8127797" y="3977640"/>
            <a:ext cx="3332378" cy="640080"/>
          </a:xfrm>
          <a:prstGeom prst="rect">
            <a:avLst/>
          </a:prstGeom>
          <a:noFill/>
          <a:ln/>
        </p:spPr>
        <p:txBody>
          <a:bodyPr wrap="square" lIns="0" tIns="0" rIns="0" bIns="0" rtlCol="0" anchor="t"/>
          <a:lstStyle/>
          <a:p>
            <a:pPr indent="0" marL="0">
              <a:buNone/>
            </a:pPr>
            <a:r>
              <a:rPr lang="en-US" sz="1400" dirty="0">
                <a:solidFill>
                  <a:srgbClr val="6B6B6B"/>
                </a:solidFill>
                <a:latin typeface="Inter" pitchFamily="34" charset="0"/>
                <a:ea typeface="Inter" pitchFamily="34" charset="-122"/>
                <a:cs typeface="Inter" pitchFamily="34" charset="-120"/>
              </a:rPr>
              <a:t>TraceCore can be an early reference application.</a:t>
            </a:r>
            <a:endParaRPr lang="en-US" sz="1400" dirty="0"/>
          </a:p>
        </p:txBody>
      </p:sp>
      <p:sp>
        <p:nvSpPr>
          <p:cNvPr id="26" name="Text 24"/>
          <p:cNvSpPr txBox="1"/>
          <p:nvPr/>
        </p:nvSpPr>
        <p:spPr>
          <a:xfrm>
            <a:off x="8127797" y="4709160"/>
            <a:ext cx="3515258" cy="731520"/>
          </a:xfrm>
          <a:prstGeom prst="rect">
            <a:avLst/>
          </a:prstGeom>
          <a:noFill/>
          <a:ln/>
        </p:spPr>
        <p:txBody>
          <a:bodyPr wrap="square" lIns="0" tIns="0" rIns="0" bIns="0" rtlCol="0" anchor="t"/>
          <a:lstStyle/>
          <a:p>
            <a:pPr indent="0" marL="0">
              <a:buNone/>
            </a:pPr>
            <a:r>
              <a:rPr lang="en-US" sz="4000" spc="-100" kern="0" dirty="0">
                <a:solidFill>
                  <a:srgbClr val="002FA7"/>
                </a:solidFill>
                <a:latin typeface="Inter Black" pitchFamily="34" charset="0"/>
                <a:ea typeface="Inter Black" pitchFamily="34" charset="-122"/>
                <a:cs typeface="Inter Black" pitchFamily="34" charset="-120"/>
              </a:rPr>
              <a:t>2027</a:t>
            </a:r>
            <a:endParaRPr lang="en-US" sz="4000" dirty="0"/>
          </a:p>
        </p:txBody>
      </p:sp>
      <p:sp>
        <p:nvSpPr>
          <p:cNvPr id="27" name="Text 25"/>
          <p:cNvSpPr txBox="1"/>
          <p:nvPr/>
        </p:nvSpPr>
        <p:spPr>
          <a:xfrm>
            <a:off x="8127797" y="5440680"/>
            <a:ext cx="3515258" cy="228600"/>
          </a:xfrm>
          <a:prstGeom prst="rect">
            <a:avLst/>
          </a:prstGeom>
          <a:noFill/>
          <a:ln/>
        </p:spPr>
        <p:txBody>
          <a:bodyPr wrap="square" lIns="0" tIns="0" rIns="0" bIns="0" rtlCol="0" anchor="t"/>
          <a:lstStyle/>
          <a:p>
            <a:pPr indent="0" marL="0">
              <a:buNone/>
            </a:pPr>
            <a:r>
              <a:rPr lang="en-US" sz="900" spc="200" kern="0" dirty="0">
                <a:solidFill>
                  <a:srgbClr val="6B6B6B"/>
                </a:solidFill>
                <a:latin typeface="Consolas" pitchFamily="34" charset="0"/>
                <a:ea typeface="Consolas" pitchFamily="34" charset="-122"/>
                <a:cs typeface="Consolas" pitchFamily="34" charset="-120"/>
              </a:rPr>
              <a:t>PQC ROLLOUT BEGINS</a:t>
            </a:r>
            <a:endParaRPr lang="en-US" sz="900" dirty="0"/>
          </a:p>
        </p:txBody>
      </p:sp>
      <p:sp>
        <p:nvSpPr>
          <p:cNvPr id="28" name="Text 26"/>
          <p:cNvSpPr txBox="1"/>
          <p:nvPr/>
        </p:nvSpPr>
        <p:spPr>
          <a:xfrm>
            <a:off x="548640" y="5852160"/>
            <a:ext cx="10972800" cy="320040"/>
          </a:xfrm>
          <a:prstGeom prst="rect">
            <a:avLst/>
          </a:prstGeom>
          <a:noFill/>
          <a:ln/>
        </p:spPr>
        <p:txBody>
          <a:bodyPr wrap="square" lIns="0" tIns="0" rIns="0" bIns="0" rtlCol="0" anchor="t"/>
          <a:lstStyle/>
          <a:p>
            <a:pPr indent="0" marL="0">
              <a:buNone/>
            </a:pPr>
            <a:r>
              <a:rPr lang="en-US" sz="1400" b="1" dirty="0">
                <a:solidFill>
                  <a:srgbClr val="0A0A0A"/>
                </a:solidFill>
                <a:latin typeface="Inter" pitchFamily="34" charset="0"/>
                <a:ea typeface="Inter" pitchFamily="34" charset="-122"/>
                <a:cs typeface="Inter" pitchFamily="34" charset="-120"/>
              </a:rPr>
              <a:t>Built in South India, for Indian regulated labs.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5669280" cy="6858000"/>
          </a:xfrm>
          <a:prstGeom prst="rect">
            <a:avLst/>
          </a:prstGeom>
          <a:solidFill>
            <a:srgbClr val="002FA7"/>
          </a:solidFill>
          <a:ln/>
        </p:spPr>
      </p:sp>
      <p:sp>
        <p:nvSpPr>
          <p:cNvPr id="3" name="Text 1"/>
          <p:cNvSpPr txBox="1"/>
          <p:nvPr/>
        </p:nvSpPr>
        <p:spPr>
          <a:xfrm>
            <a:off x="548640" y="384048"/>
            <a:ext cx="4572000" cy="228600"/>
          </a:xfrm>
          <a:prstGeom prst="rect">
            <a:avLst/>
          </a:prstGeom>
          <a:noFill/>
          <a:ln/>
        </p:spPr>
        <p:txBody>
          <a:bodyPr wrap="square" lIns="0" tIns="0" rIns="0" bIns="0" rtlCol="0" anchor="t"/>
          <a:lstStyle/>
          <a:p>
            <a:pPr indent="0" marL="0">
              <a:buNone/>
            </a:pPr>
            <a:r>
              <a:rPr lang="en-US" sz="1000" spc="200" kern="0" dirty="0">
                <a:solidFill>
                  <a:srgbClr val="FAFAF8"/>
                </a:solidFill>
                <a:latin typeface="Consolas" pitchFamily="34" charset="0"/>
                <a:ea typeface="Consolas" pitchFamily="34" charset="-122"/>
                <a:cs typeface="Consolas" pitchFamily="34" charset="-120"/>
              </a:rPr>
              <a:t>TRACECORE — THE ASK</a:t>
            </a:r>
            <a:endParaRPr lang="en-US" sz="1000" dirty="0"/>
          </a:p>
        </p:txBody>
      </p:sp>
      <p:sp>
        <p:nvSpPr>
          <p:cNvPr id="4" name="Text 2"/>
          <p:cNvSpPr txBox="1"/>
          <p:nvPr/>
        </p:nvSpPr>
        <p:spPr>
          <a:xfrm>
            <a:off x="6126480" y="384048"/>
            <a:ext cx="18288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S15 / 17</a:t>
            </a:r>
            <a:endParaRPr lang="en-US" sz="1000" dirty="0"/>
          </a:p>
        </p:txBody>
      </p:sp>
      <p:sp>
        <p:nvSpPr>
          <p:cNvPr id="5" name="Text 3"/>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6" name="Shape 4"/>
          <p:cNvSpPr/>
          <p:nvPr/>
        </p:nvSpPr>
        <p:spPr>
          <a:xfrm>
            <a:off x="548640" y="1005840"/>
            <a:ext cx="64008" cy="64008"/>
          </a:xfrm>
          <a:prstGeom prst="rect">
            <a:avLst/>
          </a:prstGeom>
          <a:solidFill>
            <a:srgbClr val="FAFAF8">
              <a:alpha val="5000"/>
            </a:srgbClr>
          </a:solidFill>
          <a:ln/>
        </p:spPr>
      </p:sp>
      <p:sp>
        <p:nvSpPr>
          <p:cNvPr id="7" name="Shape 5"/>
          <p:cNvSpPr/>
          <p:nvPr/>
        </p:nvSpPr>
        <p:spPr>
          <a:xfrm>
            <a:off x="685800" y="1005840"/>
            <a:ext cx="64008" cy="64008"/>
          </a:xfrm>
          <a:prstGeom prst="rect">
            <a:avLst/>
          </a:prstGeom>
          <a:solidFill>
            <a:srgbClr val="FAFAF8">
              <a:alpha val="54000"/>
            </a:srgbClr>
          </a:solidFill>
          <a:ln/>
        </p:spPr>
      </p:sp>
      <p:sp>
        <p:nvSpPr>
          <p:cNvPr id="8" name="Shape 6"/>
          <p:cNvSpPr/>
          <p:nvPr/>
        </p:nvSpPr>
        <p:spPr>
          <a:xfrm>
            <a:off x="822960" y="1005840"/>
            <a:ext cx="64008" cy="64008"/>
          </a:xfrm>
          <a:prstGeom prst="rect">
            <a:avLst/>
          </a:prstGeom>
          <a:solidFill>
            <a:srgbClr val="FAFAF8">
              <a:alpha val="61000"/>
            </a:srgbClr>
          </a:solidFill>
          <a:ln/>
        </p:spPr>
      </p:sp>
      <p:sp>
        <p:nvSpPr>
          <p:cNvPr id="9" name="Shape 7"/>
          <p:cNvSpPr/>
          <p:nvPr/>
        </p:nvSpPr>
        <p:spPr>
          <a:xfrm>
            <a:off x="960120" y="1005840"/>
            <a:ext cx="64008" cy="64008"/>
          </a:xfrm>
          <a:prstGeom prst="rect">
            <a:avLst/>
          </a:prstGeom>
          <a:solidFill>
            <a:srgbClr val="FAFAF8">
              <a:alpha val="25000"/>
            </a:srgbClr>
          </a:solidFill>
          <a:ln/>
        </p:spPr>
      </p:sp>
      <p:sp>
        <p:nvSpPr>
          <p:cNvPr id="10" name="Shape 8"/>
          <p:cNvSpPr/>
          <p:nvPr/>
        </p:nvSpPr>
        <p:spPr>
          <a:xfrm>
            <a:off x="1097280" y="1005840"/>
            <a:ext cx="64008" cy="64008"/>
          </a:xfrm>
          <a:prstGeom prst="rect">
            <a:avLst/>
          </a:prstGeom>
          <a:solidFill>
            <a:srgbClr val="FAFAF8">
              <a:alpha val="21000"/>
            </a:srgbClr>
          </a:solidFill>
          <a:ln/>
        </p:spPr>
      </p:sp>
      <p:sp>
        <p:nvSpPr>
          <p:cNvPr id="11" name="Shape 9"/>
          <p:cNvSpPr/>
          <p:nvPr/>
        </p:nvSpPr>
        <p:spPr>
          <a:xfrm>
            <a:off x="1234440" y="1005840"/>
            <a:ext cx="64008" cy="64008"/>
          </a:xfrm>
          <a:prstGeom prst="rect">
            <a:avLst/>
          </a:prstGeom>
          <a:solidFill>
            <a:srgbClr val="FAFAF8">
              <a:alpha val="25000"/>
            </a:srgbClr>
          </a:solidFill>
          <a:ln/>
        </p:spPr>
      </p:sp>
      <p:sp>
        <p:nvSpPr>
          <p:cNvPr id="12" name="Shape 10"/>
          <p:cNvSpPr/>
          <p:nvPr/>
        </p:nvSpPr>
        <p:spPr>
          <a:xfrm>
            <a:off x="1371600" y="1005840"/>
            <a:ext cx="64008" cy="64008"/>
          </a:xfrm>
          <a:prstGeom prst="rect">
            <a:avLst/>
          </a:prstGeom>
          <a:solidFill>
            <a:srgbClr val="FAFAF8">
              <a:alpha val="9000"/>
            </a:srgbClr>
          </a:solidFill>
          <a:ln/>
        </p:spPr>
      </p:sp>
      <p:sp>
        <p:nvSpPr>
          <p:cNvPr id="13" name="Shape 11"/>
          <p:cNvSpPr/>
          <p:nvPr/>
        </p:nvSpPr>
        <p:spPr>
          <a:xfrm>
            <a:off x="1508760" y="1005840"/>
            <a:ext cx="64008" cy="64008"/>
          </a:xfrm>
          <a:prstGeom prst="rect">
            <a:avLst/>
          </a:prstGeom>
          <a:solidFill>
            <a:srgbClr val="FAFAF8">
              <a:alpha val="5000"/>
            </a:srgbClr>
          </a:solidFill>
          <a:ln/>
        </p:spPr>
      </p:sp>
      <p:sp>
        <p:nvSpPr>
          <p:cNvPr id="14" name="Shape 12"/>
          <p:cNvSpPr/>
          <p:nvPr/>
        </p:nvSpPr>
        <p:spPr>
          <a:xfrm>
            <a:off x="1645920" y="1005840"/>
            <a:ext cx="64008" cy="64008"/>
          </a:xfrm>
          <a:prstGeom prst="rect">
            <a:avLst/>
          </a:prstGeom>
          <a:solidFill>
            <a:srgbClr val="FAFAF8">
              <a:alpha val="26000"/>
            </a:srgbClr>
          </a:solidFill>
          <a:ln/>
        </p:spPr>
      </p:sp>
      <p:sp>
        <p:nvSpPr>
          <p:cNvPr id="15" name="Shape 13"/>
          <p:cNvSpPr/>
          <p:nvPr/>
        </p:nvSpPr>
        <p:spPr>
          <a:xfrm>
            <a:off x="1783080" y="1005840"/>
            <a:ext cx="64008" cy="64008"/>
          </a:xfrm>
          <a:prstGeom prst="rect">
            <a:avLst/>
          </a:prstGeom>
          <a:solidFill>
            <a:srgbClr val="FAFAF8">
              <a:alpha val="45000"/>
            </a:srgbClr>
          </a:solidFill>
          <a:ln/>
        </p:spPr>
      </p:sp>
      <p:sp>
        <p:nvSpPr>
          <p:cNvPr id="16" name="Shape 14"/>
          <p:cNvSpPr/>
          <p:nvPr/>
        </p:nvSpPr>
        <p:spPr>
          <a:xfrm>
            <a:off x="1920240" y="1005840"/>
            <a:ext cx="64008" cy="64008"/>
          </a:xfrm>
          <a:prstGeom prst="rect">
            <a:avLst/>
          </a:prstGeom>
          <a:solidFill>
            <a:srgbClr val="FAFAF8">
              <a:alpha val="26000"/>
            </a:srgbClr>
          </a:solidFill>
          <a:ln/>
        </p:spPr>
      </p:sp>
      <p:sp>
        <p:nvSpPr>
          <p:cNvPr id="17" name="Shape 15"/>
          <p:cNvSpPr/>
          <p:nvPr/>
        </p:nvSpPr>
        <p:spPr>
          <a:xfrm>
            <a:off x="2057400" y="1005840"/>
            <a:ext cx="64008" cy="64008"/>
          </a:xfrm>
          <a:prstGeom prst="rect">
            <a:avLst/>
          </a:prstGeom>
          <a:solidFill>
            <a:srgbClr val="FAFAF8">
              <a:alpha val="32000"/>
            </a:srgbClr>
          </a:solidFill>
          <a:ln/>
        </p:spPr>
      </p:sp>
      <p:sp>
        <p:nvSpPr>
          <p:cNvPr id="18" name="Shape 16"/>
          <p:cNvSpPr/>
          <p:nvPr/>
        </p:nvSpPr>
        <p:spPr>
          <a:xfrm>
            <a:off x="2194560" y="1005840"/>
            <a:ext cx="64008" cy="64008"/>
          </a:xfrm>
          <a:prstGeom prst="rect">
            <a:avLst/>
          </a:prstGeom>
          <a:solidFill>
            <a:srgbClr val="FAFAF8">
              <a:alpha val="68000"/>
            </a:srgbClr>
          </a:solidFill>
          <a:ln/>
        </p:spPr>
      </p:sp>
      <p:sp>
        <p:nvSpPr>
          <p:cNvPr id="19" name="Shape 17"/>
          <p:cNvSpPr/>
          <p:nvPr/>
        </p:nvSpPr>
        <p:spPr>
          <a:xfrm>
            <a:off x="2331720" y="1005840"/>
            <a:ext cx="64008" cy="64008"/>
          </a:xfrm>
          <a:prstGeom prst="rect">
            <a:avLst/>
          </a:prstGeom>
          <a:solidFill>
            <a:srgbClr val="FAFAF8">
              <a:alpha val="54000"/>
            </a:srgbClr>
          </a:solidFill>
          <a:ln/>
        </p:spPr>
      </p:sp>
      <p:sp>
        <p:nvSpPr>
          <p:cNvPr id="20" name="Shape 18"/>
          <p:cNvSpPr/>
          <p:nvPr/>
        </p:nvSpPr>
        <p:spPr>
          <a:xfrm>
            <a:off x="548640" y="1143000"/>
            <a:ext cx="64008" cy="64008"/>
          </a:xfrm>
          <a:prstGeom prst="rect">
            <a:avLst/>
          </a:prstGeom>
          <a:solidFill>
            <a:srgbClr val="FAFAF8">
              <a:alpha val="37000"/>
            </a:srgbClr>
          </a:solidFill>
          <a:ln/>
        </p:spPr>
      </p:sp>
      <p:sp>
        <p:nvSpPr>
          <p:cNvPr id="21" name="Shape 19"/>
          <p:cNvSpPr/>
          <p:nvPr/>
        </p:nvSpPr>
        <p:spPr>
          <a:xfrm>
            <a:off x="685800" y="1143000"/>
            <a:ext cx="64008" cy="64008"/>
          </a:xfrm>
          <a:prstGeom prst="rect">
            <a:avLst/>
          </a:prstGeom>
          <a:solidFill>
            <a:srgbClr val="FAFAF8">
              <a:alpha val="48000"/>
            </a:srgbClr>
          </a:solidFill>
          <a:ln/>
        </p:spPr>
      </p:sp>
      <p:sp>
        <p:nvSpPr>
          <p:cNvPr id="22" name="Shape 20"/>
          <p:cNvSpPr/>
          <p:nvPr/>
        </p:nvSpPr>
        <p:spPr>
          <a:xfrm>
            <a:off x="822960" y="1143000"/>
            <a:ext cx="64008" cy="64008"/>
          </a:xfrm>
          <a:prstGeom prst="rect">
            <a:avLst/>
          </a:prstGeom>
          <a:solidFill>
            <a:srgbClr val="FAFAF8">
              <a:alpha val="24000"/>
            </a:srgbClr>
          </a:solidFill>
          <a:ln/>
        </p:spPr>
      </p:sp>
      <p:sp>
        <p:nvSpPr>
          <p:cNvPr id="23" name="Shape 21"/>
          <p:cNvSpPr/>
          <p:nvPr/>
        </p:nvSpPr>
        <p:spPr>
          <a:xfrm>
            <a:off x="960120" y="1143000"/>
            <a:ext cx="64008" cy="64008"/>
          </a:xfrm>
          <a:prstGeom prst="rect">
            <a:avLst/>
          </a:prstGeom>
          <a:solidFill>
            <a:srgbClr val="FAFAF8">
              <a:alpha val="8000"/>
            </a:srgbClr>
          </a:solidFill>
          <a:ln/>
        </p:spPr>
      </p:sp>
      <p:sp>
        <p:nvSpPr>
          <p:cNvPr id="24" name="Shape 22"/>
          <p:cNvSpPr/>
          <p:nvPr/>
        </p:nvSpPr>
        <p:spPr>
          <a:xfrm>
            <a:off x="1097280" y="1143000"/>
            <a:ext cx="64008" cy="64008"/>
          </a:xfrm>
          <a:prstGeom prst="rect">
            <a:avLst/>
          </a:prstGeom>
          <a:solidFill>
            <a:srgbClr val="FAFAF8">
              <a:alpha val="7000"/>
            </a:srgbClr>
          </a:solidFill>
          <a:ln/>
        </p:spPr>
      </p:sp>
      <p:sp>
        <p:nvSpPr>
          <p:cNvPr id="25" name="Shape 23"/>
          <p:cNvSpPr/>
          <p:nvPr/>
        </p:nvSpPr>
        <p:spPr>
          <a:xfrm>
            <a:off x="1234440" y="1143000"/>
            <a:ext cx="64008" cy="64008"/>
          </a:xfrm>
          <a:prstGeom prst="rect">
            <a:avLst/>
          </a:prstGeom>
          <a:solidFill>
            <a:srgbClr val="FAFAF8">
              <a:alpha val="21000"/>
            </a:srgbClr>
          </a:solidFill>
          <a:ln/>
        </p:spPr>
      </p:sp>
      <p:sp>
        <p:nvSpPr>
          <p:cNvPr id="26" name="Shape 24"/>
          <p:cNvSpPr/>
          <p:nvPr/>
        </p:nvSpPr>
        <p:spPr>
          <a:xfrm>
            <a:off x="1371600" y="1143000"/>
            <a:ext cx="64008" cy="64008"/>
          </a:xfrm>
          <a:prstGeom prst="rect">
            <a:avLst/>
          </a:prstGeom>
          <a:solidFill>
            <a:srgbClr val="FAFAF8">
              <a:alpha val="13000"/>
            </a:srgbClr>
          </a:solidFill>
          <a:ln/>
        </p:spPr>
      </p:sp>
      <p:sp>
        <p:nvSpPr>
          <p:cNvPr id="27" name="Shape 25"/>
          <p:cNvSpPr/>
          <p:nvPr/>
        </p:nvSpPr>
        <p:spPr>
          <a:xfrm>
            <a:off x="1508760" y="1143000"/>
            <a:ext cx="64008" cy="64008"/>
          </a:xfrm>
          <a:prstGeom prst="rect">
            <a:avLst/>
          </a:prstGeom>
          <a:solidFill>
            <a:srgbClr val="FAFAF8">
              <a:alpha val="33000"/>
            </a:srgbClr>
          </a:solidFill>
          <a:ln/>
        </p:spPr>
      </p:sp>
      <p:sp>
        <p:nvSpPr>
          <p:cNvPr id="28" name="Shape 26"/>
          <p:cNvSpPr/>
          <p:nvPr/>
        </p:nvSpPr>
        <p:spPr>
          <a:xfrm>
            <a:off x="1645920" y="1143000"/>
            <a:ext cx="64008" cy="64008"/>
          </a:xfrm>
          <a:prstGeom prst="rect">
            <a:avLst/>
          </a:prstGeom>
          <a:solidFill>
            <a:srgbClr val="FAFAF8">
              <a:alpha val="61000"/>
            </a:srgbClr>
          </a:solidFill>
          <a:ln/>
        </p:spPr>
      </p:sp>
      <p:sp>
        <p:nvSpPr>
          <p:cNvPr id="29" name="Shape 27"/>
          <p:cNvSpPr/>
          <p:nvPr/>
        </p:nvSpPr>
        <p:spPr>
          <a:xfrm>
            <a:off x="1783080" y="1143000"/>
            <a:ext cx="64008" cy="64008"/>
          </a:xfrm>
          <a:prstGeom prst="rect">
            <a:avLst/>
          </a:prstGeom>
          <a:solidFill>
            <a:srgbClr val="FAFAF8">
              <a:alpha val="45000"/>
            </a:srgbClr>
          </a:solidFill>
          <a:ln/>
        </p:spPr>
      </p:sp>
      <p:sp>
        <p:nvSpPr>
          <p:cNvPr id="30" name="Shape 28"/>
          <p:cNvSpPr/>
          <p:nvPr/>
        </p:nvSpPr>
        <p:spPr>
          <a:xfrm>
            <a:off x="1920240" y="1143000"/>
            <a:ext cx="64008" cy="64008"/>
          </a:xfrm>
          <a:prstGeom prst="rect">
            <a:avLst/>
          </a:prstGeom>
          <a:solidFill>
            <a:srgbClr val="FAFAF8">
              <a:alpha val="18000"/>
            </a:srgbClr>
          </a:solidFill>
          <a:ln/>
        </p:spPr>
      </p:sp>
      <p:sp>
        <p:nvSpPr>
          <p:cNvPr id="31" name="Shape 29"/>
          <p:cNvSpPr/>
          <p:nvPr/>
        </p:nvSpPr>
        <p:spPr>
          <a:xfrm>
            <a:off x="2057400" y="1143000"/>
            <a:ext cx="64008" cy="64008"/>
          </a:xfrm>
          <a:prstGeom prst="rect">
            <a:avLst/>
          </a:prstGeom>
          <a:solidFill>
            <a:srgbClr val="FAFAF8">
              <a:alpha val="62000"/>
            </a:srgbClr>
          </a:solidFill>
          <a:ln/>
        </p:spPr>
      </p:sp>
      <p:sp>
        <p:nvSpPr>
          <p:cNvPr id="32" name="Shape 30"/>
          <p:cNvSpPr/>
          <p:nvPr/>
        </p:nvSpPr>
        <p:spPr>
          <a:xfrm>
            <a:off x="2194560" y="1143000"/>
            <a:ext cx="64008" cy="64008"/>
          </a:xfrm>
          <a:prstGeom prst="rect">
            <a:avLst/>
          </a:prstGeom>
          <a:solidFill>
            <a:srgbClr val="FAFAF8">
              <a:alpha val="58000"/>
            </a:srgbClr>
          </a:solidFill>
          <a:ln/>
        </p:spPr>
      </p:sp>
      <p:sp>
        <p:nvSpPr>
          <p:cNvPr id="33" name="Shape 31"/>
          <p:cNvSpPr/>
          <p:nvPr/>
        </p:nvSpPr>
        <p:spPr>
          <a:xfrm>
            <a:off x="2331720" y="1143000"/>
            <a:ext cx="64008" cy="64008"/>
          </a:xfrm>
          <a:prstGeom prst="rect">
            <a:avLst/>
          </a:prstGeom>
          <a:solidFill>
            <a:srgbClr val="FAFAF8">
              <a:alpha val="17000"/>
            </a:srgbClr>
          </a:solidFill>
          <a:ln/>
        </p:spPr>
      </p:sp>
      <p:sp>
        <p:nvSpPr>
          <p:cNvPr id="34" name="Shape 32"/>
          <p:cNvSpPr/>
          <p:nvPr/>
        </p:nvSpPr>
        <p:spPr>
          <a:xfrm>
            <a:off x="548640" y="1280160"/>
            <a:ext cx="64008" cy="64008"/>
          </a:xfrm>
          <a:prstGeom prst="rect">
            <a:avLst/>
          </a:prstGeom>
          <a:solidFill>
            <a:srgbClr val="FAFAF8">
              <a:alpha val="27000"/>
            </a:srgbClr>
          </a:solidFill>
          <a:ln/>
        </p:spPr>
      </p:sp>
      <p:sp>
        <p:nvSpPr>
          <p:cNvPr id="35" name="Shape 33"/>
          <p:cNvSpPr/>
          <p:nvPr/>
        </p:nvSpPr>
        <p:spPr>
          <a:xfrm>
            <a:off x="685800" y="1280160"/>
            <a:ext cx="64008" cy="64008"/>
          </a:xfrm>
          <a:prstGeom prst="rect">
            <a:avLst/>
          </a:prstGeom>
          <a:solidFill>
            <a:srgbClr val="FAFAF8">
              <a:alpha val="12000"/>
            </a:srgbClr>
          </a:solidFill>
          <a:ln/>
        </p:spPr>
      </p:sp>
      <p:sp>
        <p:nvSpPr>
          <p:cNvPr id="36" name="Shape 34"/>
          <p:cNvSpPr/>
          <p:nvPr/>
        </p:nvSpPr>
        <p:spPr>
          <a:xfrm>
            <a:off x="822960" y="1280160"/>
            <a:ext cx="64008" cy="64008"/>
          </a:xfrm>
          <a:prstGeom prst="rect">
            <a:avLst/>
          </a:prstGeom>
          <a:solidFill>
            <a:srgbClr val="FAFAF8">
              <a:alpha val="6000"/>
            </a:srgbClr>
          </a:solidFill>
          <a:ln/>
        </p:spPr>
      </p:sp>
      <p:sp>
        <p:nvSpPr>
          <p:cNvPr id="37" name="Shape 35"/>
          <p:cNvSpPr/>
          <p:nvPr/>
        </p:nvSpPr>
        <p:spPr>
          <a:xfrm>
            <a:off x="960120" y="1280160"/>
            <a:ext cx="64008" cy="64008"/>
          </a:xfrm>
          <a:prstGeom prst="rect">
            <a:avLst/>
          </a:prstGeom>
          <a:solidFill>
            <a:srgbClr val="FAFAF8">
              <a:alpha val="23000"/>
            </a:srgbClr>
          </a:solidFill>
          <a:ln/>
        </p:spPr>
      </p:sp>
      <p:sp>
        <p:nvSpPr>
          <p:cNvPr id="38" name="Shape 36"/>
          <p:cNvSpPr/>
          <p:nvPr/>
        </p:nvSpPr>
        <p:spPr>
          <a:xfrm>
            <a:off x="1097280" y="1280160"/>
            <a:ext cx="64008" cy="64008"/>
          </a:xfrm>
          <a:prstGeom prst="rect">
            <a:avLst/>
          </a:prstGeom>
          <a:solidFill>
            <a:srgbClr val="FAFAF8">
              <a:alpha val="43000"/>
            </a:srgbClr>
          </a:solidFill>
          <a:ln/>
        </p:spPr>
      </p:sp>
      <p:sp>
        <p:nvSpPr>
          <p:cNvPr id="39" name="Shape 37"/>
          <p:cNvSpPr/>
          <p:nvPr/>
        </p:nvSpPr>
        <p:spPr>
          <a:xfrm>
            <a:off x="1234440" y="1280160"/>
            <a:ext cx="64008" cy="64008"/>
          </a:xfrm>
          <a:prstGeom prst="rect">
            <a:avLst/>
          </a:prstGeom>
          <a:solidFill>
            <a:srgbClr val="FAFAF8">
              <a:alpha val="30000"/>
            </a:srgbClr>
          </a:solidFill>
          <a:ln/>
        </p:spPr>
      </p:sp>
      <p:sp>
        <p:nvSpPr>
          <p:cNvPr id="40" name="Shape 38"/>
          <p:cNvSpPr/>
          <p:nvPr/>
        </p:nvSpPr>
        <p:spPr>
          <a:xfrm>
            <a:off x="1371600" y="1280160"/>
            <a:ext cx="64008" cy="64008"/>
          </a:xfrm>
          <a:prstGeom prst="rect">
            <a:avLst/>
          </a:prstGeom>
          <a:solidFill>
            <a:srgbClr val="FAFAF8">
              <a:alpha val="27000"/>
            </a:srgbClr>
          </a:solidFill>
          <a:ln/>
        </p:spPr>
      </p:sp>
      <p:sp>
        <p:nvSpPr>
          <p:cNvPr id="41" name="Shape 39"/>
          <p:cNvSpPr/>
          <p:nvPr/>
        </p:nvSpPr>
        <p:spPr>
          <a:xfrm>
            <a:off x="1508760" y="1280160"/>
            <a:ext cx="64008" cy="64008"/>
          </a:xfrm>
          <a:prstGeom prst="rect">
            <a:avLst/>
          </a:prstGeom>
          <a:solidFill>
            <a:srgbClr val="FAFAF8">
              <a:alpha val="66000"/>
            </a:srgbClr>
          </a:solidFill>
          <a:ln/>
        </p:spPr>
      </p:sp>
      <p:sp>
        <p:nvSpPr>
          <p:cNvPr id="42" name="Shape 40"/>
          <p:cNvSpPr/>
          <p:nvPr/>
        </p:nvSpPr>
        <p:spPr>
          <a:xfrm>
            <a:off x="1645920" y="1280160"/>
            <a:ext cx="64008" cy="64008"/>
          </a:xfrm>
          <a:prstGeom prst="rect">
            <a:avLst/>
          </a:prstGeom>
          <a:solidFill>
            <a:srgbClr val="FAFAF8">
              <a:alpha val="58000"/>
            </a:srgbClr>
          </a:solidFill>
          <a:ln/>
        </p:spPr>
      </p:sp>
      <p:sp>
        <p:nvSpPr>
          <p:cNvPr id="43" name="Shape 41"/>
          <p:cNvSpPr/>
          <p:nvPr/>
        </p:nvSpPr>
        <p:spPr>
          <a:xfrm>
            <a:off x="1783080" y="1280160"/>
            <a:ext cx="64008" cy="64008"/>
          </a:xfrm>
          <a:prstGeom prst="rect">
            <a:avLst/>
          </a:prstGeom>
          <a:solidFill>
            <a:srgbClr val="FAFAF8">
              <a:alpha val="9000"/>
            </a:srgbClr>
          </a:solidFill>
          <a:ln/>
        </p:spPr>
      </p:sp>
      <p:sp>
        <p:nvSpPr>
          <p:cNvPr id="44" name="Shape 42"/>
          <p:cNvSpPr/>
          <p:nvPr/>
        </p:nvSpPr>
        <p:spPr>
          <a:xfrm>
            <a:off x="1920240" y="1280160"/>
            <a:ext cx="64008" cy="64008"/>
          </a:xfrm>
          <a:prstGeom prst="rect">
            <a:avLst/>
          </a:prstGeom>
          <a:solidFill>
            <a:srgbClr val="FAFAF8">
              <a:alpha val="46000"/>
            </a:srgbClr>
          </a:solidFill>
          <a:ln/>
        </p:spPr>
      </p:sp>
      <p:sp>
        <p:nvSpPr>
          <p:cNvPr id="45" name="Shape 43"/>
          <p:cNvSpPr/>
          <p:nvPr/>
        </p:nvSpPr>
        <p:spPr>
          <a:xfrm>
            <a:off x="2057400" y="1280160"/>
            <a:ext cx="64008" cy="64008"/>
          </a:xfrm>
          <a:prstGeom prst="rect">
            <a:avLst/>
          </a:prstGeom>
          <a:solidFill>
            <a:srgbClr val="FAFAF8">
              <a:alpha val="49000"/>
            </a:srgbClr>
          </a:solidFill>
          <a:ln/>
        </p:spPr>
      </p:sp>
      <p:sp>
        <p:nvSpPr>
          <p:cNvPr id="46" name="Shape 44"/>
          <p:cNvSpPr/>
          <p:nvPr/>
        </p:nvSpPr>
        <p:spPr>
          <a:xfrm>
            <a:off x="2194560" y="1280160"/>
            <a:ext cx="64008" cy="64008"/>
          </a:xfrm>
          <a:prstGeom prst="rect">
            <a:avLst/>
          </a:prstGeom>
          <a:solidFill>
            <a:srgbClr val="FAFAF8">
              <a:alpha val="20000"/>
            </a:srgbClr>
          </a:solidFill>
          <a:ln/>
        </p:spPr>
      </p:sp>
      <p:sp>
        <p:nvSpPr>
          <p:cNvPr id="47" name="Shape 45"/>
          <p:cNvSpPr/>
          <p:nvPr/>
        </p:nvSpPr>
        <p:spPr>
          <a:xfrm>
            <a:off x="2331720" y="1280160"/>
            <a:ext cx="64008" cy="64008"/>
          </a:xfrm>
          <a:prstGeom prst="rect">
            <a:avLst/>
          </a:prstGeom>
          <a:solidFill>
            <a:srgbClr val="FAFAF8">
              <a:alpha val="11000"/>
            </a:srgbClr>
          </a:solidFill>
          <a:ln/>
        </p:spPr>
      </p:sp>
      <p:sp>
        <p:nvSpPr>
          <p:cNvPr id="48" name="Shape 46"/>
          <p:cNvSpPr/>
          <p:nvPr/>
        </p:nvSpPr>
        <p:spPr>
          <a:xfrm>
            <a:off x="548640" y="1417320"/>
            <a:ext cx="64008" cy="64008"/>
          </a:xfrm>
          <a:prstGeom prst="rect">
            <a:avLst/>
          </a:prstGeom>
          <a:solidFill>
            <a:srgbClr val="FAFAF8">
              <a:alpha val="19000"/>
            </a:srgbClr>
          </a:solidFill>
          <a:ln/>
        </p:spPr>
      </p:sp>
      <p:sp>
        <p:nvSpPr>
          <p:cNvPr id="49" name="Shape 47"/>
          <p:cNvSpPr/>
          <p:nvPr/>
        </p:nvSpPr>
        <p:spPr>
          <a:xfrm>
            <a:off x="685800" y="1417320"/>
            <a:ext cx="64008" cy="64008"/>
          </a:xfrm>
          <a:prstGeom prst="rect">
            <a:avLst/>
          </a:prstGeom>
          <a:solidFill>
            <a:srgbClr val="FAFAF8">
              <a:alpha val="15000"/>
            </a:srgbClr>
          </a:solidFill>
          <a:ln/>
        </p:spPr>
      </p:sp>
      <p:sp>
        <p:nvSpPr>
          <p:cNvPr id="50" name="Shape 48"/>
          <p:cNvSpPr/>
          <p:nvPr/>
        </p:nvSpPr>
        <p:spPr>
          <a:xfrm>
            <a:off x="822960" y="1417320"/>
            <a:ext cx="64008" cy="64008"/>
          </a:xfrm>
          <a:prstGeom prst="rect">
            <a:avLst/>
          </a:prstGeom>
          <a:solidFill>
            <a:srgbClr val="FAFAF8">
              <a:alpha val="28000"/>
            </a:srgbClr>
          </a:solidFill>
          <a:ln/>
        </p:spPr>
      </p:sp>
      <p:sp>
        <p:nvSpPr>
          <p:cNvPr id="51" name="Shape 49"/>
          <p:cNvSpPr/>
          <p:nvPr/>
        </p:nvSpPr>
        <p:spPr>
          <a:xfrm>
            <a:off x="960120" y="1417320"/>
            <a:ext cx="64008" cy="64008"/>
          </a:xfrm>
          <a:prstGeom prst="rect">
            <a:avLst/>
          </a:prstGeom>
          <a:solidFill>
            <a:srgbClr val="FAFAF8">
              <a:alpha val="59000"/>
            </a:srgbClr>
          </a:solidFill>
          <a:ln/>
        </p:spPr>
      </p:sp>
      <p:sp>
        <p:nvSpPr>
          <p:cNvPr id="52" name="Shape 50"/>
          <p:cNvSpPr/>
          <p:nvPr/>
        </p:nvSpPr>
        <p:spPr>
          <a:xfrm>
            <a:off x="1097280" y="1417320"/>
            <a:ext cx="64008" cy="64008"/>
          </a:xfrm>
          <a:prstGeom prst="rect">
            <a:avLst/>
          </a:prstGeom>
          <a:solidFill>
            <a:srgbClr val="FAFAF8">
              <a:alpha val="49000"/>
            </a:srgbClr>
          </a:solidFill>
          <a:ln/>
        </p:spPr>
      </p:sp>
      <p:sp>
        <p:nvSpPr>
          <p:cNvPr id="53" name="Shape 51"/>
          <p:cNvSpPr/>
          <p:nvPr/>
        </p:nvSpPr>
        <p:spPr>
          <a:xfrm>
            <a:off x="1234440" y="1417320"/>
            <a:ext cx="64008" cy="64008"/>
          </a:xfrm>
          <a:prstGeom prst="rect">
            <a:avLst/>
          </a:prstGeom>
          <a:solidFill>
            <a:srgbClr val="FAFAF8">
              <a:alpha val="12000"/>
            </a:srgbClr>
          </a:solidFill>
          <a:ln/>
        </p:spPr>
      </p:sp>
      <p:sp>
        <p:nvSpPr>
          <p:cNvPr id="54" name="Shape 52"/>
          <p:cNvSpPr/>
          <p:nvPr/>
        </p:nvSpPr>
        <p:spPr>
          <a:xfrm>
            <a:off x="1371600" y="1417320"/>
            <a:ext cx="64008" cy="64008"/>
          </a:xfrm>
          <a:prstGeom prst="rect">
            <a:avLst/>
          </a:prstGeom>
          <a:solidFill>
            <a:srgbClr val="FAFAF8">
              <a:alpha val="59000"/>
            </a:srgbClr>
          </a:solidFill>
          <a:ln/>
        </p:spPr>
      </p:sp>
      <p:sp>
        <p:nvSpPr>
          <p:cNvPr id="55" name="Shape 53"/>
          <p:cNvSpPr/>
          <p:nvPr/>
        </p:nvSpPr>
        <p:spPr>
          <a:xfrm>
            <a:off x="1508760" y="1417320"/>
            <a:ext cx="64008" cy="64008"/>
          </a:xfrm>
          <a:prstGeom prst="rect">
            <a:avLst/>
          </a:prstGeom>
          <a:solidFill>
            <a:srgbClr val="FAFAF8">
              <a:alpha val="61000"/>
            </a:srgbClr>
          </a:solidFill>
          <a:ln/>
        </p:spPr>
      </p:sp>
      <p:sp>
        <p:nvSpPr>
          <p:cNvPr id="56" name="Shape 54"/>
          <p:cNvSpPr/>
          <p:nvPr/>
        </p:nvSpPr>
        <p:spPr>
          <a:xfrm>
            <a:off x="1645920" y="1417320"/>
            <a:ext cx="64008" cy="64008"/>
          </a:xfrm>
          <a:prstGeom prst="rect">
            <a:avLst/>
          </a:prstGeom>
          <a:solidFill>
            <a:srgbClr val="FAFAF8">
              <a:alpha val="22000"/>
            </a:srgbClr>
          </a:solidFill>
          <a:ln/>
        </p:spPr>
      </p:sp>
      <p:sp>
        <p:nvSpPr>
          <p:cNvPr id="57" name="Shape 55"/>
          <p:cNvSpPr/>
          <p:nvPr/>
        </p:nvSpPr>
        <p:spPr>
          <a:xfrm>
            <a:off x="1783080" y="1417320"/>
            <a:ext cx="64008" cy="64008"/>
          </a:xfrm>
          <a:prstGeom prst="rect">
            <a:avLst/>
          </a:prstGeom>
          <a:solidFill>
            <a:srgbClr val="FAFAF8">
              <a:alpha val="26000"/>
            </a:srgbClr>
          </a:solidFill>
          <a:ln/>
        </p:spPr>
      </p:sp>
      <p:sp>
        <p:nvSpPr>
          <p:cNvPr id="58" name="Shape 56"/>
          <p:cNvSpPr/>
          <p:nvPr/>
        </p:nvSpPr>
        <p:spPr>
          <a:xfrm>
            <a:off x="1920240" y="1417320"/>
            <a:ext cx="64008" cy="64008"/>
          </a:xfrm>
          <a:prstGeom prst="rect">
            <a:avLst/>
          </a:prstGeom>
          <a:solidFill>
            <a:srgbClr val="FAFAF8">
              <a:alpha val="31000"/>
            </a:srgbClr>
          </a:solidFill>
          <a:ln/>
        </p:spPr>
      </p:sp>
      <p:sp>
        <p:nvSpPr>
          <p:cNvPr id="59" name="Shape 57"/>
          <p:cNvSpPr/>
          <p:nvPr/>
        </p:nvSpPr>
        <p:spPr>
          <a:xfrm>
            <a:off x="2057400" y="1417320"/>
            <a:ext cx="64008" cy="64008"/>
          </a:xfrm>
          <a:prstGeom prst="rect">
            <a:avLst/>
          </a:prstGeom>
          <a:solidFill>
            <a:srgbClr val="FAFAF8">
              <a:alpha val="12000"/>
            </a:srgbClr>
          </a:solidFill>
          <a:ln/>
        </p:spPr>
      </p:sp>
      <p:sp>
        <p:nvSpPr>
          <p:cNvPr id="60" name="Shape 58"/>
          <p:cNvSpPr/>
          <p:nvPr/>
        </p:nvSpPr>
        <p:spPr>
          <a:xfrm>
            <a:off x="2194560" y="1417320"/>
            <a:ext cx="64008" cy="64008"/>
          </a:xfrm>
          <a:prstGeom prst="rect">
            <a:avLst/>
          </a:prstGeom>
          <a:solidFill>
            <a:srgbClr val="FAFAF8">
              <a:alpha val="6000"/>
            </a:srgbClr>
          </a:solidFill>
          <a:ln/>
        </p:spPr>
      </p:sp>
      <p:sp>
        <p:nvSpPr>
          <p:cNvPr id="61" name="Shape 59"/>
          <p:cNvSpPr/>
          <p:nvPr/>
        </p:nvSpPr>
        <p:spPr>
          <a:xfrm>
            <a:off x="2331720" y="1417320"/>
            <a:ext cx="64008" cy="64008"/>
          </a:xfrm>
          <a:prstGeom prst="rect">
            <a:avLst/>
          </a:prstGeom>
          <a:solidFill>
            <a:srgbClr val="FAFAF8">
              <a:alpha val="23000"/>
            </a:srgbClr>
          </a:solidFill>
          <a:ln/>
        </p:spPr>
      </p:sp>
      <p:sp>
        <p:nvSpPr>
          <p:cNvPr id="62" name="Shape 60"/>
          <p:cNvSpPr/>
          <p:nvPr/>
        </p:nvSpPr>
        <p:spPr>
          <a:xfrm>
            <a:off x="548640" y="1554480"/>
            <a:ext cx="64008" cy="64008"/>
          </a:xfrm>
          <a:prstGeom prst="rect">
            <a:avLst/>
          </a:prstGeom>
          <a:solidFill>
            <a:srgbClr val="FAFAF8">
              <a:alpha val="33000"/>
            </a:srgbClr>
          </a:solidFill>
          <a:ln/>
        </p:spPr>
      </p:sp>
      <p:sp>
        <p:nvSpPr>
          <p:cNvPr id="63" name="Shape 61"/>
          <p:cNvSpPr/>
          <p:nvPr/>
        </p:nvSpPr>
        <p:spPr>
          <a:xfrm>
            <a:off x="685800" y="1554480"/>
            <a:ext cx="64008" cy="64008"/>
          </a:xfrm>
          <a:prstGeom prst="rect">
            <a:avLst/>
          </a:prstGeom>
          <a:solidFill>
            <a:srgbClr val="FAFAF8">
              <a:alpha val="21000"/>
            </a:srgbClr>
          </a:solidFill>
          <a:ln/>
        </p:spPr>
      </p:sp>
      <p:sp>
        <p:nvSpPr>
          <p:cNvPr id="64" name="Shape 62"/>
          <p:cNvSpPr/>
          <p:nvPr/>
        </p:nvSpPr>
        <p:spPr>
          <a:xfrm>
            <a:off x="822960" y="1554480"/>
            <a:ext cx="64008" cy="64008"/>
          </a:xfrm>
          <a:prstGeom prst="rect">
            <a:avLst/>
          </a:prstGeom>
          <a:solidFill>
            <a:srgbClr val="FAFAF8">
              <a:alpha val="63000"/>
            </a:srgbClr>
          </a:solidFill>
          <a:ln/>
        </p:spPr>
      </p:sp>
      <p:sp>
        <p:nvSpPr>
          <p:cNvPr id="65" name="Shape 63"/>
          <p:cNvSpPr/>
          <p:nvPr/>
        </p:nvSpPr>
        <p:spPr>
          <a:xfrm>
            <a:off x="960120" y="1554480"/>
            <a:ext cx="64008" cy="64008"/>
          </a:xfrm>
          <a:prstGeom prst="rect">
            <a:avLst/>
          </a:prstGeom>
          <a:solidFill>
            <a:srgbClr val="FAFAF8">
              <a:alpha val="62000"/>
            </a:srgbClr>
          </a:solidFill>
          <a:ln/>
        </p:spPr>
      </p:sp>
      <p:sp>
        <p:nvSpPr>
          <p:cNvPr id="66" name="Shape 64"/>
          <p:cNvSpPr/>
          <p:nvPr/>
        </p:nvSpPr>
        <p:spPr>
          <a:xfrm>
            <a:off x="1097280" y="1554480"/>
            <a:ext cx="64008" cy="64008"/>
          </a:xfrm>
          <a:prstGeom prst="rect">
            <a:avLst/>
          </a:prstGeom>
          <a:solidFill>
            <a:srgbClr val="FAFAF8">
              <a:alpha val="15000"/>
            </a:srgbClr>
          </a:solidFill>
          <a:ln/>
        </p:spPr>
      </p:sp>
      <p:sp>
        <p:nvSpPr>
          <p:cNvPr id="67" name="Shape 65"/>
          <p:cNvSpPr/>
          <p:nvPr/>
        </p:nvSpPr>
        <p:spPr>
          <a:xfrm>
            <a:off x="1234440" y="1554480"/>
            <a:ext cx="64008" cy="64008"/>
          </a:xfrm>
          <a:prstGeom prst="rect">
            <a:avLst/>
          </a:prstGeom>
          <a:solidFill>
            <a:srgbClr val="FAFAF8">
              <a:alpha val="43000"/>
            </a:srgbClr>
          </a:solidFill>
          <a:ln/>
        </p:spPr>
      </p:sp>
      <p:sp>
        <p:nvSpPr>
          <p:cNvPr id="68" name="Shape 66"/>
          <p:cNvSpPr/>
          <p:nvPr/>
        </p:nvSpPr>
        <p:spPr>
          <a:xfrm>
            <a:off x="1371600" y="1554480"/>
            <a:ext cx="64008" cy="64008"/>
          </a:xfrm>
          <a:prstGeom prst="rect">
            <a:avLst/>
          </a:prstGeom>
          <a:solidFill>
            <a:srgbClr val="FAFAF8">
              <a:alpha val="52000"/>
            </a:srgbClr>
          </a:solidFill>
          <a:ln/>
        </p:spPr>
      </p:sp>
      <p:sp>
        <p:nvSpPr>
          <p:cNvPr id="69" name="Shape 67"/>
          <p:cNvSpPr/>
          <p:nvPr/>
        </p:nvSpPr>
        <p:spPr>
          <a:xfrm>
            <a:off x="1508760" y="1554480"/>
            <a:ext cx="64008" cy="64008"/>
          </a:xfrm>
          <a:prstGeom prst="rect">
            <a:avLst/>
          </a:prstGeom>
          <a:solidFill>
            <a:srgbClr val="FAFAF8">
              <a:alpha val="25000"/>
            </a:srgbClr>
          </a:solidFill>
          <a:ln/>
        </p:spPr>
      </p:sp>
      <p:sp>
        <p:nvSpPr>
          <p:cNvPr id="70" name="Shape 68"/>
          <p:cNvSpPr/>
          <p:nvPr/>
        </p:nvSpPr>
        <p:spPr>
          <a:xfrm>
            <a:off x="1645920" y="1554480"/>
            <a:ext cx="64008" cy="64008"/>
          </a:xfrm>
          <a:prstGeom prst="rect">
            <a:avLst/>
          </a:prstGeom>
          <a:solidFill>
            <a:srgbClr val="FAFAF8">
              <a:alpha val="11000"/>
            </a:srgbClr>
          </a:solidFill>
          <a:ln/>
        </p:spPr>
      </p:sp>
      <p:sp>
        <p:nvSpPr>
          <p:cNvPr id="71" name="Shape 69"/>
          <p:cNvSpPr/>
          <p:nvPr/>
        </p:nvSpPr>
        <p:spPr>
          <a:xfrm>
            <a:off x="1783080" y="1554480"/>
            <a:ext cx="64008" cy="64008"/>
          </a:xfrm>
          <a:prstGeom prst="rect">
            <a:avLst/>
          </a:prstGeom>
          <a:solidFill>
            <a:srgbClr val="FAFAF8">
              <a:alpha val="9000"/>
            </a:srgbClr>
          </a:solidFill>
          <a:ln/>
        </p:spPr>
      </p:sp>
      <p:sp>
        <p:nvSpPr>
          <p:cNvPr id="72" name="Shape 70"/>
          <p:cNvSpPr/>
          <p:nvPr/>
        </p:nvSpPr>
        <p:spPr>
          <a:xfrm>
            <a:off x="1920240" y="1554480"/>
            <a:ext cx="64008" cy="64008"/>
          </a:xfrm>
          <a:prstGeom prst="rect">
            <a:avLst/>
          </a:prstGeom>
          <a:solidFill>
            <a:srgbClr val="FAFAF8">
              <a:alpha val="15000"/>
            </a:srgbClr>
          </a:solidFill>
          <a:ln/>
        </p:spPr>
      </p:sp>
      <p:sp>
        <p:nvSpPr>
          <p:cNvPr id="73" name="Shape 71"/>
          <p:cNvSpPr/>
          <p:nvPr/>
        </p:nvSpPr>
        <p:spPr>
          <a:xfrm>
            <a:off x="2057400" y="1554480"/>
            <a:ext cx="64008" cy="64008"/>
          </a:xfrm>
          <a:prstGeom prst="rect">
            <a:avLst/>
          </a:prstGeom>
          <a:solidFill>
            <a:srgbClr val="FAFAF8">
              <a:alpha val="9000"/>
            </a:srgbClr>
          </a:solidFill>
          <a:ln/>
        </p:spPr>
      </p:sp>
      <p:sp>
        <p:nvSpPr>
          <p:cNvPr id="74" name="Shape 72"/>
          <p:cNvSpPr/>
          <p:nvPr/>
        </p:nvSpPr>
        <p:spPr>
          <a:xfrm>
            <a:off x="2194560" y="1554480"/>
            <a:ext cx="64008" cy="64008"/>
          </a:xfrm>
          <a:prstGeom prst="rect">
            <a:avLst/>
          </a:prstGeom>
          <a:solidFill>
            <a:srgbClr val="FAFAF8">
              <a:alpha val="33000"/>
            </a:srgbClr>
          </a:solidFill>
          <a:ln/>
        </p:spPr>
      </p:sp>
      <p:sp>
        <p:nvSpPr>
          <p:cNvPr id="75" name="Shape 73"/>
          <p:cNvSpPr/>
          <p:nvPr/>
        </p:nvSpPr>
        <p:spPr>
          <a:xfrm>
            <a:off x="2331720" y="1554480"/>
            <a:ext cx="64008" cy="64008"/>
          </a:xfrm>
          <a:prstGeom prst="rect">
            <a:avLst/>
          </a:prstGeom>
          <a:solidFill>
            <a:srgbClr val="FAFAF8">
              <a:alpha val="57000"/>
            </a:srgbClr>
          </a:solidFill>
          <a:ln/>
        </p:spPr>
      </p:sp>
      <p:sp>
        <p:nvSpPr>
          <p:cNvPr id="76" name="Shape 74"/>
          <p:cNvSpPr/>
          <p:nvPr/>
        </p:nvSpPr>
        <p:spPr>
          <a:xfrm>
            <a:off x="548640" y="1691640"/>
            <a:ext cx="64008" cy="64008"/>
          </a:xfrm>
          <a:prstGeom prst="rect">
            <a:avLst/>
          </a:prstGeom>
          <a:solidFill>
            <a:srgbClr val="FAFAF8">
              <a:alpha val="6000"/>
            </a:srgbClr>
          </a:solidFill>
          <a:ln/>
        </p:spPr>
      </p:sp>
      <p:sp>
        <p:nvSpPr>
          <p:cNvPr id="77" name="Shape 75"/>
          <p:cNvSpPr/>
          <p:nvPr/>
        </p:nvSpPr>
        <p:spPr>
          <a:xfrm>
            <a:off x="685800" y="1691640"/>
            <a:ext cx="64008" cy="64008"/>
          </a:xfrm>
          <a:prstGeom prst="rect">
            <a:avLst/>
          </a:prstGeom>
          <a:solidFill>
            <a:srgbClr val="FAFAF8">
              <a:alpha val="56000"/>
            </a:srgbClr>
          </a:solidFill>
          <a:ln/>
        </p:spPr>
      </p:sp>
      <p:sp>
        <p:nvSpPr>
          <p:cNvPr id="78" name="Shape 76"/>
          <p:cNvSpPr/>
          <p:nvPr/>
        </p:nvSpPr>
        <p:spPr>
          <a:xfrm>
            <a:off x="822960" y="1691640"/>
            <a:ext cx="64008" cy="64008"/>
          </a:xfrm>
          <a:prstGeom prst="rect">
            <a:avLst/>
          </a:prstGeom>
          <a:solidFill>
            <a:srgbClr val="FAFAF8">
              <a:alpha val="64000"/>
            </a:srgbClr>
          </a:solidFill>
          <a:ln/>
        </p:spPr>
      </p:sp>
      <p:sp>
        <p:nvSpPr>
          <p:cNvPr id="79" name="Shape 77"/>
          <p:cNvSpPr/>
          <p:nvPr/>
        </p:nvSpPr>
        <p:spPr>
          <a:xfrm>
            <a:off x="960120" y="1691640"/>
            <a:ext cx="64008" cy="64008"/>
          </a:xfrm>
          <a:prstGeom prst="rect">
            <a:avLst/>
          </a:prstGeom>
          <a:solidFill>
            <a:srgbClr val="FAFAF8">
              <a:alpha val="27000"/>
            </a:srgbClr>
          </a:solidFill>
          <a:ln/>
        </p:spPr>
      </p:sp>
      <p:sp>
        <p:nvSpPr>
          <p:cNvPr id="80" name="Shape 78"/>
          <p:cNvSpPr/>
          <p:nvPr/>
        </p:nvSpPr>
        <p:spPr>
          <a:xfrm>
            <a:off x="1097280" y="1691640"/>
            <a:ext cx="64008" cy="64008"/>
          </a:xfrm>
          <a:prstGeom prst="rect">
            <a:avLst/>
          </a:prstGeom>
          <a:solidFill>
            <a:srgbClr val="FAFAF8">
              <a:alpha val="24000"/>
            </a:srgbClr>
          </a:solidFill>
          <a:ln/>
        </p:spPr>
      </p:sp>
      <p:sp>
        <p:nvSpPr>
          <p:cNvPr id="81" name="Shape 79"/>
          <p:cNvSpPr/>
          <p:nvPr/>
        </p:nvSpPr>
        <p:spPr>
          <a:xfrm>
            <a:off x="1234440" y="1691640"/>
            <a:ext cx="64008" cy="64008"/>
          </a:xfrm>
          <a:prstGeom prst="rect">
            <a:avLst/>
          </a:prstGeom>
          <a:solidFill>
            <a:srgbClr val="FAFAF8">
              <a:alpha val="33000"/>
            </a:srgbClr>
          </a:solidFill>
          <a:ln/>
        </p:spPr>
      </p:sp>
      <p:sp>
        <p:nvSpPr>
          <p:cNvPr id="82" name="Shape 80"/>
          <p:cNvSpPr/>
          <p:nvPr/>
        </p:nvSpPr>
        <p:spPr>
          <a:xfrm>
            <a:off x="1371600" y="1691640"/>
            <a:ext cx="64008" cy="64008"/>
          </a:xfrm>
          <a:prstGeom prst="rect">
            <a:avLst/>
          </a:prstGeom>
          <a:solidFill>
            <a:srgbClr val="FAFAF8">
              <a:alpha val="16000"/>
            </a:srgbClr>
          </a:solidFill>
          <a:ln/>
        </p:spPr>
      </p:sp>
      <p:sp>
        <p:nvSpPr>
          <p:cNvPr id="83" name="Shape 81"/>
          <p:cNvSpPr/>
          <p:nvPr/>
        </p:nvSpPr>
        <p:spPr>
          <a:xfrm>
            <a:off x="1508760" y="1691640"/>
            <a:ext cx="64008" cy="64008"/>
          </a:xfrm>
          <a:prstGeom prst="rect">
            <a:avLst/>
          </a:prstGeom>
          <a:solidFill>
            <a:srgbClr val="FAFAF8">
              <a:alpha val="5000"/>
            </a:srgbClr>
          </a:solidFill>
          <a:ln/>
        </p:spPr>
      </p:sp>
      <p:sp>
        <p:nvSpPr>
          <p:cNvPr id="84" name="Shape 82"/>
          <p:cNvSpPr/>
          <p:nvPr/>
        </p:nvSpPr>
        <p:spPr>
          <a:xfrm>
            <a:off x="1645920" y="1691640"/>
            <a:ext cx="64008" cy="64008"/>
          </a:xfrm>
          <a:prstGeom prst="rect">
            <a:avLst/>
          </a:prstGeom>
          <a:solidFill>
            <a:srgbClr val="FAFAF8">
              <a:alpha val="20000"/>
            </a:srgbClr>
          </a:solidFill>
          <a:ln/>
        </p:spPr>
      </p:sp>
      <p:sp>
        <p:nvSpPr>
          <p:cNvPr id="85" name="Shape 83"/>
          <p:cNvSpPr/>
          <p:nvPr/>
        </p:nvSpPr>
        <p:spPr>
          <a:xfrm>
            <a:off x="1783080" y="1691640"/>
            <a:ext cx="64008" cy="64008"/>
          </a:xfrm>
          <a:prstGeom prst="rect">
            <a:avLst/>
          </a:prstGeom>
          <a:solidFill>
            <a:srgbClr val="FAFAF8">
              <a:alpha val="37000"/>
            </a:srgbClr>
          </a:solidFill>
          <a:ln/>
        </p:spPr>
      </p:sp>
      <p:sp>
        <p:nvSpPr>
          <p:cNvPr id="86" name="Shape 84"/>
          <p:cNvSpPr/>
          <p:nvPr/>
        </p:nvSpPr>
        <p:spPr>
          <a:xfrm>
            <a:off x="1920240" y="1691640"/>
            <a:ext cx="64008" cy="64008"/>
          </a:xfrm>
          <a:prstGeom prst="rect">
            <a:avLst/>
          </a:prstGeom>
          <a:solidFill>
            <a:srgbClr val="FAFAF8">
              <a:alpha val="24000"/>
            </a:srgbClr>
          </a:solidFill>
          <a:ln/>
        </p:spPr>
      </p:sp>
      <p:sp>
        <p:nvSpPr>
          <p:cNvPr id="87" name="Shape 85"/>
          <p:cNvSpPr/>
          <p:nvPr/>
        </p:nvSpPr>
        <p:spPr>
          <a:xfrm>
            <a:off x="2057400" y="1691640"/>
            <a:ext cx="64008" cy="64008"/>
          </a:xfrm>
          <a:prstGeom prst="rect">
            <a:avLst/>
          </a:prstGeom>
          <a:solidFill>
            <a:srgbClr val="FAFAF8">
              <a:alpha val="31000"/>
            </a:srgbClr>
          </a:solidFill>
          <a:ln/>
        </p:spPr>
      </p:sp>
      <p:sp>
        <p:nvSpPr>
          <p:cNvPr id="88" name="Shape 86"/>
          <p:cNvSpPr/>
          <p:nvPr/>
        </p:nvSpPr>
        <p:spPr>
          <a:xfrm>
            <a:off x="2194560" y="1691640"/>
            <a:ext cx="64008" cy="64008"/>
          </a:xfrm>
          <a:prstGeom prst="rect">
            <a:avLst/>
          </a:prstGeom>
          <a:solidFill>
            <a:srgbClr val="FAFAF8">
              <a:alpha val="66000"/>
            </a:srgbClr>
          </a:solidFill>
          <a:ln/>
        </p:spPr>
      </p:sp>
      <p:sp>
        <p:nvSpPr>
          <p:cNvPr id="89" name="Shape 87"/>
          <p:cNvSpPr/>
          <p:nvPr/>
        </p:nvSpPr>
        <p:spPr>
          <a:xfrm>
            <a:off x="2331720" y="1691640"/>
            <a:ext cx="64008" cy="64008"/>
          </a:xfrm>
          <a:prstGeom prst="rect">
            <a:avLst/>
          </a:prstGeom>
          <a:solidFill>
            <a:srgbClr val="FAFAF8">
              <a:alpha val="54000"/>
            </a:srgbClr>
          </a:solidFill>
          <a:ln/>
        </p:spPr>
      </p:sp>
      <p:sp>
        <p:nvSpPr>
          <p:cNvPr id="90" name="Text 88"/>
          <p:cNvSpPr txBox="1"/>
          <p:nvPr/>
        </p:nvSpPr>
        <p:spPr>
          <a:xfrm>
            <a:off x="548640" y="3291840"/>
            <a:ext cx="4663440" cy="2194560"/>
          </a:xfrm>
          <a:prstGeom prst="rect">
            <a:avLst/>
          </a:prstGeom>
          <a:noFill/>
          <a:ln/>
        </p:spPr>
        <p:txBody>
          <a:bodyPr wrap="square" lIns="0" tIns="0" rIns="0" bIns="0" rtlCol="0" anchor="t"/>
          <a:lstStyle/>
          <a:p>
            <a:pPr indent="0" marL="0">
              <a:lnSpc>
                <a:spcPct val="95000"/>
              </a:lnSpc>
              <a:buNone/>
            </a:pPr>
            <a:r>
              <a:rPr lang="en-US" sz="3200" spc="-50" kern="0" dirty="0">
                <a:solidFill>
                  <a:srgbClr val="FAFAF8"/>
                </a:solidFill>
                <a:latin typeface="Inter Black" pitchFamily="34" charset="0"/>
                <a:ea typeface="Inter Black" pitchFamily="34" charset="-122"/>
                <a:cs typeface="Inter Black" pitchFamily="34" charset="-120"/>
              </a:rPr>
              <a:t>Regulated science runs on trust.</a:t>
            </a:r>
            <a:endParaRPr lang="en-US" sz="3200" dirty="0"/>
          </a:p>
          <a:p>
            <a:pPr indent="0" marL="0">
              <a:lnSpc>
                <a:spcPct val="95000"/>
              </a:lnSpc>
              <a:buNone/>
            </a:pPr>
            <a:r>
              <a:rPr lang="en-US" sz="3200" spc="-50" kern="0" dirty="0">
                <a:solidFill>
                  <a:srgbClr val="FAFAF8"/>
                </a:solidFill>
                <a:latin typeface="Inter Black" pitchFamily="34" charset="0"/>
                <a:ea typeface="Inter Black" pitchFamily="34" charset="-122"/>
                <a:cs typeface="Inter Black" pitchFamily="34" charset="-120"/>
              </a:rPr>
              <a:t>We are making that trust last.</a:t>
            </a:r>
            <a:endParaRPr lang="en-US" sz="3200" dirty="0"/>
          </a:p>
        </p:txBody>
      </p:sp>
      <p:sp>
        <p:nvSpPr>
          <p:cNvPr id="91" name="Shape 89"/>
          <p:cNvSpPr/>
          <p:nvPr/>
        </p:nvSpPr>
        <p:spPr>
          <a:xfrm>
            <a:off x="548640" y="6291072"/>
            <a:ext cx="4572000" cy="0"/>
          </a:xfrm>
          <a:prstGeom prst="line">
            <a:avLst/>
          </a:prstGeom>
          <a:noFill/>
          <a:ln w="9525">
            <a:solidFill>
              <a:srgbClr val="FAFAF8"/>
            </a:solidFill>
            <a:prstDash val="solid"/>
          </a:ln>
        </p:spPr>
      </p:sp>
      <p:sp>
        <p:nvSpPr>
          <p:cNvPr id="92" name="Shape 90"/>
          <p:cNvSpPr/>
          <p:nvPr/>
        </p:nvSpPr>
        <p:spPr>
          <a:xfrm>
            <a:off x="6126480" y="6291072"/>
            <a:ext cx="5516575" cy="0"/>
          </a:xfrm>
          <a:prstGeom prst="line">
            <a:avLst/>
          </a:prstGeom>
          <a:noFill/>
          <a:ln w="9525">
            <a:solidFill>
              <a:srgbClr val="0A0A0A"/>
            </a:solidFill>
            <a:prstDash val="solid"/>
          </a:ln>
        </p:spPr>
      </p:sp>
      <p:sp>
        <p:nvSpPr>
          <p:cNvPr id="93" name="Text 91"/>
          <p:cNvSpPr txBox="1"/>
          <p:nvPr/>
        </p:nvSpPr>
        <p:spPr>
          <a:xfrm>
            <a:off x="548640" y="6382512"/>
            <a:ext cx="4572000" cy="228600"/>
          </a:xfrm>
          <a:prstGeom prst="rect">
            <a:avLst/>
          </a:prstGeom>
          <a:noFill/>
          <a:ln/>
        </p:spPr>
        <p:txBody>
          <a:bodyPr wrap="square" lIns="0" tIns="0" rIns="0" bIns="0" rtlCol="0" anchor="t"/>
          <a:lstStyle/>
          <a:p>
            <a:pPr indent="0" marL="0">
              <a:buNone/>
            </a:pPr>
            <a:r>
              <a:rPr lang="en-US" sz="900" spc="200" kern="0" dirty="0">
                <a:solidFill>
                  <a:srgbClr val="FAFAF8"/>
                </a:solidFill>
                <a:latin typeface="Consolas" pitchFamily="34" charset="0"/>
                <a:ea typeface="Consolas" pitchFamily="34" charset="-122"/>
                <a:cs typeface="Consolas" pitchFamily="34" charset="-120"/>
              </a:rPr>
              <a:t>TCEX TECHNOLOGIES · CHENNAI</a:t>
            </a:r>
            <a:endParaRPr lang="en-US" sz="900" dirty="0"/>
          </a:p>
        </p:txBody>
      </p:sp>
      <p:sp>
        <p:nvSpPr>
          <p:cNvPr id="94" name="Text 92"/>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№15 / 17</a:t>
            </a:r>
            <a:endParaRPr lang="en-US" sz="900" dirty="0"/>
          </a:p>
        </p:txBody>
      </p:sp>
      <p:sp>
        <p:nvSpPr>
          <p:cNvPr id="95" name="Text 93"/>
          <p:cNvSpPr txBox="1"/>
          <p:nvPr/>
        </p:nvSpPr>
        <p:spPr>
          <a:xfrm>
            <a:off x="6126480" y="960120"/>
            <a:ext cx="45720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№15 · THE ASK</a:t>
            </a:r>
            <a:endParaRPr lang="en-US" sz="1100" dirty="0"/>
          </a:p>
        </p:txBody>
      </p:sp>
      <p:sp>
        <p:nvSpPr>
          <p:cNvPr id="96" name="Text 94"/>
          <p:cNvSpPr txBox="1"/>
          <p:nvPr/>
        </p:nvSpPr>
        <p:spPr>
          <a:xfrm>
            <a:off x="6126480" y="1234440"/>
            <a:ext cx="5760720" cy="731520"/>
          </a:xfrm>
          <a:prstGeom prst="rect">
            <a:avLst/>
          </a:prstGeom>
          <a:noFill/>
          <a:ln/>
        </p:spPr>
        <p:txBody>
          <a:bodyPr wrap="square" lIns="0" tIns="0" rIns="0" bIns="0" rtlCol="0" anchor="t"/>
          <a:lstStyle/>
          <a:p>
            <a:pPr indent="0" marL="0">
              <a:buNone/>
            </a:pPr>
            <a:r>
              <a:rPr lang="en-US" sz="3400" b="1" spc="-50" kern="0" dirty="0">
                <a:solidFill>
                  <a:srgbClr val="0A0A0A"/>
                </a:solidFill>
                <a:latin typeface="Inter" pitchFamily="34" charset="0"/>
                <a:ea typeface="Inter" pitchFamily="34" charset="-122"/>
                <a:cs typeface="Inter" pitchFamily="34" charset="-120"/>
              </a:rPr>
              <a:t>What we are asking for.</a:t>
            </a:r>
            <a:endParaRPr lang="en-US" sz="3400" dirty="0"/>
          </a:p>
        </p:txBody>
      </p:sp>
      <p:sp>
        <p:nvSpPr>
          <p:cNvPr id="97" name="Shape 95"/>
          <p:cNvSpPr/>
          <p:nvPr/>
        </p:nvSpPr>
        <p:spPr>
          <a:xfrm>
            <a:off x="6126480" y="2377440"/>
            <a:ext cx="5516575" cy="0"/>
          </a:xfrm>
          <a:prstGeom prst="line">
            <a:avLst/>
          </a:prstGeom>
          <a:noFill/>
          <a:ln w="12700">
            <a:solidFill>
              <a:srgbClr val="0A0A0A"/>
            </a:solidFill>
            <a:prstDash val="solid"/>
          </a:ln>
        </p:spPr>
      </p:sp>
      <p:sp>
        <p:nvSpPr>
          <p:cNvPr id="98" name="Text 96"/>
          <p:cNvSpPr txBox="1"/>
          <p:nvPr/>
        </p:nvSpPr>
        <p:spPr>
          <a:xfrm>
            <a:off x="6126480" y="2542032"/>
            <a:ext cx="640080" cy="457200"/>
          </a:xfrm>
          <a:prstGeom prst="rect">
            <a:avLst/>
          </a:prstGeom>
          <a:noFill/>
          <a:ln/>
        </p:spPr>
        <p:txBody>
          <a:bodyPr wrap="square" lIns="0" tIns="0" rIns="0" bIns="0" rtlCol="0" anchor="t"/>
          <a:lstStyle/>
          <a:p>
            <a:pPr indent="0" marL="0">
              <a:buNone/>
            </a:pPr>
            <a:r>
              <a:rPr lang="en-US" sz="2200" dirty="0">
                <a:solidFill>
                  <a:srgbClr val="002FA7"/>
                </a:solidFill>
                <a:latin typeface="Inter Black" pitchFamily="34" charset="0"/>
                <a:ea typeface="Inter Black" pitchFamily="34" charset="-122"/>
                <a:cs typeface="Inter Black" pitchFamily="34" charset="-120"/>
              </a:rPr>
              <a:t>01</a:t>
            </a:r>
            <a:endParaRPr lang="en-US" sz="2200" dirty="0"/>
          </a:p>
        </p:txBody>
      </p:sp>
      <p:sp>
        <p:nvSpPr>
          <p:cNvPr id="99" name="Text 97"/>
          <p:cNvSpPr txBox="1"/>
          <p:nvPr/>
        </p:nvSpPr>
        <p:spPr>
          <a:xfrm>
            <a:off x="6858000" y="2560320"/>
            <a:ext cx="4785055" cy="68580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Access to Quantum Valley testbeds to benchmark our post-quantum layer</a:t>
            </a:r>
            <a:endParaRPr lang="en-US" sz="1600" dirty="0"/>
          </a:p>
        </p:txBody>
      </p:sp>
      <p:sp>
        <p:nvSpPr>
          <p:cNvPr id="100" name="Shape 98"/>
          <p:cNvSpPr/>
          <p:nvPr/>
        </p:nvSpPr>
        <p:spPr>
          <a:xfrm>
            <a:off x="6126480" y="3291840"/>
            <a:ext cx="5516575" cy="0"/>
          </a:xfrm>
          <a:prstGeom prst="line">
            <a:avLst/>
          </a:prstGeom>
          <a:noFill/>
          <a:ln w="9525">
            <a:solidFill>
              <a:srgbClr val="C9C9C4"/>
            </a:solidFill>
            <a:prstDash val="solid"/>
          </a:ln>
        </p:spPr>
      </p:sp>
      <p:sp>
        <p:nvSpPr>
          <p:cNvPr id="101" name="Text 99"/>
          <p:cNvSpPr txBox="1"/>
          <p:nvPr/>
        </p:nvSpPr>
        <p:spPr>
          <a:xfrm>
            <a:off x="6126480" y="3456432"/>
            <a:ext cx="640080" cy="457200"/>
          </a:xfrm>
          <a:prstGeom prst="rect">
            <a:avLst/>
          </a:prstGeom>
          <a:noFill/>
          <a:ln/>
        </p:spPr>
        <p:txBody>
          <a:bodyPr wrap="square" lIns="0" tIns="0" rIns="0" bIns="0" rtlCol="0" anchor="t"/>
          <a:lstStyle/>
          <a:p>
            <a:pPr indent="0" marL="0">
              <a:buNone/>
            </a:pPr>
            <a:r>
              <a:rPr lang="en-US" sz="2200" dirty="0">
                <a:solidFill>
                  <a:srgbClr val="002FA7"/>
                </a:solidFill>
                <a:latin typeface="Inter Black" pitchFamily="34" charset="0"/>
                <a:ea typeface="Inter Black" pitchFamily="34" charset="-122"/>
                <a:cs typeface="Inter Black" pitchFamily="34" charset="-120"/>
              </a:rPr>
              <a:t>02</a:t>
            </a:r>
            <a:endParaRPr lang="en-US" sz="2200" dirty="0"/>
          </a:p>
        </p:txBody>
      </p:sp>
      <p:sp>
        <p:nvSpPr>
          <p:cNvPr id="102" name="Text 100"/>
          <p:cNvSpPr txBox="1"/>
          <p:nvPr/>
        </p:nvSpPr>
        <p:spPr>
          <a:xfrm>
            <a:off x="6858000" y="3474720"/>
            <a:ext cx="4785055" cy="68580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Expert review of our cryptographic design by ecosystem partners</a:t>
            </a:r>
            <a:endParaRPr lang="en-US" sz="1600" dirty="0"/>
          </a:p>
        </p:txBody>
      </p:sp>
      <p:sp>
        <p:nvSpPr>
          <p:cNvPr id="103" name="Shape 101"/>
          <p:cNvSpPr/>
          <p:nvPr/>
        </p:nvSpPr>
        <p:spPr>
          <a:xfrm>
            <a:off x="6126480" y="4206240"/>
            <a:ext cx="5516575" cy="0"/>
          </a:xfrm>
          <a:prstGeom prst="line">
            <a:avLst/>
          </a:prstGeom>
          <a:noFill/>
          <a:ln w="9525">
            <a:solidFill>
              <a:srgbClr val="C9C9C4"/>
            </a:solidFill>
            <a:prstDash val="solid"/>
          </a:ln>
        </p:spPr>
      </p:sp>
      <p:sp>
        <p:nvSpPr>
          <p:cNvPr id="104" name="Text 102"/>
          <p:cNvSpPr txBox="1"/>
          <p:nvPr/>
        </p:nvSpPr>
        <p:spPr>
          <a:xfrm>
            <a:off x="6126480" y="4370832"/>
            <a:ext cx="640080" cy="457200"/>
          </a:xfrm>
          <a:prstGeom prst="rect">
            <a:avLst/>
          </a:prstGeom>
          <a:noFill/>
          <a:ln/>
        </p:spPr>
        <p:txBody>
          <a:bodyPr wrap="square" lIns="0" tIns="0" rIns="0" bIns="0" rtlCol="0" anchor="t"/>
          <a:lstStyle/>
          <a:p>
            <a:pPr indent="0" marL="0">
              <a:buNone/>
            </a:pPr>
            <a:r>
              <a:rPr lang="en-US" sz="2200" dirty="0">
                <a:solidFill>
                  <a:srgbClr val="002FA7"/>
                </a:solidFill>
                <a:latin typeface="Inter Black" pitchFamily="34" charset="0"/>
                <a:ea typeface="Inter Black" pitchFamily="34" charset="-122"/>
                <a:cs typeface="Inter Black" pitchFamily="34" charset="-120"/>
              </a:rPr>
              <a:t>03</a:t>
            </a:r>
            <a:endParaRPr lang="en-US" sz="2200" dirty="0"/>
          </a:p>
        </p:txBody>
      </p:sp>
      <p:sp>
        <p:nvSpPr>
          <p:cNvPr id="105" name="Text 103"/>
          <p:cNvSpPr txBox="1"/>
          <p:nvPr/>
        </p:nvSpPr>
        <p:spPr>
          <a:xfrm>
            <a:off x="6858000" y="4389120"/>
            <a:ext cx="4785055" cy="685800"/>
          </a:xfrm>
          <a:prstGeom prst="rect">
            <a:avLst/>
          </a:prstGeom>
          <a:noFill/>
          <a:ln/>
        </p:spPr>
        <p:txBody>
          <a:bodyPr wrap="square" lIns="0" tIns="0" rIns="0" bIns="0" rtlCol="0" anchor="t"/>
          <a:lstStyle/>
          <a:p>
            <a:pPr indent="0" marL="0">
              <a:buNone/>
            </a:pPr>
            <a:r>
              <a:rPr lang="en-US" sz="1700" dirty="0">
                <a:solidFill>
                  <a:srgbClr val="0A0A0A"/>
                </a:solidFill>
                <a:latin typeface="Inter" pitchFamily="34" charset="0"/>
                <a:ea typeface="Inter" pitchFamily="34" charset="-122"/>
                <a:cs typeface="Inter" pitchFamily="34" charset="-120"/>
              </a:rPr>
              <a:t>Introductions to 2 or 3 pilot labs in Andhra Pradesh</a:t>
            </a:r>
            <a:endParaRPr lang="en-US" sz="1600" dirty="0"/>
          </a:p>
        </p:txBody>
      </p:sp>
      <p:sp>
        <p:nvSpPr>
          <p:cNvPr id="106" name="Shape 104"/>
          <p:cNvSpPr/>
          <p:nvPr/>
        </p:nvSpPr>
        <p:spPr>
          <a:xfrm>
            <a:off x="6126480" y="5120640"/>
            <a:ext cx="5516575" cy="0"/>
          </a:xfrm>
          <a:prstGeom prst="line">
            <a:avLst/>
          </a:prstGeom>
          <a:noFill/>
          <a:ln w="9525">
            <a:solidFill>
              <a:srgbClr val="C9C9C4"/>
            </a:solidFill>
            <a:prstDash val="solid"/>
          </a:ln>
        </p:spPr>
      </p:sp>
      <p:sp>
        <p:nvSpPr>
          <p:cNvPr id="107" name="Text 105"/>
          <p:cNvSpPr txBox="1"/>
          <p:nvPr/>
        </p:nvSpPr>
        <p:spPr>
          <a:xfrm>
            <a:off x="6126480" y="5285232"/>
            <a:ext cx="640080" cy="457200"/>
          </a:xfrm>
          <a:prstGeom prst="rect">
            <a:avLst/>
          </a:prstGeom>
          <a:noFill/>
          <a:ln/>
        </p:spPr>
        <p:txBody>
          <a:bodyPr wrap="square" lIns="0" tIns="0" rIns="0" bIns="0" rtlCol="0" anchor="t"/>
          <a:lstStyle/>
          <a:p>
            <a:pPr indent="0" marL="0">
              <a:buNone/>
            </a:pPr>
            <a:r>
              <a:rPr lang="en-US" sz="2200" dirty="0">
                <a:solidFill>
                  <a:srgbClr val="002FA7"/>
                </a:solidFill>
                <a:latin typeface="Inter Black" pitchFamily="34" charset="0"/>
                <a:ea typeface="Inter Black" pitchFamily="34" charset="-122"/>
                <a:cs typeface="Inter Black" pitchFamily="34" charset="-120"/>
              </a:rPr>
              <a:t>04</a:t>
            </a:r>
            <a:endParaRPr lang="en-US" sz="2200" dirty="0"/>
          </a:p>
        </p:txBody>
      </p:sp>
      <p:sp>
        <p:nvSpPr>
          <p:cNvPr id="108" name="Text 106"/>
          <p:cNvSpPr txBox="1"/>
          <p:nvPr/>
        </p:nvSpPr>
        <p:spPr>
          <a:xfrm>
            <a:off x="6858000" y="5303520"/>
            <a:ext cx="4785055" cy="685800"/>
          </a:xfrm>
          <a:prstGeom prst="rect">
            <a:avLst/>
          </a:prstGeom>
          <a:noFill/>
          <a:ln/>
        </p:spPr>
        <p:txBody>
          <a:bodyPr wrap="square" lIns="0" tIns="0" rIns="0" bIns="0" rtlCol="0" anchor="t"/>
          <a:lstStyle/>
          <a:p>
            <a:pPr indent="0" marL="0">
              <a:buNone/>
            </a:pPr>
            <a:r>
              <a:rPr lang="en-US" sz="1700" dirty="0">
                <a:solidFill>
                  <a:srgbClr val="0A0A0A"/>
                </a:solidFill>
                <a:highlight>
                  <a:srgbClr val="FFE36E"/>
                </a:highlight>
                <a:latin typeface="Consolas" pitchFamily="34" charset="0"/>
                <a:ea typeface="Consolas" pitchFamily="34" charset="-122"/>
                <a:cs typeface="Consolas" pitchFamily="34" charset="-120"/>
              </a:rPr>
              <a:t>[CONFIRM: incubation, grant or funding ask, with amount]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APPENDIX</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S16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№16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№16 · APPENDIX A1 · REGULATORY CONTEXT</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The rules lab records live under.</a:t>
            </a:r>
            <a:endParaRPr lang="en-US" sz="4000" dirty="0"/>
          </a:p>
        </p:txBody>
      </p:sp>
      <p:sp>
        <p:nvSpPr>
          <p:cNvPr id="10" name="Shape 8"/>
          <p:cNvSpPr/>
          <p:nvPr/>
        </p:nvSpPr>
        <p:spPr>
          <a:xfrm>
            <a:off x="548640" y="2286000"/>
            <a:ext cx="11094415" cy="0"/>
          </a:xfrm>
          <a:prstGeom prst="line">
            <a:avLst/>
          </a:prstGeom>
          <a:noFill/>
          <a:ln w="12700">
            <a:solidFill>
              <a:srgbClr val="0A0A0A"/>
            </a:solidFill>
            <a:prstDash val="solid"/>
          </a:ln>
        </p:spPr>
      </p:sp>
      <p:sp>
        <p:nvSpPr>
          <p:cNvPr id="11" name="Text 9"/>
          <p:cNvSpPr txBox="1"/>
          <p:nvPr/>
        </p:nvSpPr>
        <p:spPr>
          <a:xfrm>
            <a:off x="548640" y="2468880"/>
            <a:ext cx="3108960" cy="457200"/>
          </a:xfrm>
          <a:prstGeom prst="rect">
            <a:avLst/>
          </a:prstGeom>
          <a:noFill/>
          <a:ln/>
        </p:spPr>
        <p:txBody>
          <a:bodyPr wrap="square" lIns="0" tIns="0" rIns="0" bIns="0" rtlCol="0" anchor="t"/>
          <a:lstStyle/>
          <a:p>
            <a:pPr indent="0" marL="0">
              <a:buNone/>
            </a:pPr>
            <a:r>
              <a:rPr lang="en-US" sz="1800" b="1" dirty="0">
                <a:solidFill>
                  <a:srgbClr val="0A0A0A"/>
                </a:solidFill>
                <a:latin typeface="Inter" pitchFamily="34" charset="0"/>
                <a:ea typeface="Inter" pitchFamily="34" charset="-122"/>
                <a:cs typeface="Inter" pitchFamily="34" charset="-120"/>
              </a:rPr>
              <a:t>OECD GLP</a:t>
            </a:r>
            <a:endParaRPr lang="en-US" sz="1800" dirty="0"/>
          </a:p>
        </p:txBody>
      </p:sp>
      <p:sp>
        <p:nvSpPr>
          <p:cNvPr id="12" name="Text 10"/>
          <p:cNvSpPr txBox="1"/>
          <p:nvPr/>
        </p:nvSpPr>
        <p:spPr>
          <a:xfrm>
            <a:off x="3840480" y="2468880"/>
            <a:ext cx="7772400" cy="54864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Pre-clinical study conduct and records</a:t>
            </a:r>
            <a:endParaRPr lang="en-US" sz="1500" dirty="0"/>
          </a:p>
        </p:txBody>
      </p:sp>
      <p:sp>
        <p:nvSpPr>
          <p:cNvPr id="13" name="Shape 11"/>
          <p:cNvSpPr/>
          <p:nvPr/>
        </p:nvSpPr>
        <p:spPr>
          <a:xfrm>
            <a:off x="548640" y="3063240"/>
            <a:ext cx="11094415" cy="0"/>
          </a:xfrm>
          <a:prstGeom prst="line">
            <a:avLst/>
          </a:prstGeom>
          <a:noFill/>
          <a:ln w="9525">
            <a:solidFill>
              <a:srgbClr val="C9C9C4"/>
            </a:solidFill>
            <a:prstDash val="solid"/>
          </a:ln>
        </p:spPr>
      </p:sp>
      <p:sp>
        <p:nvSpPr>
          <p:cNvPr id="14" name="Text 12"/>
          <p:cNvSpPr txBox="1"/>
          <p:nvPr/>
        </p:nvSpPr>
        <p:spPr>
          <a:xfrm>
            <a:off x="548640" y="3246120"/>
            <a:ext cx="3108960" cy="457200"/>
          </a:xfrm>
          <a:prstGeom prst="rect">
            <a:avLst/>
          </a:prstGeom>
          <a:noFill/>
          <a:ln/>
        </p:spPr>
        <p:txBody>
          <a:bodyPr wrap="square" lIns="0" tIns="0" rIns="0" bIns="0" rtlCol="0" anchor="t"/>
          <a:lstStyle/>
          <a:p>
            <a:pPr indent="0" marL="0">
              <a:buNone/>
            </a:pPr>
            <a:r>
              <a:rPr lang="en-US" sz="1800" b="1" dirty="0">
                <a:solidFill>
                  <a:srgbClr val="0A0A0A"/>
                </a:solidFill>
                <a:latin typeface="Inter" pitchFamily="34" charset="0"/>
                <a:ea typeface="Inter" pitchFamily="34" charset="-122"/>
                <a:cs typeface="Inter" pitchFamily="34" charset="-120"/>
              </a:rPr>
              <a:t>21 CFR Part 11</a:t>
            </a:r>
            <a:endParaRPr lang="en-US" sz="1800" dirty="0"/>
          </a:p>
        </p:txBody>
      </p:sp>
      <p:sp>
        <p:nvSpPr>
          <p:cNvPr id="15" name="Text 13"/>
          <p:cNvSpPr txBox="1"/>
          <p:nvPr/>
        </p:nvSpPr>
        <p:spPr>
          <a:xfrm>
            <a:off x="3840480" y="3246120"/>
            <a:ext cx="7772400" cy="54864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Electronic records and signatures for US FDA submissions</a:t>
            </a:r>
            <a:endParaRPr lang="en-US" sz="1500" dirty="0"/>
          </a:p>
        </p:txBody>
      </p:sp>
      <p:sp>
        <p:nvSpPr>
          <p:cNvPr id="16" name="Shape 14"/>
          <p:cNvSpPr/>
          <p:nvPr/>
        </p:nvSpPr>
        <p:spPr>
          <a:xfrm>
            <a:off x="548640" y="3840480"/>
            <a:ext cx="11094415" cy="0"/>
          </a:xfrm>
          <a:prstGeom prst="line">
            <a:avLst/>
          </a:prstGeom>
          <a:noFill/>
          <a:ln w="9525">
            <a:solidFill>
              <a:srgbClr val="C9C9C4"/>
            </a:solidFill>
            <a:prstDash val="solid"/>
          </a:ln>
        </p:spPr>
      </p:sp>
      <p:sp>
        <p:nvSpPr>
          <p:cNvPr id="17" name="Text 15"/>
          <p:cNvSpPr txBox="1"/>
          <p:nvPr/>
        </p:nvSpPr>
        <p:spPr>
          <a:xfrm>
            <a:off x="548640" y="4023360"/>
            <a:ext cx="3108960" cy="457200"/>
          </a:xfrm>
          <a:prstGeom prst="rect">
            <a:avLst/>
          </a:prstGeom>
          <a:noFill/>
          <a:ln/>
        </p:spPr>
        <p:txBody>
          <a:bodyPr wrap="square" lIns="0" tIns="0" rIns="0" bIns="0" rtlCol="0" anchor="t"/>
          <a:lstStyle/>
          <a:p>
            <a:pPr indent="0" marL="0">
              <a:buNone/>
            </a:pPr>
            <a:r>
              <a:rPr lang="en-US" sz="1800" b="1" dirty="0">
                <a:solidFill>
                  <a:srgbClr val="0A0A0A"/>
                </a:solidFill>
                <a:latin typeface="Inter" pitchFamily="34" charset="0"/>
                <a:ea typeface="Inter" pitchFamily="34" charset="-122"/>
                <a:cs typeface="Inter" pitchFamily="34" charset="-120"/>
              </a:rPr>
              <a:t>ALCOA+</a:t>
            </a:r>
            <a:endParaRPr lang="en-US" sz="1800" dirty="0"/>
          </a:p>
        </p:txBody>
      </p:sp>
      <p:sp>
        <p:nvSpPr>
          <p:cNvPr id="18" name="Text 16"/>
          <p:cNvSpPr txBox="1"/>
          <p:nvPr/>
        </p:nvSpPr>
        <p:spPr>
          <a:xfrm>
            <a:off x="3840480" y="4023360"/>
            <a:ext cx="7772400" cy="54864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Attributable, legible, contemporaneous, original, accurate, plus complete, consistent, enduring, available</a:t>
            </a:r>
            <a:endParaRPr lang="en-US" sz="1500" dirty="0"/>
          </a:p>
        </p:txBody>
      </p:sp>
      <p:sp>
        <p:nvSpPr>
          <p:cNvPr id="19" name="Shape 17"/>
          <p:cNvSpPr/>
          <p:nvPr/>
        </p:nvSpPr>
        <p:spPr>
          <a:xfrm>
            <a:off x="548640" y="4617720"/>
            <a:ext cx="11094415" cy="0"/>
          </a:xfrm>
          <a:prstGeom prst="line">
            <a:avLst/>
          </a:prstGeom>
          <a:noFill/>
          <a:ln w="9525">
            <a:solidFill>
              <a:srgbClr val="C9C9C4"/>
            </a:solidFill>
            <a:prstDash val="solid"/>
          </a:ln>
        </p:spPr>
      </p:sp>
      <p:sp>
        <p:nvSpPr>
          <p:cNvPr id="20" name="Text 18"/>
          <p:cNvSpPr txBox="1"/>
          <p:nvPr/>
        </p:nvSpPr>
        <p:spPr>
          <a:xfrm>
            <a:off x="548640" y="4800600"/>
            <a:ext cx="3108960" cy="457200"/>
          </a:xfrm>
          <a:prstGeom prst="rect">
            <a:avLst/>
          </a:prstGeom>
          <a:noFill/>
          <a:ln/>
        </p:spPr>
        <p:txBody>
          <a:bodyPr wrap="square" lIns="0" tIns="0" rIns="0" bIns="0" rtlCol="0" anchor="t"/>
          <a:lstStyle/>
          <a:p>
            <a:pPr indent="0" marL="0">
              <a:buNone/>
            </a:pPr>
            <a:r>
              <a:rPr lang="en-US" sz="1800" b="1" dirty="0">
                <a:solidFill>
                  <a:srgbClr val="0A0A0A"/>
                </a:solidFill>
                <a:latin typeface="Inter" pitchFamily="34" charset="0"/>
                <a:ea typeface="Inter" pitchFamily="34" charset="-122"/>
                <a:cs typeface="Inter" pitchFamily="34" charset="-120"/>
              </a:rPr>
              <a:t>Revised Schedule M</a:t>
            </a:r>
            <a:endParaRPr lang="en-US" sz="1800" dirty="0"/>
          </a:p>
        </p:txBody>
      </p:sp>
      <p:sp>
        <p:nvSpPr>
          <p:cNvPr id="21" name="Text 19"/>
          <p:cNvSpPr txBox="1"/>
          <p:nvPr/>
        </p:nvSpPr>
        <p:spPr>
          <a:xfrm>
            <a:off x="3840480" y="4800600"/>
            <a:ext cx="7772400" cy="548640"/>
          </a:xfrm>
          <a:prstGeom prst="rect">
            <a:avLst/>
          </a:prstGeom>
          <a:noFill/>
          <a:ln/>
        </p:spPr>
        <p:txBody>
          <a:bodyPr wrap="square" lIns="0" tIns="0" rIns="0" bIns="0" rtlCol="0" anchor="t"/>
          <a:lstStyle/>
          <a:p>
            <a:pPr indent="0" marL="0">
              <a:buNone/>
            </a:pPr>
            <a:r>
              <a:rPr lang="en-US" sz="1500" dirty="0">
                <a:solidFill>
                  <a:srgbClr val="6B6B6B"/>
                </a:solidFill>
                <a:latin typeface="Inter" pitchFamily="34" charset="0"/>
                <a:ea typeface="Inter" pitchFamily="34" charset="-122"/>
                <a:cs typeface="Inter" pitchFamily="34" charset="-120"/>
              </a:rPr>
              <a:t>Indian GMP: a record of every data change, in force for all units since 1 Jan 2026</a:t>
            </a:r>
            <a:endParaRPr lang="en-US" sz="1500" dirty="0"/>
          </a:p>
        </p:txBody>
      </p:sp>
      <p:sp>
        <p:nvSpPr>
          <p:cNvPr id="22" name="Shape 20"/>
          <p:cNvSpPr/>
          <p:nvPr/>
        </p:nvSpPr>
        <p:spPr>
          <a:xfrm>
            <a:off x="548640" y="5394960"/>
            <a:ext cx="11094415" cy="0"/>
          </a:xfrm>
          <a:prstGeom prst="line">
            <a:avLst/>
          </a:prstGeom>
          <a:noFill/>
          <a:ln w="9525">
            <a:solidFill>
              <a:srgbClr val="C9C9C4"/>
            </a:solidFill>
            <a:prstDash val="solid"/>
          </a:ln>
        </p:spPr>
      </p:sp>
      <p:sp>
        <p:nvSpPr>
          <p:cNvPr id="23" name="Text 21"/>
          <p:cNvSpPr txBox="1"/>
          <p:nvPr/>
        </p:nvSpPr>
        <p:spPr>
          <a:xfrm>
            <a:off x="548640" y="5577840"/>
            <a:ext cx="10972800" cy="457200"/>
          </a:xfrm>
          <a:prstGeom prst="rect">
            <a:avLst/>
          </a:prstGeom>
          <a:noFill/>
          <a:ln/>
        </p:spPr>
        <p:txBody>
          <a:bodyPr wrap="square" lIns="0" tIns="0" rIns="0" bIns="0" rtlCol="0" anchor="t"/>
          <a:lstStyle/>
          <a:p>
            <a:pPr indent="0" marL="0">
              <a:buNone/>
            </a:pPr>
            <a:r>
              <a:rPr lang="en-US" sz="1600" b="1" dirty="0">
                <a:solidFill>
                  <a:srgbClr val="002FA7"/>
                </a:solidFill>
                <a:latin typeface="Inter" pitchFamily="34" charset="0"/>
                <a:ea typeface="Inter" pitchFamily="34" charset="-122"/>
                <a:cs typeface="Inter" pitchFamily="34" charset="-120"/>
              </a:rPr>
              <a:t>No body certifies LIMS software. Labs validate the configured system; vendors supply validation documents.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228600"/>
          </a:xfrm>
          <a:prstGeom prst="rect">
            <a:avLst/>
          </a:prstGeom>
          <a:noFill/>
          <a:ln/>
        </p:spPr>
        <p:txBody>
          <a:bodyPr wrap="square" lIns="0" tIns="0" rIns="0" bIns="0" rtlCol="0" anchor="t"/>
          <a:lstStyle/>
          <a:p>
            <a:pPr indent="0" marL="0">
              <a:buNone/>
            </a:pPr>
            <a:r>
              <a:rPr lang="en-US" sz="1000" spc="200" kern="0" dirty="0">
                <a:solidFill>
                  <a:srgbClr val="0A0A0A"/>
                </a:solidFill>
                <a:latin typeface="Consolas" pitchFamily="34" charset="0"/>
                <a:ea typeface="Consolas" pitchFamily="34" charset="-122"/>
                <a:cs typeface="Consolas" pitchFamily="34" charset="-120"/>
              </a:rPr>
              <a:t>TRACECORE — APPENDIX</a:t>
            </a:r>
            <a:endParaRPr lang="en-US" sz="1000" dirty="0"/>
          </a:p>
        </p:txBody>
      </p:sp>
      <p:sp>
        <p:nvSpPr>
          <p:cNvPr id="3" name="Text 1"/>
          <p:cNvSpPr txBox="1"/>
          <p:nvPr/>
        </p:nvSpPr>
        <p:spPr>
          <a:xfrm>
            <a:off x="5181448" y="384048"/>
            <a:ext cx="1828800" cy="228600"/>
          </a:xfrm>
          <a:prstGeom prst="rect">
            <a:avLst/>
          </a:prstGeom>
          <a:noFill/>
          <a:ln/>
        </p:spPr>
        <p:txBody>
          <a:bodyPr wrap="square" lIns="0" tIns="0" rIns="0" bIns="0" rtlCol="0" anchor="t"/>
          <a:lstStyle/>
          <a:p>
            <a:pPr algn="ctr" indent="0" marL="0">
              <a:buNone/>
            </a:pPr>
            <a:r>
              <a:rPr lang="en-US" sz="1000" spc="200" kern="0" dirty="0">
                <a:solidFill>
                  <a:srgbClr val="0A0A0A"/>
                </a:solidFill>
                <a:latin typeface="Consolas" pitchFamily="34" charset="0"/>
                <a:ea typeface="Consolas" pitchFamily="34" charset="-122"/>
                <a:cs typeface="Consolas" pitchFamily="34" charset="-120"/>
              </a:rPr>
              <a:t>S17 / 17</a:t>
            </a:r>
            <a:endParaRPr lang="en-US" sz="1000" dirty="0"/>
          </a:p>
        </p:txBody>
      </p:sp>
      <p:sp>
        <p:nvSpPr>
          <p:cNvPr id="4" name="Text 2"/>
          <p:cNvSpPr txBox="1"/>
          <p:nvPr/>
        </p:nvSpPr>
        <p:spPr>
          <a:xfrm>
            <a:off x="9814255" y="384048"/>
            <a:ext cx="1828800" cy="228600"/>
          </a:xfrm>
          <a:prstGeom prst="rect">
            <a:avLst/>
          </a:prstGeom>
          <a:noFill/>
          <a:ln/>
        </p:spPr>
        <p:txBody>
          <a:bodyPr wrap="square" lIns="0" tIns="0" rIns="0" bIns="0" rtlCol="0" anchor="t"/>
          <a:lstStyle/>
          <a:p>
            <a:pPr algn="r" indent="0" marL="0">
              <a:buNone/>
            </a:pPr>
            <a:r>
              <a:rPr lang="en-US" sz="1000" spc="200" kern="0" dirty="0">
                <a:solidFill>
                  <a:srgbClr val="0A0A0A"/>
                </a:solidFill>
                <a:latin typeface="Consolas" pitchFamily="34" charset="0"/>
                <a:ea typeface="Consolas" pitchFamily="34" charset="-122"/>
                <a:cs typeface="Consolas" pitchFamily="34" charset="-120"/>
              </a:rPr>
              <a:t>15.10.2026</a:t>
            </a:r>
            <a:endParaRPr lang="en-US" sz="1000" dirty="0"/>
          </a:p>
        </p:txBody>
      </p:sp>
      <p:sp>
        <p:nvSpPr>
          <p:cNvPr id="5" name="Shape 3"/>
          <p:cNvSpPr/>
          <p:nvPr/>
        </p:nvSpPr>
        <p:spPr>
          <a:xfrm>
            <a:off x="548640" y="6291072"/>
            <a:ext cx="11094415" cy="0"/>
          </a:xfrm>
          <a:prstGeom prst="line">
            <a:avLst/>
          </a:prstGeom>
          <a:noFill/>
          <a:ln w="9525">
            <a:solidFill>
              <a:srgbClr val="0A0A0A"/>
            </a:solidFill>
            <a:prstDash val="solid"/>
          </a:ln>
        </p:spPr>
      </p:sp>
      <p:sp>
        <p:nvSpPr>
          <p:cNvPr id="6" name="Text 4"/>
          <p:cNvSpPr txBox="1"/>
          <p:nvPr/>
        </p:nvSpPr>
        <p:spPr>
          <a:xfrm>
            <a:off x="548640" y="6382512"/>
            <a:ext cx="8686800" cy="228600"/>
          </a:xfrm>
          <a:prstGeom prst="rect">
            <a:avLst/>
          </a:prstGeom>
          <a:noFill/>
          <a:ln/>
        </p:spPr>
        <p:txBody>
          <a:bodyPr wrap="square" lIns="0" tIns="0" rIns="0" bIns="0" rtlCol="0" anchor="t"/>
          <a:lstStyle/>
          <a:p>
            <a:pPr indent="0" marL="0">
              <a:buNone/>
            </a:pPr>
            <a:r>
              <a:rPr lang="en-US" sz="900" spc="100" kern="0" dirty="0">
                <a:solidFill>
                  <a:srgbClr val="0A0A0A"/>
                </a:solidFill>
                <a:latin typeface="Consolas" pitchFamily="34" charset="0"/>
                <a:ea typeface="Consolas" pitchFamily="34" charset="-122"/>
                <a:cs typeface="Consolas" pitchFamily="34" charset="-120"/>
              </a:rPr>
              <a:t>TCEX TECHNOLOGIES · CHENNAI</a:t>
            </a:r>
            <a:endParaRPr lang="en-US" sz="900" dirty="0"/>
          </a:p>
        </p:txBody>
      </p:sp>
      <p:sp>
        <p:nvSpPr>
          <p:cNvPr id="7" name="Text 5"/>
          <p:cNvSpPr txBox="1"/>
          <p:nvPr/>
        </p:nvSpPr>
        <p:spPr>
          <a:xfrm>
            <a:off x="9814255" y="6382512"/>
            <a:ext cx="1828800" cy="228600"/>
          </a:xfrm>
          <a:prstGeom prst="rect">
            <a:avLst/>
          </a:prstGeom>
          <a:noFill/>
          <a:ln/>
        </p:spPr>
        <p:txBody>
          <a:bodyPr wrap="square" lIns="0" tIns="0" rIns="0" bIns="0" rtlCol="0" anchor="t"/>
          <a:lstStyle/>
          <a:p>
            <a:pPr algn="r" indent="0" marL="0">
              <a:buNone/>
            </a:pPr>
            <a:r>
              <a:rPr lang="en-US" sz="900" spc="200" kern="0" dirty="0">
                <a:solidFill>
                  <a:srgbClr val="0A0A0A"/>
                </a:solidFill>
                <a:latin typeface="Consolas" pitchFamily="34" charset="0"/>
                <a:ea typeface="Consolas" pitchFamily="34" charset="-122"/>
                <a:cs typeface="Consolas" pitchFamily="34" charset="-120"/>
              </a:rPr>
              <a:t>№17 / 17</a:t>
            </a:r>
            <a:endParaRPr lang="en-US" sz="900" dirty="0"/>
          </a:p>
        </p:txBody>
      </p:sp>
      <p:sp>
        <p:nvSpPr>
          <p:cNvPr id="8" name="Text 6"/>
          <p:cNvSpPr txBox="1"/>
          <p:nvPr/>
        </p:nvSpPr>
        <p:spPr>
          <a:xfrm>
            <a:off x="548640" y="960120"/>
            <a:ext cx="7315200" cy="228600"/>
          </a:xfrm>
          <a:prstGeom prst="rect">
            <a:avLst/>
          </a:prstGeom>
          <a:noFill/>
          <a:ln/>
        </p:spPr>
        <p:txBody>
          <a:bodyPr wrap="square" lIns="0" tIns="0" rIns="0" bIns="0" rtlCol="0" anchor="t"/>
          <a:lstStyle/>
          <a:p>
            <a:pPr indent="0" marL="0">
              <a:buNone/>
            </a:pPr>
            <a:r>
              <a:rPr lang="en-US" sz="1100" spc="200" kern="0" dirty="0">
                <a:solidFill>
                  <a:srgbClr val="002FA7"/>
                </a:solidFill>
                <a:latin typeface="Consolas" pitchFamily="34" charset="0"/>
                <a:ea typeface="Consolas" pitchFamily="34" charset="-122"/>
                <a:cs typeface="Consolas" pitchFamily="34" charset="-120"/>
              </a:rPr>
              <a:t>№17 · APPENDIX A2 · STATUS OF EVERY CLAIM</a:t>
            </a:r>
            <a:endParaRPr lang="en-US" sz="1100" dirty="0"/>
          </a:p>
        </p:txBody>
      </p:sp>
      <p:sp>
        <p:nvSpPr>
          <p:cNvPr id="9" name="Text 7"/>
          <p:cNvSpPr txBox="1"/>
          <p:nvPr/>
        </p:nvSpPr>
        <p:spPr>
          <a:xfrm>
            <a:off x="548640" y="1234440"/>
            <a:ext cx="11064240" cy="1188720"/>
          </a:xfrm>
          <a:prstGeom prst="rect">
            <a:avLst/>
          </a:prstGeom>
          <a:noFill/>
          <a:ln/>
        </p:spPr>
        <p:txBody>
          <a:bodyPr wrap="square" lIns="0" tIns="0" rIns="0" bIns="0" rtlCol="0" anchor="t"/>
          <a:lstStyle/>
          <a:p>
            <a:pPr indent="0" marL="0">
              <a:lnSpc>
                <a:spcPct val="92000"/>
              </a:lnSpc>
              <a:buNone/>
            </a:pPr>
            <a:r>
              <a:rPr lang="en-US" sz="4000" b="1" spc="-50" kern="0" dirty="0">
                <a:solidFill>
                  <a:srgbClr val="0A0A0A"/>
                </a:solidFill>
                <a:latin typeface="Inter" pitchFamily="34" charset="0"/>
                <a:ea typeface="Inter" pitchFamily="34" charset="-122"/>
                <a:cs typeface="Inter" pitchFamily="34" charset="-120"/>
              </a:rPr>
              <a:t>Where each capability stands today.</a:t>
            </a:r>
            <a:endParaRPr lang="en-US" sz="4000" dirty="0"/>
          </a:p>
        </p:txBody>
      </p:sp>
      <p:sp>
        <p:nvSpPr>
          <p:cNvPr id="10" name="Text 8"/>
          <p:cNvSpPr txBox="1"/>
          <p:nvPr/>
        </p:nvSpPr>
        <p:spPr>
          <a:xfrm>
            <a:off x="5486400" y="2331720"/>
            <a:ext cx="1231331" cy="228600"/>
          </a:xfrm>
          <a:prstGeom prst="rect">
            <a:avLst/>
          </a:prstGeom>
          <a:noFill/>
          <a:ln/>
        </p:spPr>
        <p:txBody>
          <a:bodyPr wrap="square" lIns="0" tIns="0" rIns="0" bIns="0" rtlCol="0" anchor="t"/>
          <a:lstStyle/>
          <a:p>
            <a:pPr algn="ctr" indent="0" marL="0">
              <a:buNone/>
            </a:pPr>
            <a:r>
              <a:rPr lang="en-US" sz="900" spc="100" kern="0" dirty="0">
                <a:solidFill>
                  <a:srgbClr val="6B6B6B"/>
                </a:solidFill>
                <a:latin typeface="Consolas" pitchFamily="34" charset="0"/>
                <a:ea typeface="Consolas" pitchFamily="34" charset="-122"/>
                <a:cs typeface="Consolas" pitchFamily="34" charset="-120"/>
              </a:rPr>
              <a:t>BUILT</a:t>
            </a:r>
            <a:endParaRPr lang="en-US" sz="900" dirty="0"/>
          </a:p>
        </p:txBody>
      </p:sp>
      <p:sp>
        <p:nvSpPr>
          <p:cNvPr id="11" name="Text 9"/>
          <p:cNvSpPr txBox="1"/>
          <p:nvPr/>
        </p:nvSpPr>
        <p:spPr>
          <a:xfrm>
            <a:off x="6717731" y="2331720"/>
            <a:ext cx="1231331" cy="228600"/>
          </a:xfrm>
          <a:prstGeom prst="rect">
            <a:avLst/>
          </a:prstGeom>
          <a:noFill/>
          <a:ln/>
        </p:spPr>
        <p:txBody>
          <a:bodyPr wrap="square" lIns="0" tIns="0" rIns="0" bIns="0" rtlCol="0" anchor="t"/>
          <a:lstStyle/>
          <a:p>
            <a:pPr algn="ctr" indent="0" marL="0">
              <a:buNone/>
            </a:pPr>
            <a:r>
              <a:rPr lang="en-US" sz="900" spc="100" kern="0" dirty="0">
                <a:solidFill>
                  <a:srgbClr val="6B6B6B"/>
                </a:solidFill>
                <a:latin typeface="Consolas" pitchFamily="34" charset="0"/>
                <a:ea typeface="Consolas" pitchFamily="34" charset="-122"/>
                <a:cs typeface="Consolas" pitchFamily="34" charset="-120"/>
              </a:rPr>
              <a:t>TESTED</a:t>
            </a:r>
            <a:endParaRPr lang="en-US" sz="900" dirty="0"/>
          </a:p>
        </p:txBody>
      </p:sp>
      <p:sp>
        <p:nvSpPr>
          <p:cNvPr id="12" name="Text 10"/>
          <p:cNvSpPr txBox="1"/>
          <p:nvPr/>
        </p:nvSpPr>
        <p:spPr>
          <a:xfrm>
            <a:off x="7949062" y="2331720"/>
            <a:ext cx="1231331" cy="228600"/>
          </a:xfrm>
          <a:prstGeom prst="rect">
            <a:avLst/>
          </a:prstGeom>
          <a:noFill/>
          <a:ln/>
        </p:spPr>
        <p:txBody>
          <a:bodyPr wrap="square" lIns="0" tIns="0" rIns="0" bIns="0" rtlCol="0" anchor="t"/>
          <a:lstStyle/>
          <a:p>
            <a:pPr algn="ctr" indent="0" marL="0">
              <a:buNone/>
            </a:pPr>
            <a:r>
              <a:rPr lang="en-US" sz="900" spc="100" kern="0" dirty="0">
                <a:solidFill>
                  <a:srgbClr val="6B6B6B"/>
                </a:solidFill>
                <a:latin typeface="Consolas" pitchFamily="34" charset="0"/>
                <a:ea typeface="Consolas" pitchFamily="34" charset="-122"/>
                <a:cs typeface="Consolas" pitchFamily="34" charset="-120"/>
              </a:rPr>
              <a:t>IN PROGRESS</a:t>
            </a:r>
            <a:endParaRPr lang="en-US" sz="900" dirty="0"/>
          </a:p>
        </p:txBody>
      </p:sp>
      <p:sp>
        <p:nvSpPr>
          <p:cNvPr id="13" name="Text 11"/>
          <p:cNvSpPr txBox="1"/>
          <p:nvPr/>
        </p:nvSpPr>
        <p:spPr>
          <a:xfrm>
            <a:off x="9180393" y="2331720"/>
            <a:ext cx="1231331" cy="228600"/>
          </a:xfrm>
          <a:prstGeom prst="rect">
            <a:avLst/>
          </a:prstGeom>
          <a:noFill/>
          <a:ln/>
        </p:spPr>
        <p:txBody>
          <a:bodyPr wrap="square" lIns="0" tIns="0" rIns="0" bIns="0" rtlCol="0" anchor="t"/>
          <a:lstStyle/>
          <a:p>
            <a:pPr algn="ctr" indent="0" marL="0">
              <a:buNone/>
            </a:pPr>
            <a:r>
              <a:rPr lang="en-US" sz="900" spc="100" kern="0" dirty="0">
                <a:solidFill>
                  <a:srgbClr val="6B6B6B"/>
                </a:solidFill>
                <a:latin typeface="Consolas" pitchFamily="34" charset="0"/>
                <a:ea typeface="Consolas" pitchFamily="34" charset="-122"/>
                <a:cs typeface="Consolas" pitchFamily="34" charset="-120"/>
              </a:rPr>
              <a:t>PLANNED</a:t>
            </a:r>
            <a:endParaRPr lang="en-US" sz="900" dirty="0"/>
          </a:p>
        </p:txBody>
      </p:sp>
      <p:sp>
        <p:nvSpPr>
          <p:cNvPr id="14" name="Text 12"/>
          <p:cNvSpPr txBox="1"/>
          <p:nvPr/>
        </p:nvSpPr>
        <p:spPr>
          <a:xfrm>
            <a:off x="10411724" y="2331720"/>
            <a:ext cx="1231331" cy="228600"/>
          </a:xfrm>
          <a:prstGeom prst="rect">
            <a:avLst/>
          </a:prstGeom>
          <a:noFill/>
          <a:ln/>
        </p:spPr>
        <p:txBody>
          <a:bodyPr wrap="square" lIns="0" tIns="0" rIns="0" bIns="0" rtlCol="0" anchor="t"/>
          <a:lstStyle/>
          <a:p>
            <a:pPr algn="ctr" indent="0" marL="0">
              <a:buNone/>
            </a:pPr>
            <a:r>
              <a:rPr lang="en-US" sz="900" spc="100" kern="0" dirty="0">
                <a:solidFill>
                  <a:srgbClr val="6B6B6B"/>
                </a:solidFill>
                <a:latin typeface="Consolas" pitchFamily="34" charset="0"/>
                <a:ea typeface="Consolas" pitchFamily="34" charset="-122"/>
                <a:cs typeface="Consolas" pitchFamily="34" charset="-120"/>
              </a:rPr>
              <a:t>EXT. REVIEWED</a:t>
            </a:r>
            <a:endParaRPr lang="en-US" sz="900" dirty="0"/>
          </a:p>
        </p:txBody>
      </p:sp>
      <p:sp>
        <p:nvSpPr>
          <p:cNvPr id="15" name="Shape 13"/>
          <p:cNvSpPr/>
          <p:nvPr/>
        </p:nvSpPr>
        <p:spPr>
          <a:xfrm>
            <a:off x="548640" y="2606040"/>
            <a:ext cx="11094415" cy="0"/>
          </a:xfrm>
          <a:prstGeom prst="line">
            <a:avLst/>
          </a:prstGeom>
          <a:noFill/>
          <a:ln w="12700">
            <a:solidFill>
              <a:srgbClr val="0A0A0A"/>
            </a:solidFill>
            <a:prstDash val="solid"/>
          </a:ln>
        </p:spPr>
      </p:sp>
      <p:sp>
        <p:nvSpPr>
          <p:cNvPr id="16" name="Text 14"/>
          <p:cNvSpPr txBox="1"/>
          <p:nvPr/>
        </p:nvSpPr>
        <p:spPr>
          <a:xfrm>
            <a:off x="548640" y="2715768"/>
            <a:ext cx="4754880" cy="3200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Audit trail and controlled correction</a:t>
            </a:r>
            <a:endParaRPr lang="en-US" sz="1500" dirty="0"/>
          </a:p>
        </p:txBody>
      </p:sp>
      <p:sp>
        <p:nvSpPr>
          <p:cNvPr id="17" name="Shape 15"/>
          <p:cNvSpPr/>
          <p:nvPr/>
        </p:nvSpPr>
        <p:spPr>
          <a:xfrm>
            <a:off x="6019770" y="2752344"/>
            <a:ext cx="164592" cy="164592"/>
          </a:xfrm>
          <a:prstGeom prst="rect">
            <a:avLst/>
          </a:prstGeom>
          <a:ln w="9525">
            <a:solidFill>
              <a:srgbClr val="0A0A0A"/>
            </a:solidFill>
            <a:prstDash val="solid"/>
          </a:ln>
        </p:spPr>
      </p:sp>
      <p:sp>
        <p:nvSpPr>
          <p:cNvPr id="18" name="Shape 16"/>
          <p:cNvSpPr/>
          <p:nvPr/>
        </p:nvSpPr>
        <p:spPr>
          <a:xfrm>
            <a:off x="7251101" y="2752344"/>
            <a:ext cx="164592" cy="164592"/>
          </a:xfrm>
          <a:prstGeom prst="rect">
            <a:avLst/>
          </a:prstGeom>
          <a:ln w="9525">
            <a:solidFill>
              <a:srgbClr val="0A0A0A"/>
            </a:solidFill>
            <a:prstDash val="solid"/>
          </a:ln>
        </p:spPr>
      </p:sp>
      <p:sp>
        <p:nvSpPr>
          <p:cNvPr id="19" name="Shape 17"/>
          <p:cNvSpPr/>
          <p:nvPr/>
        </p:nvSpPr>
        <p:spPr>
          <a:xfrm>
            <a:off x="8482432" y="2752344"/>
            <a:ext cx="164592" cy="164592"/>
          </a:xfrm>
          <a:prstGeom prst="rect">
            <a:avLst/>
          </a:prstGeom>
          <a:ln w="9525">
            <a:solidFill>
              <a:srgbClr val="0A0A0A"/>
            </a:solidFill>
            <a:prstDash val="solid"/>
          </a:ln>
        </p:spPr>
      </p:sp>
      <p:sp>
        <p:nvSpPr>
          <p:cNvPr id="20" name="Shape 18"/>
          <p:cNvSpPr/>
          <p:nvPr/>
        </p:nvSpPr>
        <p:spPr>
          <a:xfrm>
            <a:off x="9713763" y="2752344"/>
            <a:ext cx="164592" cy="164592"/>
          </a:xfrm>
          <a:prstGeom prst="rect">
            <a:avLst/>
          </a:prstGeom>
          <a:ln w="9525">
            <a:solidFill>
              <a:srgbClr val="0A0A0A"/>
            </a:solidFill>
            <a:prstDash val="solid"/>
          </a:ln>
        </p:spPr>
      </p:sp>
      <p:sp>
        <p:nvSpPr>
          <p:cNvPr id="21" name="Shape 19"/>
          <p:cNvSpPr/>
          <p:nvPr/>
        </p:nvSpPr>
        <p:spPr>
          <a:xfrm>
            <a:off x="10945094" y="2752344"/>
            <a:ext cx="164592" cy="164592"/>
          </a:xfrm>
          <a:prstGeom prst="rect">
            <a:avLst/>
          </a:prstGeom>
          <a:ln w="9525">
            <a:solidFill>
              <a:srgbClr val="0A0A0A"/>
            </a:solidFill>
            <a:prstDash val="solid"/>
          </a:ln>
        </p:spPr>
      </p:sp>
      <p:sp>
        <p:nvSpPr>
          <p:cNvPr id="22" name="Shape 20"/>
          <p:cNvSpPr/>
          <p:nvPr/>
        </p:nvSpPr>
        <p:spPr>
          <a:xfrm>
            <a:off x="548640" y="3063240"/>
            <a:ext cx="11094415" cy="0"/>
          </a:xfrm>
          <a:prstGeom prst="line">
            <a:avLst/>
          </a:prstGeom>
          <a:noFill/>
          <a:ln w="9525">
            <a:solidFill>
              <a:srgbClr val="C9C9C4"/>
            </a:solidFill>
            <a:prstDash val="solid"/>
          </a:ln>
        </p:spPr>
      </p:sp>
      <p:sp>
        <p:nvSpPr>
          <p:cNvPr id="23" name="Text 21"/>
          <p:cNvSpPr txBox="1"/>
          <p:nvPr/>
        </p:nvSpPr>
        <p:spPr>
          <a:xfrm>
            <a:off x="548640" y="3172968"/>
            <a:ext cx="4754880" cy="3200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Electronic signatures</a:t>
            </a:r>
            <a:endParaRPr lang="en-US" sz="1500" dirty="0"/>
          </a:p>
        </p:txBody>
      </p:sp>
      <p:sp>
        <p:nvSpPr>
          <p:cNvPr id="24" name="Shape 22"/>
          <p:cNvSpPr/>
          <p:nvPr/>
        </p:nvSpPr>
        <p:spPr>
          <a:xfrm>
            <a:off x="6019770" y="3209544"/>
            <a:ext cx="164592" cy="164592"/>
          </a:xfrm>
          <a:prstGeom prst="rect">
            <a:avLst/>
          </a:prstGeom>
          <a:ln w="9525">
            <a:solidFill>
              <a:srgbClr val="0A0A0A"/>
            </a:solidFill>
            <a:prstDash val="solid"/>
          </a:ln>
        </p:spPr>
      </p:sp>
      <p:sp>
        <p:nvSpPr>
          <p:cNvPr id="25" name="Shape 23"/>
          <p:cNvSpPr/>
          <p:nvPr/>
        </p:nvSpPr>
        <p:spPr>
          <a:xfrm>
            <a:off x="7251101" y="3209544"/>
            <a:ext cx="164592" cy="164592"/>
          </a:xfrm>
          <a:prstGeom prst="rect">
            <a:avLst/>
          </a:prstGeom>
          <a:ln w="9525">
            <a:solidFill>
              <a:srgbClr val="0A0A0A"/>
            </a:solidFill>
            <a:prstDash val="solid"/>
          </a:ln>
        </p:spPr>
      </p:sp>
      <p:sp>
        <p:nvSpPr>
          <p:cNvPr id="26" name="Shape 24"/>
          <p:cNvSpPr/>
          <p:nvPr/>
        </p:nvSpPr>
        <p:spPr>
          <a:xfrm>
            <a:off x="8482432" y="3209544"/>
            <a:ext cx="164592" cy="164592"/>
          </a:xfrm>
          <a:prstGeom prst="rect">
            <a:avLst/>
          </a:prstGeom>
          <a:ln w="9525">
            <a:solidFill>
              <a:srgbClr val="0A0A0A"/>
            </a:solidFill>
            <a:prstDash val="solid"/>
          </a:ln>
        </p:spPr>
      </p:sp>
      <p:sp>
        <p:nvSpPr>
          <p:cNvPr id="27" name="Shape 25"/>
          <p:cNvSpPr/>
          <p:nvPr/>
        </p:nvSpPr>
        <p:spPr>
          <a:xfrm>
            <a:off x="9713763" y="3209544"/>
            <a:ext cx="164592" cy="164592"/>
          </a:xfrm>
          <a:prstGeom prst="rect">
            <a:avLst/>
          </a:prstGeom>
          <a:ln w="9525">
            <a:solidFill>
              <a:srgbClr val="0A0A0A"/>
            </a:solidFill>
            <a:prstDash val="solid"/>
          </a:ln>
        </p:spPr>
      </p:sp>
      <p:sp>
        <p:nvSpPr>
          <p:cNvPr id="28" name="Shape 26"/>
          <p:cNvSpPr/>
          <p:nvPr/>
        </p:nvSpPr>
        <p:spPr>
          <a:xfrm>
            <a:off x="10945094" y="3209544"/>
            <a:ext cx="164592" cy="164592"/>
          </a:xfrm>
          <a:prstGeom prst="rect">
            <a:avLst/>
          </a:prstGeom>
          <a:ln w="9525">
            <a:solidFill>
              <a:srgbClr val="0A0A0A"/>
            </a:solidFill>
            <a:prstDash val="solid"/>
          </a:ln>
        </p:spPr>
      </p:sp>
      <p:sp>
        <p:nvSpPr>
          <p:cNvPr id="29" name="Shape 27"/>
          <p:cNvSpPr/>
          <p:nvPr/>
        </p:nvSpPr>
        <p:spPr>
          <a:xfrm>
            <a:off x="548640" y="3520440"/>
            <a:ext cx="11094415" cy="0"/>
          </a:xfrm>
          <a:prstGeom prst="line">
            <a:avLst/>
          </a:prstGeom>
          <a:noFill/>
          <a:ln w="9525">
            <a:solidFill>
              <a:srgbClr val="C9C9C4"/>
            </a:solidFill>
            <a:prstDash val="solid"/>
          </a:ln>
        </p:spPr>
      </p:sp>
      <p:sp>
        <p:nvSpPr>
          <p:cNvPr id="30" name="Text 28"/>
          <p:cNvSpPr txBox="1"/>
          <p:nvPr/>
        </p:nvSpPr>
        <p:spPr>
          <a:xfrm>
            <a:off x="548640" y="3630168"/>
            <a:ext cx="4754880" cy="3200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ML-KEM key establishment</a:t>
            </a:r>
            <a:endParaRPr lang="en-US" sz="1500" dirty="0"/>
          </a:p>
        </p:txBody>
      </p:sp>
      <p:sp>
        <p:nvSpPr>
          <p:cNvPr id="31" name="Shape 29"/>
          <p:cNvSpPr/>
          <p:nvPr/>
        </p:nvSpPr>
        <p:spPr>
          <a:xfrm>
            <a:off x="6019770" y="3666744"/>
            <a:ext cx="164592" cy="164592"/>
          </a:xfrm>
          <a:prstGeom prst="rect">
            <a:avLst/>
          </a:prstGeom>
          <a:ln w="9525">
            <a:solidFill>
              <a:srgbClr val="0A0A0A"/>
            </a:solidFill>
            <a:prstDash val="solid"/>
          </a:ln>
        </p:spPr>
      </p:sp>
      <p:sp>
        <p:nvSpPr>
          <p:cNvPr id="32" name="Shape 30"/>
          <p:cNvSpPr/>
          <p:nvPr/>
        </p:nvSpPr>
        <p:spPr>
          <a:xfrm>
            <a:off x="7251101" y="3666744"/>
            <a:ext cx="164592" cy="164592"/>
          </a:xfrm>
          <a:prstGeom prst="rect">
            <a:avLst/>
          </a:prstGeom>
          <a:ln w="9525">
            <a:solidFill>
              <a:srgbClr val="0A0A0A"/>
            </a:solidFill>
            <a:prstDash val="solid"/>
          </a:ln>
        </p:spPr>
      </p:sp>
      <p:sp>
        <p:nvSpPr>
          <p:cNvPr id="33" name="Shape 31"/>
          <p:cNvSpPr/>
          <p:nvPr/>
        </p:nvSpPr>
        <p:spPr>
          <a:xfrm>
            <a:off x="8482432" y="3666744"/>
            <a:ext cx="164592" cy="164592"/>
          </a:xfrm>
          <a:prstGeom prst="rect">
            <a:avLst/>
          </a:prstGeom>
          <a:ln w="9525">
            <a:solidFill>
              <a:srgbClr val="0A0A0A"/>
            </a:solidFill>
            <a:prstDash val="solid"/>
          </a:ln>
        </p:spPr>
      </p:sp>
      <p:sp>
        <p:nvSpPr>
          <p:cNvPr id="34" name="Shape 32"/>
          <p:cNvSpPr/>
          <p:nvPr/>
        </p:nvSpPr>
        <p:spPr>
          <a:xfrm>
            <a:off x="9713763" y="3666744"/>
            <a:ext cx="164592" cy="164592"/>
          </a:xfrm>
          <a:prstGeom prst="rect">
            <a:avLst/>
          </a:prstGeom>
          <a:ln w="9525">
            <a:solidFill>
              <a:srgbClr val="0A0A0A"/>
            </a:solidFill>
            <a:prstDash val="solid"/>
          </a:ln>
        </p:spPr>
      </p:sp>
      <p:sp>
        <p:nvSpPr>
          <p:cNvPr id="35" name="Shape 33"/>
          <p:cNvSpPr/>
          <p:nvPr/>
        </p:nvSpPr>
        <p:spPr>
          <a:xfrm>
            <a:off x="10945094" y="3666744"/>
            <a:ext cx="164592" cy="164592"/>
          </a:xfrm>
          <a:prstGeom prst="rect">
            <a:avLst/>
          </a:prstGeom>
          <a:ln w="9525">
            <a:solidFill>
              <a:srgbClr val="0A0A0A"/>
            </a:solidFill>
            <a:prstDash val="solid"/>
          </a:ln>
        </p:spPr>
      </p:sp>
      <p:sp>
        <p:nvSpPr>
          <p:cNvPr id="36" name="Shape 34"/>
          <p:cNvSpPr/>
          <p:nvPr/>
        </p:nvSpPr>
        <p:spPr>
          <a:xfrm>
            <a:off x="548640" y="3977640"/>
            <a:ext cx="11094415" cy="0"/>
          </a:xfrm>
          <a:prstGeom prst="line">
            <a:avLst/>
          </a:prstGeom>
          <a:noFill/>
          <a:ln w="9525">
            <a:solidFill>
              <a:srgbClr val="C9C9C4"/>
            </a:solidFill>
            <a:prstDash val="solid"/>
          </a:ln>
        </p:spPr>
      </p:sp>
      <p:sp>
        <p:nvSpPr>
          <p:cNvPr id="37" name="Text 35"/>
          <p:cNvSpPr txBox="1"/>
          <p:nvPr/>
        </p:nvSpPr>
        <p:spPr>
          <a:xfrm>
            <a:off x="548640" y="4087368"/>
            <a:ext cx="4754880" cy="3200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ML-DSA signatures</a:t>
            </a:r>
            <a:endParaRPr lang="en-US" sz="1500" dirty="0"/>
          </a:p>
        </p:txBody>
      </p:sp>
      <p:sp>
        <p:nvSpPr>
          <p:cNvPr id="38" name="Shape 36"/>
          <p:cNvSpPr/>
          <p:nvPr/>
        </p:nvSpPr>
        <p:spPr>
          <a:xfrm>
            <a:off x="6019770" y="4123944"/>
            <a:ext cx="164592" cy="164592"/>
          </a:xfrm>
          <a:prstGeom prst="rect">
            <a:avLst/>
          </a:prstGeom>
          <a:ln w="9525">
            <a:solidFill>
              <a:srgbClr val="0A0A0A"/>
            </a:solidFill>
            <a:prstDash val="solid"/>
          </a:ln>
        </p:spPr>
      </p:sp>
      <p:sp>
        <p:nvSpPr>
          <p:cNvPr id="39" name="Shape 37"/>
          <p:cNvSpPr/>
          <p:nvPr/>
        </p:nvSpPr>
        <p:spPr>
          <a:xfrm>
            <a:off x="7251101" y="4123944"/>
            <a:ext cx="164592" cy="164592"/>
          </a:xfrm>
          <a:prstGeom prst="rect">
            <a:avLst/>
          </a:prstGeom>
          <a:ln w="9525">
            <a:solidFill>
              <a:srgbClr val="0A0A0A"/>
            </a:solidFill>
            <a:prstDash val="solid"/>
          </a:ln>
        </p:spPr>
      </p:sp>
      <p:sp>
        <p:nvSpPr>
          <p:cNvPr id="40" name="Shape 38"/>
          <p:cNvSpPr/>
          <p:nvPr/>
        </p:nvSpPr>
        <p:spPr>
          <a:xfrm>
            <a:off x="8482432" y="4123944"/>
            <a:ext cx="164592" cy="164592"/>
          </a:xfrm>
          <a:prstGeom prst="rect">
            <a:avLst/>
          </a:prstGeom>
          <a:ln w="9525">
            <a:solidFill>
              <a:srgbClr val="0A0A0A"/>
            </a:solidFill>
            <a:prstDash val="solid"/>
          </a:ln>
        </p:spPr>
      </p:sp>
      <p:sp>
        <p:nvSpPr>
          <p:cNvPr id="41" name="Shape 39"/>
          <p:cNvSpPr/>
          <p:nvPr/>
        </p:nvSpPr>
        <p:spPr>
          <a:xfrm>
            <a:off x="9713763" y="4123944"/>
            <a:ext cx="164592" cy="164592"/>
          </a:xfrm>
          <a:prstGeom prst="rect">
            <a:avLst/>
          </a:prstGeom>
          <a:ln w="9525">
            <a:solidFill>
              <a:srgbClr val="0A0A0A"/>
            </a:solidFill>
            <a:prstDash val="solid"/>
          </a:ln>
        </p:spPr>
      </p:sp>
      <p:sp>
        <p:nvSpPr>
          <p:cNvPr id="42" name="Shape 40"/>
          <p:cNvSpPr/>
          <p:nvPr/>
        </p:nvSpPr>
        <p:spPr>
          <a:xfrm>
            <a:off x="10945094" y="4123944"/>
            <a:ext cx="164592" cy="164592"/>
          </a:xfrm>
          <a:prstGeom prst="rect">
            <a:avLst/>
          </a:prstGeom>
          <a:ln w="9525">
            <a:solidFill>
              <a:srgbClr val="0A0A0A"/>
            </a:solidFill>
            <a:prstDash val="solid"/>
          </a:ln>
        </p:spPr>
      </p:sp>
      <p:sp>
        <p:nvSpPr>
          <p:cNvPr id="43" name="Shape 41"/>
          <p:cNvSpPr/>
          <p:nvPr/>
        </p:nvSpPr>
        <p:spPr>
          <a:xfrm>
            <a:off x="548640" y="4434840"/>
            <a:ext cx="11094415" cy="0"/>
          </a:xfrm>
          <a:prstGeom prst="line">
            <a:avLst/>
          </a:prstGeom>
          <a:noFill/>
          <a:ln w="9525">
            <a:solidFill>
              <a:srgbClr val="C9C9C4"/>
            </a:solidFill>
            <a:prstDash val="solid"/>
          </a:ln>
        </p:spPr>
      </p:sp>
      <p:sp>
        <p:nvSpPr>
          <p:cNvPr id="44" name="Text 42"/>
          <p:cNvSpPr txBox="1"/>
          <p:nvPr/>
        </p:nvSpPr>
        <p:spPr>
          <a:xfrm>
            <a:off x="548640" y="4544568"/>
            <a:ext cx="4754880" cy="3200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Passwordless sign-in (KratosId)</a:t>
            </a:r>
            <a:endParaRPr lang="en-US" sz="1500" dirty="0"/>
          </a:p>
        </p:txBody>
      </p:sp>
      <p:sp>
        <p:nvSpPr>
          <p:cNvPr id="45" name="Shape 43"/>
          <p:cNvSpPr/>
          <p:nvPr/>
        </p:nvSpPr>
        <p:spPr>
          <a:xfrm>
            <a:off x="6019770" y="4581144"/>
            <a:ext cx="164592" cy="164592"/>
          </a:xfrm>
          <a:prstGeom prst="rect">
            <a:avLst/>
          </a:prstGeom>
          <a:ln w="9525">
            <a:solidFill>
              <a:srgbClr val="0A0A0A"/>
            </a:solidFill>
            <a:prstDash val="solid"/>
          </a:ln>
        </p:spPr>
      </p:sp>
      <p:sp>
        <p:nvSpPr>
          <p:cNvPr id="46" name="Shape 44"/>
          <p:cNvSpPr/>
          <p:nvPr/>
        </p:nvSpPr>
        <p:spPr>
          <a:xfrm>
            <a:off x="7251101" y="4581144"/>
            <a:ext cx="164592" cy="164592"/>
          </a:xfrm>
          <a:prstGeom prst="rect">
            <a:avLst/>
          </a:prstGeom>
          <a:ln w="9525">
            <a:solidFill>
              <a:srgbClr val="0A0A0A"/>
            </a:solidFill>
            <a:prstDash val="solid"/>
          </a:ln>
        </p:spPr>
      </p:sp>
      <p:sp>
        <p:nvSpPr>
          <p:cNvPr id="47" name="Shape 45"/>
          <p:cNvSpPr/>
          <p:nvPr/>
        </p:nvSpPr>
        <p:spPr>
          <a:xfrm>
            <a:off x="8482432" y="4581144"/>
            <a:ext cx="164592" cy="164592"/>
          </a:xfrm>
          <a:prstGeom prst="rect">
            <a:avLst/>
          </a:prstGeom>
          <a:ln w="9525">
            <a:solidFill>
              <a:srgbClr val="0A0A0A"/>
            </a:solidFill>
            <a:prstDash val="solid"/>
          </a:ln>
        </p:spPr>
      </p:sp>
      <p:sp>
        <p:nvSpPr>
          <p:cNvPr id="48" name="Shape 46"/>
          <p:cNvSpPr/>
          <p:nvPr/>
        </p:nvSpPr>
        <p:spPr>
          <a:xfrm>
            <a:off x="9713763" y="4581144"/>
            <a:ext cx="164592" cy="164592"/>
          </a:xfrm>
          <a:prstGeom prst="rect">
            <a:avLst/>
          </a:prstGeom>
          <a:ln w="9525">
            <a:solidFill>
              <a:srgbClr val="0A0A0A"/>
            </a:solidFill>
            <a:prstDash val="solid"/>
          </a:ln>
        </p:spPr>
      </p:sp>
      <p:sp>
        <p:nvSpPr>
          <p:cNvPr id="49" name="Shape 47"/>
          <p:cNvSpPr/>
          <p:nvPr/>
        </p:nvSpPr>
        <p:spPr>
          <a:xfrm>
            <a:off x="10945094" y="4581144"/>
            <a:ext cx="164592" cy="164592"/>
          </a:xfrm>
          <a:prstGeom prst="rect">
            <a:avLst/>
          </a:prstGeom>
          <a:ln w="9525">
            <a:solidFill>
              <a:srgbClr val="0A0A0A"/>
            </a:solidFill>
            <a:prstDash val="solid"/>
          </a:ln>
        </p:spPr>
      </p:sp>
      <p:sp>
        <p:nvSpPr>
          <p:cNvPr id="50" name="Shape 48"/>
          <p:cNvSpPr/>
          <p:nvPr/>
        </p:nvSpPr>
        <p:spPr>
          <a:xfrm>
            <a:off x="548640" y="4892040"/>
            <a:ext cx="11094415" cy="0"/>
          </a:xfrm>
          <a:prstGeom prst="line">
            <a:avLst/>
          </a:prstGeom>
          <a:noFill/>
          <a:ln w="9525">
            <a:solidFill>
              <a:srgbClr val="C9C9C4"/>
            </a:solidFill>
            <a:prstDash val="solid"/>
          </a:ln>
        </p:spPr>
      </p:sp>
      <p:sp>
        <p:nvSpPr>
          <p:cNvPr id="51" name="Text 49"/>
          <p:cNvSpPr txBox="1"/>
          <p:nvPr/>
        </p:nvSpPr>
        <p:spPr>
          <a:xfrm>
            <a:off x="548640" y="5001768"/>
            <a:ext cx="4754880" cy="3200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Instrument integration</a:t>
            </a:r>
            <a:endParaRPr lang="en-US" sz="1500" dirty="0"/>
          </a:p>
        </p:txBody>
      </p:sp>
      <p:sp>
        <p:nvSpPr>
          <p:cNvPr id="52" name="Shape 50"/>
          <p:cNvSpPr/>
          <p:nvPr/>
        </p:nvSpPr>
        <p:spPr>
          <a:xfrm>
            <a:off x="6019770" y="5038344"/>
            <a:ext cx="164592" cy="164592"/>
          </a:xfrm>
          <a:prstGeom prst="rect">
            <a:avLst/>
          </a:prstGeom>
          <a:ln w="9525">
            <a:solidFill>
              <a:srgbClr val="0A0A0A"/>
            </a:solidFill>
            <a:prstDash val="solid"/>
          </a:ln>
        </p:spPr>
      </p:sp>
      <p:sp>
        <p:nvSpPr>
          <p:cNvPr id="53" name="Shape 51"/>
          <p:cNvSpPr/>
          <p:nvPr/>
        </p:nvSpPr>
        <p:spPr>
          <a:xfrm>
            <a:off x="7251101" y="5038344"/>
            <a:ext cx="164592" cy="164592"/>
          </a:xfrm>
          <a:prstGeom prst="rect">
            <a:avLst/>
          </a:prstGeom>
          <a:ln w="9525">
            <a:solidFill>
              <a:srgbClr val="0A0A0A"/>
            </a:solidFill>
            <a:prstDash val="solid"/>
          </a:ln>
        </p:spPr>
      </p:sp>
      <p:sp>
        <p:nvSpPr>
          <p:cNvPr id="54" name="Shape 52"/>
          <p:cNvSpPr/>
          <p:nvPr/>
        </p:nvSpPr>
        <p:spPr>
          <a:xfrm>
            <a:off x="8482432" y="5038344"/>
            <a:ext cx="164592" cy="164592"/>
          </a:xfrm>
          <a:prstGeom prst="rect">
            <a:avLst/>
          </a:prstGeom>
          <a:ln w="9525">
            <a:solidFill>
              <a:srgbClr val="0A0A0A"/>
            </a:solidFill>
            <a:prstDash val="solid"/>
          </a:ln>
        </p:spPr>
      </p:sp>
      <p:sp>
        <p:nvSpPr>
          <p:cNvPr id="55" name="Shape 53"/>
          <p:cNvSpPr/>
          <p:nvPr/>
        </p:nvSpPr>
        <p:spPr>
          <a:xfrm>
            <a:off x="9713763" y="5038344"/>
            <a:ext cx="164592" cy="164592"/>
          </a:xfrm>
          <a:prstGeom prst="rect">
            <a:avLst/>
          </a:prstGeom>
          <a:ln w="9525">
            <a:solidFill>
              <a:srgbClr val="0A0A0A"/>
            </a:solidFill>
            <a:prstDash val="solid"/>
          </a:ln>
        </p:spPr>
      </p:sp>
      <p:sp>
        <p:nvSpPr>
          <p:cNvPr id="56" name="Shape 54"/>
          <p:cNvSpPr/>
          <p:nvPr/>
        </p:nvSpPr>
        <p:spPr>
          <a:xfrm>
            <a:off x="10945094" y="5038344"/>
            <a:ext cx="164592" cy="164592"/>
          </a:xfrm>
          <a:prstGeom prst="rect">
            <a:avLst/>
          </a:prstGeom>
          <a:ln w="9525">
            <a:solidFill>
              <a:srgbClr val="0A0A0A"/>
            </a:solidFill>
            <a:prstDash val="solid"/>
          </a:ln>
        </p:spPr>
      </p:sp>
      <p:sp>
        <p:nvSpPr>
          <p:cNvPr id="57" name="Shape 55"/>
          <p:cNvSpPr/>
          <p:nvPr/>
        </p:nvSpPr>
        <p:spPr>
          <a:xfrm>
            <a:off x="548640" y="5349240"/>
            <a:ext cx="11094415" cy="0"/>
          </a:xfrm>
          <a:prstGeom prst="line">
            <a:avLst/>
          </a:prstGeom>
          <a:noFill/>
          <a:ln w="9525">
            <a:solidFill>
              <a:srgbClr val="C9C9C4"/>
            </a:solidFill>
            <a:prstDash val="solid"/>
          </a:ln>
        </p:spPr>
      </p:sp>
      <p:sp>
        <p:nvSpPr>
          <p:cNvPr id="58" name="Text 56"/>
          <p:cNvSpPr txBox="1"/>
          <p:nvPr/>
        </p:nvSpPr>
        <p:spPr>
          <a:xfrm>
            <a:off x="548640" y="5458968"/>
            <a:ext cx="4754880" cy="320040"/>
          </a:xfrm>
          <a:prstGeom prst="rect">
            <a:avLst/>
          </a:prstGeom>
          <a:noFill/>
          <a:ln/>
        </p:spPr>
        <p:txBody>
          <a:bodyPr wrap="square" lIns="0" tIns="0" rIns="0" bIns="0" rtlCol="0" anchor="t"/>
          <a:lstStyle/>
          <a:p>
            <a:pPr indent="0" marL="0">
              <a:buNone/>
            </a:pPr>
            <a:r>
              <a:rPr lang="en-US" sz="1500" dirty="0">
                <a:solidFill>
                  <a:srgbClr val="0A0A0A"/>
                </a:solidFill>
                <a:latin typeface="Inter" pitchFamily="34" charset="0"/>
                <a:ea typeface="Inter" pitchFamily="34" charset="-122"/>
                <a:cs typeface="Inter" pitchFamily="34" charset="-120"/>
              </a:rPr>
              <a:t>AI compliance assistant</a:t>
            </a:r>
            <a:endParaRPr lang="en-US" sz="1500" dirty="0"/>
          </a:p>
        </p:txBody>
      </p:sp>
      <p:sp>
        <p:nvSpPr>
          <p:cNvPr id="59" name="Shape 57"/>
          <p:cNvSpPr/>
          <p:nvPr/>
        </p:nvSpPr>
        <p:spPr>
          <a:xfrm>
            <a:off x="6019770" y="5495544"/>
            <a:ext cx="164592" cy="164592"/>
          </a:xfrm>
          <a:prstGeom prst="rect">
            <a:avLst/>
          </a:prstGeom>
          <a:ln w="9525">
            <a:solidFill>
              <a:srgbClr val="0A0A0A"/>
            </a:solidFill>
            <a:prstDash val="solid"/>
          </a:ln>
        </p:spPr>
      </p:sp>
      <p:sp>
        <p:nvSpPr>
          <p:cNvPr id="60" name="Shape 58"/>
          <p:cNvSpPr/>
          <p:nvPr/>
        </p:nvSpPr>
        <p:spPr>
          <a:xfrm>
            <a:off x="7251101" y="5495544"/>
            <a:ext cx="164592" cy="164592"/>
          </a:xfrm>
          <a:prstGeom prst="rect">
            <a:avLst/>
          </a:prstGeom>
          <a:ln w="9525">
            <a:solidFill>
              <a:srgbClr val="0A0A0A"/>
            </a:solidFill>
            <a:prstDash val="solid"/>
          </a:ln>
        </p:spPr>
      </p:sp>
      <p:sp>
        <p:nvSpPr>
          <p:cNvPr id="61" name="Shape 59"/>
          <p:cNvSpPr/>
          <p:nvPr/>
        </p:nvSpPr>
        <p:spPr>
          <a:xfrm>
            <a:off x="8482432" y="5495544"/>
            <a:ext cx="164592" cy="164592"/>
          </a:xfrm>
          <a:prstGeom prst="rect">
            <a:avLst/>
          </a:prstGeom>
          <a:ln w="9525">
            <a:solidFill>
              <a:srgbClr val="0A0A0A"/>
            </a:solidFill>
            <a:prstDash val="solid"/>
          </a:ln>
        </p:spPr>
      </p:sp>
      <p:sp>
        <p:nvSpPr>
          <p:cNvPr id="62" name="Shape 60"/>
          <p:cNvSpPr/>
          <p:nvPr/>
        </p:nvSpPr>
        <p:spPr>
          <a:xfrm>
            <a:off x="9713763" y="5495544"/>
            <a:ext cx="164592" cy="164592"/>
          </a:xfrm>
          <a:prstGeom prst="rect">
            <a:avLst/>
          </a:prstGeom>
          <a:ln w="9525">
            <a:solidFill>
              <a:srgbClr val="0A0A0A"/>
            </a:solidFill>
            <a:prstDash val="solid"/>
          </a:ln>
        </p:spPr>
      </p:sp>
      <p:sp>
        <p:nvSpPr>
          <p:cNvPr id="63" name="Shape 61"/>
          <p:cNvSpPr/>
          <p:nvPr/>
        </p:nvSpPr>
        <p:spPr>
          <a:xfrm>
            <a:off x="10945094" y="5495544"/>
            <a:ext cx="164592" cy="164592"/>
          </a:xfrm>
          <a:prstGeom prst="rect">
            <a:avLst/>
          </a:prstGeom>
          <a:ln w="9525">
            <a:solidFill>
              <a:srgbClr val="0A0A0A"/>
            </a:solidFill>
            <a:prstDash val="solid"/>
          </a:ln>
        </p:spPr>
      </p:sp>
      <p:sp>
        <p:nvSpPr>
          <p:cNvPr id="64" name="Shape 62"/>
          <p:cNvSpPr/>
          <p:nvPr/>
        </p:nvSpPr>
        <p:spPr>
          <a:xfrm>
            <a:off x="548640" y="5806440"/>
            <a:ext cx="11094415" cy="0"/>
          </a:xfrm>
          <a:prstGeom prst="line">
            <a:avLst/>
          </a:prstGeom>
          <a:noFill/>
          <a:ln w="9525">
            <a:solidFill>
              <a:srgbClr val="C9C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TraceCore</dc:title>
  <dc:subject>PptxGenJS Presentation</dc:subject>
  <dc:creator>TCEX Technologies</dc:creator>
  <cp:lastModifiedBy>TCEX Technologies</cp:lastModifiedBy>
  <cp:revision>1</cp:revision>
  <dcterms:created xsi:type="dcterms:W3CDTF">2026-10-12T21:28:46Z</dcterms:created>
  <dcterms:modified xsi:type="dcterms:W3CDTF">2026-10-12T21:28:46Z</dcterms:modified>
</cp:coreProperties>
</file>